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0"/>
  </p:notesMasterIdLst>
  <p:handoutMasterIdLst>
    <p:handoutMasterId r:id="rId11"/>
  </p:handoutMasterIdLst>
  <p:sldIdLst>
    <p:sldId id="256" r:id="rId5"/>
    <p:sldId id="277" r:id="rId6"/>
    <p:sldId id="279" r:id="rId7"/>
    <p:sldId id="278" r:id="rId8"/>
    <p:sldId id="276" r:id="rId9"/>
  </p:sldIdLst>
  <p:sldSz cx="12192000" cy="6858000"/>
  <p:notesSz cx="6858000" cy="9144000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作者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264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6540" y="169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76FB3A4-D5D4-495C-AAA0-94A56026E627}" type="datetime1">
              <a:rPr lang="zh-TW" altLang="en-US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2026/3/30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‹#›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106E7358-DB18-48DD-91BC-D4D36CB91577}" type="datetime1">
              <a:rPr lang="zh-TW" altLang="en-US" noProof="0" smtClean="0"/>
              <a:t>2026/3/30</a:t>
            </a:fld>
            <a:endParaRPr lang="zh-TW" altLang="en-US" noProof="0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4B9A9E5-4F7F-4A7D-9DE1-899232329269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983024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37136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TW" altLang="en-US" noProof="0"/>
              <a:t>按一下以編輯母片副標題樣式</a:t>
            </a:r>
          </a:p>
        </p:txBody>
      </p:sp>
      <p:pic>
        <p:nvPicPr>
          <p:cNvPr id="8" name="圖形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議程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形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5CEABB6-07DC-46E8-9B57-56EC44A396E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時間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圖形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rtl="0"/>
            <a:r>
              <a:rPr lang="zh-TW" altLang="en-US" noProof="0"/>
              <a:t>按一下以編輯標題</a:t>
            </a:r>
          </a:p>
        </p:txBody>
      </p:sp>
      <p:sp>
        <p:nvSpPr>
          <p:cNvPr id="16" name="文字版面配置區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17" name="文字版面配置區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18" name="文字版面配置區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19" name="文字版面配置區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34" name="文字版面配置區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35" name="文字版面配置區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86028" y="267332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36" name="文字版面配置區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37" name="文字版面配置區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cxnSp>
        <p:nvCxnSpPr>
          <p:cNvPr id="3" name="直線接點​​(S)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直線接點​​(S)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直線接點​​(S)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直線接點​​(S)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75279" y="6356350"/>
            <a:ext cx="1808712" cy="365125"/>
          </a:xfrm>
        </p:spPr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algn="l"/>
            <a:r>
              <a:rPr lang="zh-TW" altLang="en-US" noProof="0"/>
              <a:t>募資簡報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5CEABB6-07DC-46E8-9B57-56EC44A396E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容 2 欄位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15" name="文字版面配置區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sp>
        <p:nvSpPr>
          <p:cNvPr id="17" name="文字版面配置區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1" name="文字版面配置區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TW" altLang="en-US" noProof="0"/>
              <a:t>按一下以新增副標題</a:t>
            </a:r>
          </a:p>
        </p:txBody>
      </p:sp>
      <p:sp>
        <p:nvSpPr>
          <p:cNvPr id="32" name="文字版面配置區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3" name="文字版面配置區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TW" altLang="en-US" noProof="0"/>
              <a:t>按一下以新增副標題</a:t>
            </a:r>
          </a:p>
        </p:txBody>
      </p:sp>
      <p:sp>
        <p:nvSpPr>
          <p:cNvPr id="34" name="文字版面配置區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2" name="文字版面配置區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TW" altLang="en-US" noProof="0"/>
              <a:t>按一下以新增副標題</a:t>
            </a:r>
          </a:p>
        </p:txBody>
      </p:sp>
      <p:sp>
        <p:nvSpPr>
          <p:cNvPr id="13" name="文字版面配置區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5CEABB6-07DC-46E8-9B57-56EC44A396E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cxnSp>
        <p:nvCxnSpPr>
          <p:cNvPr id="2" name="直線接點​​(S)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接點​​(S)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容 3 欄位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15" name="文字版面配置區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sp>
        <p:nvSpPr>
          <p:cNvPr id="17" name="文字版面配置區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6" name="文字版面配置區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sp>
        <p:nvSpPr>
          <p:cNvPr id="18" name="文字版面配置區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9" name="文字版面配置區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sp>
        <p:nvSpPr>
          <p:cNvPr id="20" name="文字版面配置區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3" name="文字版面配置區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sp>
        <p:nvSpPr>
          <p:cNvPr id="24" name="文字版面配置區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5CEABB6-07DC-46E8-9B57-56EC44A396E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pic>
        <p:nvPicPr>
          <p:cNvPr id="2" name="圖形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簡介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cxnSp>
        <p:nvCxnSpPr>
          <p:cNvPr id="14" name="直線接點​​(S)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​​(S)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日期版面配置區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10" name="頁尾版面配置區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sp>
        <p:nvSpPr>
          <p:cNvPr id="11" name="投影片編號版面配置區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5CEABB6-07DC-46E8-9B57-56EC44A396E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分節符號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形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cxnSp>
        <p:nvCxnSpPr>
          <p:cNvPr id="9" name="直線接點​​(S)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版面配置區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sp>
        <p:nvSpPr>
          <p:cNvPr id="12" name="文字版面配置區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3" name="文字版面配置區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sp>
        <p:nvSpPr>
          <p:cNvPr id="14" name="文字版面配置區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5" name="文字版面配置區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sp>
        <p:nvSpPr>
          <p:cNvPr id="16" name="文字版面配置區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7" name="日期版面配置區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18" name="頁尾版面配置區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sp>
        <p:nvSpPr>
          <p:cNvPr id="19" name="投影片編號版面配置區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5CEABB6-07DC-46E8-9B57-56EC44A396E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三個內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TW" altLang="en-US" noProof="0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cxnSp>
        <p:nvCxnSpPr>
          <p:cNvPr id="16" name="直線接點​​(S)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​​(S)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版面配置區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22" name="內容版面配置區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5CEABB6-07DC-46E8-9B57-56EC44A396E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內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pic>
        <p:nvPicPr>
          <p:cNvPr id="11" name="圖形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圖形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圖形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zh-TW" noProof="0"/>
              <a:t>#</a:t>
            </a:r>
          </a:p>
        </p:txBody>
      </p:sp>
      <p:sp>
        <p:nvSpPr>
          <p:cNvPr id="23" name="文字版面配置區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zh-TW" noProof="0"/>
              <a:t>#</a:t>
            </a:r>
          </a:p>
        </p:txBody>
      </p:sp>
      <p:sp>
        <p:nvSpPr>
          <p:cNvPr id="24" name="文字版面配置區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zh-TW" noProof="0"/>
              <a:t>#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25" name="內容版面配置區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26" name="內容版面配置區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</p:txBody>
      </p:sp>
      <p:sp>
        <p:nvSpPr>
          <p:cNvPr id="22" name="內容版面配置區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27" name="內容版面配置區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5CEABB6-07DC-46E8-9B57-56EC44A396E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兩項內容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TW" altLang="en-US" noProof="0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5CEABB6-07DC-46E8-9B57-56EC44A396E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pic>
        <p:nvPicPr>
          <p:cNvPr id="11" name="圖形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形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標題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20" name="文字版面配置區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sp>
        <p:nvSpPr>
          <p:cNvPr id="25" name="文字版面配置區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6" name="文字版面配置區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sp>
        <p:nvSpPr>
          <p:cNvPr id="27" name="文字版面配置區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8" name="文字版面配置區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sp>
        <p:nvSpPr>
          <p:cNvPr id="29" name="文字版面配置區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1" name="日期版面配置區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22" name="頁尾版面配置區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sp>
        <p:nvSpPr>
          <p:cNvPr id="24" name="投影片編號版面配置區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5CEABB6-07DC-46E8-9B57-56EC44A396E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圖表​​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15" name="文字版面配置區 14">
            <a:extLst>
              <a:ext uri="{FF2B5EF4-FFF2-40B4-BE49-F238E27FC236}">
                <a16:creationId xmlns:a16="http://schemas.microsoft.com/office/drawing/2014/main" id="{B250D272-9B39-4C2D-B0F5-21010D11E4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8749" y="1361938"/>
            <a:ext cx="6765925" cy="496888"/>
          </a:xfrm>
        </p:spPr>
        <p:txBody>
          <a:bodyPr rtlCol="0">
            <a:noAutofit/>
          </a:bodyPr>
          <a:lstStyle>
            <a:lvl1pPr marL="0" indent="0">
              <a:buNone/>
              <a:defRPr sz="18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7" name="圖表預留位置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38200" y="2286002"/>
            <a:ext cx="6094270" cy="3542143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按一下圖示以新增圖表</a:t>
            </a:r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339C283A-EC40-421C-8A0E-F9A3161C88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58125" y="2284624"/>
            <a:ext cx="3147332" cy="306388"/>
          </a:xfrm>
        </p:spPr>
        <p:txBody>
          <a:bodyPr rtlCol="0">
            <a:noAutofit/>
          </a:bodyPr>
          <a:lstStyle>
            <a:lvl1pPr marL="0" indent="0">
              <a:buNone/>
              <a:defRPr sz="1400" cap="all" spc="15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13" name="內容版面配置區 12">
            <a:extLst>
              <a:ext uri="{FF2B5EF4-FFF2-40B4-BE49-F238E27FC236}">
                <a16:creationId xmlns:a16="http://schemas.microsoft.com/office/drawing/2014/main" id="{305CA2B1-D510-4949-A638-C1A064DA41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858125" y="2779713"/>
            <a:ext cx="3148013" cy="3095625"/>
          </a:xfrm>
        </p:spPr>
        <p:txBody>
          <a:bodyPr rtlCol="0"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 rtl="0"/>
            <a:r>
              <a:rPr lang="zh-TW" altLang="en-US" noProof="0"/>
              <a:t>按一下以新增內容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5CEABB6-07DC-46E8-9B57-56EC44A396E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4910030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時間表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D46070C-E825-43D0-99F4-8B4614131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6" name="文字版面配置區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年份</a:t>
            </a:r>
          </a:p>
        </p:txBody>
      </p:sp>
      <p:sp>
        <p:nvSpPr>
          <p:cNvPr id="7" name="文字版面配置區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US" noProof="0"/>
          </a:p>
        </p:txBody>
      </p:sp>
      <p:sp>
        <p:nvSpPr>
          <p:cNvPr id="8" name="文字版面配置區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US" noProof="0"/>
          </a:p>
        </p:txBody>
      </p:sp>
      <p:sp>
        <p:nvSpPr>
          <p:cNvPr id="9" name="文字版面配置區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US" noProof="0"/>
          </a:p>
        </p:txBody>
      </p:sp>
      <p:sp>
        <p:nvSpPr>
          <p:cNvPr id="10" name="文字版面配置區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US" noProof="0"/>
          </a:p>
        </p:txBody>
      </p:sp>
      <p:sp>
        <p:nvSpPr>
          <p:cNvPr id="12" name="文字版面配置區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US" noProof="0"/>
          </a:p>
        </p:txBody>
      </p:sp>
      <p:sp>
        <p:nvSpPr>
          <p:cNvPr id="13" name="文字版面配置區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US" noProof="0"/>
          </a:p>
        </p:txBody>
      </p:sp>
      <p:sp>
        <p:nvSpPr>
          <p:cNvPr id="14" name="文字版面配置區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US" noProof="0"/>
          </a:p>
        </p:txBody>
      </p:sp>
      <p:sp>
        <p:nvSpPr>
          <p:cNvPr id="16" name="文字版面配置區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US" noProof="0"/>
          </a:p>
        </p:txBody>
      </p:sp>
      <p:sp>
        <p:nvSpPr>
          <p:cNvPr id="17" name="文字版面配置區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US" noProof="0"/>
          </a:p>
        </p:txBody>
      </p:sp>
      <p:sp>
        <p:nvSpPr>
          <p:cNvPr id="15" name="文字版面配置區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US" noProof="0"/>
          </a:p>
        </p:txBody>
      </p:sp>
      <p:sp>
        <p:nvSpPr>
          <p:cNvPr id="18" name="文字版面配置區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US" noProof="0"/>
          </a:p>
        </p:txBody>
      </p:sp>
      <p:sp>
        <p:nvSpPr>
          <p:cNvPr id="19" name="文字版面配置區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US" noProof="0"/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年份</a:t>
            </a:r>
          </a:p>
        </p:txBody>
      </p:sp>
      <p:sp>
        <p:nvSpPr>
          <p:cNvPr id="20" name="文字版面配置區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US" noProof="0"/>
          </a:p>
        </p:txBody>
      </p:sp>
      <p:sp>
        <p:nvSpPr>
          <p:cNvPr id="21" name="文字版面配置區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US" noProof="0"/>
          </a:p>
        </p:txBody>
      </p:sp>
      <p:sp>
        <p:nvSpPr>
          <p:cNvPr id="22" name="文字版面配置區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US" noProof="0"/>
          </a:p>
        </p:txBody>
      </p:sp>
      <p:sp>
        <p:nvSpPr>
          <p:cNvPr id="23" name="文字版面配置區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US" noProof="0"/>
          </a:p>
        </p:txBody>
      </p:sp>
      <p:sp>
        <p:nvSpPr>
          <p:cNvPr id="24" name="文字版面配置區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US" noProof="0"/>
          </a:p>
        </p:txBody>
      </p:sp>
      <p:sp>
        <p:nvSpPr>
          <p:cNvPr id="25" name="文字版面配置區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US" noProof="0"/>
          </a:p>
        </p:txBody>
      </p:sp>
      <p:sp>
        <p:nvSpPr>
          <p:cNvPr id="26" name="文字版面配置區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US" noProof="0"/>
          </a:p>
        </p:txBody>
      </p:sp>
      <p:sp>
        <p:nvSpPr>
          <p:cNvPr id="28" name="文字版面配置區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US" noProof="0"/>
          </a:p>
        </p:txBody>
      </p:sp>
      <p:sp>
        <p:nvSpPr>
          <p:cNvPr id="29" name="文字版面配置區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US" noProof="0"/>
          </a:p>
        </p:txBody>
      </p:sp>
      <p:sp>
        <p:nvSpPr>
          <p:cNvPr id="27" name="文字版面配置區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US" noProof="0"/>
          </a:p>
        </p:txBody>
      </p:sp>
      <p:sp>
        <p:nvSpPr>
          <p:cNvPr id="30" name="文字版面配置區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US" noProof="0"/>
          </a:p>
        </p:txBody>
      </p:sp>
      <p:sp>
        <p:nvSpPr>
          <p:cNvPr id="31" name="文字版面配置區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US" noProof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FA35437-CCDE-4D92-B879-F23B329C8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solidFill>
                <a:schemeClr val="tx1">
                  <a:lumMod val="75000"/>
                  <a:lumOff val="2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6" name="日期版面配置區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37" name="頁尾版面配置區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sp>
        <p:nvSpPr>
          <p:cNvPr id="38" name="投影片編號版面配置區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5CEABB6-07DC-46E8-9B57-56EC44A396E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7" name="SmartArt 預留位置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2139084"/>
            <a:ext cx="10515600" cy="3695338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 </a:t>
            </a:r>
            <a:r>
              <a:rPr lang="en-US" altLang="zh-TW" noProof="0"/>
              <a:t>SmartArt </a:t>
            </a:r>
            <a:r>
              <a:rPr lang="zh-TW" altLang="en-US" noProof="0"/>
              <a:t>圖形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cxnSp>
        <p:nvCxnSpPr>
          <p:cNvPr id="10" name="直線接點​​(S) 9">
            <a:extLst>
              <a:ext uri="{FF2B5EF4-FFF2-40B4-BE49-F238E27FC236}">
                <a16:creationId xmlns:a16="http://schemas.microsoft.com/office/drawing/2014/main" id="{66988B2D-0240-4256-8268-4B9FF1E72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​​(S) 11">
            <a:extLst>
              <a:ext uri="{FF2B5EF4-FFF2-40B4-BE49-F238E27FC236}">
                <a16:creationId xmlns:a16="http://schemas.microsoft.com/office/drawing/2014/main" id="{D8EEAAE1-3D04-41C3-B2D2-B3BEF34C3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5CEABB6-07DC-46E8-9B57-56EC44A396E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團隊投影片 4 人員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11" name="圖片版面配置區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11558" y="5084524"/>
            <a:ext cx="2196619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26" name="文字版面配置區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17" name="圖片版面配置區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23" name="文字版面配置區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707607" y="5099206"/>
            <a:ext cx="2145049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27" name="文字版面配置區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18" name="圖片版面配置區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</a:lstStyle>
          <a:p>
            <a:pPr lvl="1" rtl="0"/>
            <a:r>
              <a:rPr lang="zh-TW" altLang="en-US" noProof="0"/>
              <a:t>按一下圖示以新增圖片</a:t>
            </a:r>
          </a:p>
        </p:txBody>
      </p:sp>
      <p:sp>
        <p:nvSpPr>
          <p:cNvPr id="24" name="文字版面配置區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198271" y="5099206"/>
            <a:ext cx="213298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28" name="文字版面配置區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19" name="圖片版面配置區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25" name="文字版面配置區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8618152" y="5084524"/>
            <a:ext cx="2132984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29" name="文字版面配置區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cxnSp>
        <p:nvCxnSpPr>
          <p:cNvPr id="10" name="直線接點​​(S)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​​(S)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5CEABB6-07DC-46E8-9B57-56EC44A396E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團隊投影片 8 人員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11" name="圖片版面配置區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26" name="文字版面配置區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17" name="圖片版面配置區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23" name="文字版面配置區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27" name="文字版面配置區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18" name="圖片版面配置區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zh-TW" altLang="en-US" noProof="0"/>
              <a:t>按一下圖示以新增圖片</a:t>
            </a:r>
          </a:p>
        </p:txBody>
      </p:sp>
      <p:sp>
        <p:nvSpPr>
          <p:cNvPr id="24" name="文字版面配置區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28" name="文字版面配置區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19" name="圖片版面配置區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25" name="文字版面配置區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29" name="文字版面配置區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55" name="圖片版面配置區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54" name="文字版面配置區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62" name="文字版面配置區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56" name="圖片版面配置區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59" name="文字版面配置區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63" name="文字版面配置區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57" name="圖片版面配置區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zh-TW" altLang="en-US" noProof="0"/>
              <a:t>按一下圖示以新增圖片</a:t>
            </a:r>
          </a:p>
        </p:txBody>
      </p:sp>
      <p:sp>
        <p:nvSpPr>
          <p:cNvPr id="60" name="文字版面配置區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64" name="文字版面配置區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58" name="圖片版面配置區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61" name="文字版面配置區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65" name="文字版面配置區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5CEABB6-07DC-46E8-9B57-56EC44A396E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圖形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基金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直線接點​​(S)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​​(S)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11" name="內容版面配置區 10">
            <a:extLst>
              <a:ext uri="{FF2B5EF4-FFF2-40B4-BE49-F238E27FC236}">
                <a16:creationId xmlns:a16="http://schemas.microsoft.com/office/drawing/2014/main" id="{319EE98D-9541-4F21-8952-3026DEF75EC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zh-TW" altLang="en-US" noProof="0"/>
              <a:t>按一下以新增內容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zh-TW" noProof="0"/>
              <a:t>#</a:t>
            </a:r>
          </a:p>
        </p:txBody>
      </p:sp>
      <p:sp>
        <p:nvSpPr>
          <p:cNvPr id="17" name="文字版面配置區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24" name="內容版面配置區 10">
            <a:extLst>
              <a:ext uri="{FF2B5EF4-FFF2-40B4-BE49-F238E27FC236}">
                <a16:creationId xmlns:a16="http://schemas.microsoft.com/office/drawing/2014/main" id="{AB843230-A4E3-4E21-AA93-998E28EB901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11391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zh-TW" altLang="en-US" noProof="0"/>
              <a:t>按一下以新增內容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zh-TW" noProof="0"/>
              <a:t>#</a:t>
            </a:r>
          </a:p>
        </p:txBody>
      </p:sp>
      <p:sp>
        <p:nvSpPr>
          <p:cNvPr id="18" name="文字版面配置區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TW" altLang="en-US" noProof="0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25" name="內容版面配置區 10">
            <a:extLst>
              <a:ext uri="{FF2B5EF4-FFF2-40B4-BE49-F238E27FC236}">
                <a16:creationId xmlns:a16="http://schemas.microsoft.com/office/drawing/2014/main" id="{3AE0369E-A275-4E5A-AE0F-B1F9A54DEDF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24377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zh-TW" altLang="en-US" noProof="0"/>
              <a:t>按一下以新增內容</a:t>
            </a:r>
          </a:p>
        </p:txBody>
      </p:sp>
      <p:sp>
        <p:nvSpPr>
          <p:cNvPr id="21" name="文字版面配置區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zh-TW" noProof="0"/>
              <a:t>#</a:t>
            </a:r>
          </a:p>
        </p:txBody>
      </p:sp>
      <p:sp>
        <p:nvSpPr>
          <p:cNvPr id="19" name="文字版面配置區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22" name="內容版面配置區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26" name="內容版面配置區 10">
            <a:extLst>
              <a:ext uri="{FF2B5EF4-FFF2-40B4-BE49-F238E27FC236}">
                <a16:creationId xmlns:a16="http://schemas.microsoft.com/office/drawing/2014/main" id="{CCA3A81E-171B-4946-B8BA-B2F406CF093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zh-TW" altLang="en-US" noProof="0"/>
              <a:t>按一下以新增內容</a:t>
            </a:r>
          </a:p>
        </p:txBody>
      </p:sp>
      <p:sp>
        <p:nvSpPr>
          <p:cNvPr id="14" name="文字版面配置區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zh-TW" noProof="0"/>
              <a:t>#</a:t>
            </a:r>
          </a:p>
        </p:txBody>
      </p:sp>
      <p:sp>
        <p:nvSpPr>
          <p:cNvPr id="23" name="文字版面配置區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15" name="內容版面配置區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5CEABB6-07DC-46E8-9B57-56EC44A396E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摘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cxnSp>
        <p:nvCxnSpPr>
          <p:cNvPr id="23" name="直線接點​​(S)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​​(S)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日期版面配置區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22" name="頁尾版面配置區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sp>
        <p:nvSpPr>
          <p:cNvPr id="24" name="投影片編號版面配置區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5CEABB6-07DC-46E8-9B57-56EC44A396E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結語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TW" altLang="en-US" noProof="0"/>
              <a:t>按一下以編輯母片副標題樣式</a:t>
            </a:r>
          </a:p>
        </p:txBody>
      </p:sp>
      <p:pic>
        <p:nvPicPr>
          <p:cNvPr id="6" name="圖形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日期版面配置區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10" name="頁尾版面配置區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sp>
        <p:nvSpPr>
          <p:cNvPr id="11" name="投影片編號版面配置區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5CEABB6-07DC-46E8-9B57-56EC44A396E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5CEABB6-07DC-46E8-9B57-56EC44A396E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79" r:id="rId13"/>
    <p:sldLayoutId id="2147483692" r:id="rId14"/>
    <p:sldLayoutId id="2147483681" r:id="rId15"/>
    <p:sldLayoutId id="2147483674" r:id="rId16"/>
    <p:sldLayoutId id="2147483675" r:id="rId17"/>
    <p:sldLayoutId id="2147483696" r:id="rId18"/>
    <p:sldLayoutId id="2147483677" r:id="rId19"/>
    <p:sldLayoutId id="2147483678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0126" y="3144033"/>
            <a:ext cx="7315199" cy="946651"/>
          </a:xfrm>
        </p:spPr>
        <p:txBody>
          <a:bodyPr rtlCol="0">
            <a:noAutofit/>
          </a:bodyPr>
          <a:lstStyle/>
          <a:p>
            <a:r>
              <a:rPr lang="zh-TW" altLang="zh-TW" sz="3000" dirty="0"/>
              <a:t>基於對抗式攻擊與情資平台之</a:t>
            </a:r>
            <a:r>
              <a:rPr lang="en-US" altLang="zh-TW" sz="3000" dirty="0"/>
              <a:t> HTTP/3 </a:t>
            </a:r>
            <a:r>
              <a:rPr lang="zh-TW" altLang="zh-TW" sz="3000" dirty="0"/>
              <a:t>加密流量自動化安全防禦框架</a:t>
            </a:r>
            <a:endParaRPr lang="zh-TW" altLang="en-US" sz="3000" dirty="0"/>
          </a:p>
        </p:txBody>
      </p:sp>
      <p:sp>
        <p:nvSpPr>
          <p:cNvPr id="10" name="文字版面配置區 9">
            <a:extLst>
              <a:ext uri="{FF2B5EF4-FFF2-40B4-BE49-F238E27FC236}">
                <a16:creationId xmlns:a16="http://schemas.microsoft.com/office/drawing/2014/main" id="{D723BB82-24E0-21F6-0763-4B89733402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670126" y="4463955"/>
            <a:ext cx="5431971" cy="1554503"/>
          </a:xfrm>
        </p:spPr>
        <p:txBody>
          <a:bodyPr>
            <a:normAutofit/>
          </a:bodyPr>
          <a:lstStyle/>
          <a:p>
            <a:r>
              <a:rPr lang="zh-TW" altLang="en-US" sz="2200" dirty="0"/>
              <a:t>指導教授：王智弘教授</a:t>
            </a:r>
            <a:endParaRPr lang="en-US" altLang="zh-TW" sz="2200" dirty="0"/>
          </a:p>
          <a:p>
            <a:r>
              <a:rPr lang="zh-TW" altLang="en-US" sz="2200" dirty="0"/>
              <a:t>組員資訊：</a:t>
            </a:r>
            <a:r>
              <a:rPr lang="en-US" altLang="zh-TW" sz="2200" dirty="0"/>
              <a:t>1122931</a:t>
            </a:r>
            <a:r>
              <a:rPr lang="zh-TW" altLang="en-US" sz="2200" dirty="0"/>
              <a:t> 莊博宇</a:t>
            </a:r>
            <a:endParaRPr lang="en-US" altLang="zh-TW" sz="2200" dirty="0"/>
          </a:p>
          <a:p>
            <a:r>
              <a:rPr lang="en-US" altLang="zh-TW" sz="2200" dirty="0"/>
              <a:t>	</a:t>
            </a:r>
            <a:r>
              <a:rPr lang="zh-TW" altLang="en-US" sz="2200" dirty="0"/>
              <a:t>       </a:t>
            </a:r>
            <a:r>
              <a:rPr lang="en-US" altLang="zh-TW" sz="2200" dirty="0"/>
              <a:t>1122930</a:t>
            </a:r>
            <a:r>
              <a:rPr lang="zh-TW" altLang="en-US" sz="2200" dirty="0"/>
              <a:t> 闕帝軒</a:t>
            </a:r>
            <a:endParaRPr lang="en-US" altLang="zh-TW" sz="2200" dirty="0"/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9A9ACD-BD44-004B-135E-E820AB04F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704045"/>
            <a:ext cx="5111750" cy="646918"/>
          </a:xfrm>
        </p:spPr>
        <p:txBody>
          <a:bodyPr/>
          <a:lstStyle/>
          <a:p>
            <a:r>
              <a:rPr lang="zh-TW" altLang="en-US" dirty="0"/>
              <a:t>研究動機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57D474C-76C1-784F-CB0A-3CA8CC0B29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B098B2-35B8-AC37-487E-26E1D383F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altLang="zh-TW" noProof="0" smtClean="0"/>
              <a:pPr/>
              <a:t>2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889263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9C37BF-6FC9-D4BF-4393-AD5B9E66B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892178"/>
            <a:ext cx="2251758" cy="823912"/>
          </a:xfrm>
        </p:spPr>
        <p:txBody>
          <a:bodyPr/>
          <a:lstStyle/>
          <a:p>
            <a:r>
              <a:rPr lang="zh-TW" altLang="en-US" dirty="0"/>
              <a:t>規劃時程 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8965DA3-8F81-28FA-A488-216DB54F8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altLang="zh-TW" noProof="0" smtClean="0"/>
              <a:pPr/>
              <a:t>3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157247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50D08B-2225-6295-4A91-E6D23C68A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6195" y="302496"/>
            <a:ext cx="2180573" cy="574326"/>
          </a:xfrm>
        </p:spPr>
        <p:txBody>
          <a:bodyPr/>
          <a:lstStyle/>
          <a:p>
            <a:r>
              <a:rPr lang="zh-TW" altLang="en-US" dirty="0"/>
              <a:t>參考文獻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73EF51A-B562-A39C-9586-3488A2973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altLang="zh-TW" noProof="0" smtClean="0"/>
              <a:pPr/>
              <a:t>4</a:t>
            </a:fld>
            <a:endParaRPr lang="zh-TW" altLang="en-US" noProof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CE9AACE-F424-8AB3-FDAC-3679C5D5F065}"/>
              </a:ext>
            </a:extLst>
          </p:cNvPr>
          <p:cNvSpPr txBox="1"/>
          <p:nvPr/>
        </p:nvSpPr>
        <p:spPr>
          <a:xfrm>
            <a:off x="1076195" y="876822"/>
            <a:ext cx="10434703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[1]	M. Shen, K. Ye, X. Liu, L. Zhu, J. Kang, S. YU, “Machine Learning-Powered Encrypted Network Traffic Analysis: A Comprehensive Survey,” in IEEE Communications Surveys &amp; Tutorials, vol. 25, no. 1, pp. 791-824, </a:t>
            </a:r>
            <a:r>
              <a:rPr lang="en-US" altLang="zh-TW" dirty="0" err="1"/>
              <a:t>Firstquarter</a:t>
            </a:r>
            <a:r>
              <a:rPr lang="en-US" altLang="zh-TW" dirty="0"/>
              <a:t> 2023, </a:t>
            </a:r>
            <a:r>
              <a:rPr lang="en-US" altLang="zh-TW" dirty="0" err="1"/>
              <a:t>doi</a:t>
            </a:r>
            <a:r>
              <a:rPr lang="en-US" altLang="zh-TW" dirty="0"/>
              <a:t>: 10.1109/COMST.2022.3208196.</a:t>
            </a:r>
          </a:p>
          <a:p>
            <a:r>
              <a:rPr lang="en-US" altLang="zh-TW" dirty="0"/>
              <a:t>[2]	W. Lim, K. S. C. Yong, B. T. Lau, and C. C. L. Tan. “Future of Generative Adversarial Networks (GAN) for Anomaly Detection in Network Security: A Review,” Computers &amp; Security, vol. 139, Apr. 2024, Art. no. 103733. doi:10.1016/j.cose.2024.103733.</a:t>
            </a:r>
          </a:p>
          <a:p>
            <a:r>
              <a:rPr lang="en-US" altLang="zh-TW" dirty="0"/>
              <a:t>[3]	A. S. Iliyasu and H. Deng, “Semi-Supervised Encrypted Traffic Classification with Deep Convolutional Generative Adversarial Networks,” in IEEE Access, vol. 8, pp. 118-126, 2020, </a:t>
            </a:r>
            <a:r>
              <a:rPr lang="en-US" altLang="zh-TW" dirty="0" err="1"/>
              <a:t>doi</a:t>
            </a:r>
            <a:r>
              <a:rPr lang="en-US" altLang="zh-TW" dirty="0"/>
              <a:t>: 10.1109/ACCESS.2019.2962106.</a:t>
            </a:r>
          </a:p>
          <a:p>
            <a:r>
              <a:rPr lang="en-US" altLang="zh-TW" dirty="0"/>
              <a:t>[4]	J. Li, L. Zhou, H. Li, L. Yan and H. Zhu, “Dynamic Traffic Feature Camouflaging via Generative Adversarial Networks,” 2019 IEEE Conference on Communications and Network Security (CNS), Washington, DC, USA, 2019, pp. 268-276, </a:t>
            </a:r>
            <a:r>
              <a:rPr lang="en-US" altLang="zh-TW" dirty="0" err="1"/>
              <a:t>doi</a:t>
            </a:r>
            <a:r>
              <a:rPr lang="en-US" altLang="zh-TW" dirty="0"/>
              <a:t>: 10.1109/CNS.2019.8802772.</a:t>
            </a:r>
          </a:p>
          <a:p>
            <a:r>
              <a:rPr lang="en-US" altLang="zh-TW" dirty="0"/>
              <a:t>[5]	J. </a:t>
            </a:r>
            <a:r>
              <a:rPr lang="en-US" altLang="zh-TW" dirty="0" err="1"/>
              <a:t>Luxemburk</a:t>
            </a:r>
            <a:r>
              <a:rPr lang="en-US" altLang="zh-TW" dirty="0"/>
              <a:t>, K. Hynek and T. Čejka, “Encrypted Traffic Classification: The QUIC Case,” 2023 7th Network Traffic Measurement and Analysis Conference (TMA), Naples, Italy, 2023, pp. 1-10, </a:t>
            </a:r>
            <a:r>
              <a:rPr lang="en-US" altLang="zh-TW" dirty="0" err="1"/>
              <a:t>doi</a:t>
            </a:r>
            <a:r>
              <a:rPr lang="en-US" altLang="zh-TW" dirty="0"/>
              <a:t>: 10.23919/TMA58422.2023.10199052.</a:t>
            </a:r>
          </a:p>
          <a:p>
            <a:r>
              <a:rPr lang="en-US" altLang="zh-TW" dirty="0"/>
              <a:t>[6]	N. B. Kilaru, S. K. M. </a:t>
            </a:r>
            <a:r>
              <a:rPr lang="en-US" altLang="zh-TW" dirty="0" err="1"/>
              <a:t>Cheemakurthi</a:t>
            </a:r>
            <a:r>
              <a:rPr lang="en-US" altLang="zh-TW" dirty="0"/>
              <a:t> and V. Gunnam, “SOAR Solutions in PCI Compliance: Orchestrating Incident Response for Regulatory Security,” ESP Journal of Engineering &amp; Technology Advancements, vol. 1, Issue 2, pp. 78-84, 2021, doi:10.56472/25832646/JETA-V1I2P111.</a:t>
            </a:r>
          </a:p>
          <a:p>
            <a:r>
              <a:rPr lang="en-US" altLang="zh-TW" dirty="0"/>
              <a:t>[7]	S. Subudhi, “Effectiveness of AI/ML in SOAR (Security Automation and Orchestration) Platforms,” International Journal of Science and Research (IJSR), volume 13, issue 8, pp. 201-206, Aug. 2024, </a:t>
            </a:r>
            <a:r>
              <a:rPr lang="en-US" altLang="zh-TW" dirty="0" err="1"/>
              <a:t>doi</a:t>
            </a:r>
            <a:r>
              <a:rPr lang="en-US" altLang="zh-TW" dirty="0"/>
              <a:t>: 10.21275/MR24802085215.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6529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 rtlCol="0"/>
          <a:lstStyle/>
          <a:p>
            <a:pPr rtl="0"/>
            <a:r>
              <a:rPr lang="zh-TW" altLang="en-US" dirty="0"/>
              <a:t>感謝您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EDCFF82-B70F-4971-9182-7C3AEA3C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US" altLang="zh-TW" smtClean="0"/>
              <a:pPr rtl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單線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328869_TF22318419_Win32" id="{484791FE-B89A-4873-A14B-ACF71875DAAB}" vid="{F8EC1E10-9DF0-490B-83D2-9448824E2826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D446390-8521-40A2-A462-EA068123BED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1E84A1C-2814-43A7-9448-348326113A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5BA3906-9696-4247-AC0D-DD5C26B2A70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極簡風銷售宣傳</Template>
  <TotalTime>1753</TotalTime>
  <Words>479</Words>
  <Application>Microsoft Office PowerPoint</Application>
  <PresentationFormat>寬螢幕</PresentationFormat>
  <Paragraphs>21</Paragraphs>
  <Slides>5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8" baseType="lpstr">
      <vt:lpstr>Microsoft JhengHei UI</vt:lpstr>
      <vt:lpstr>Arial</vt:lpstr>
      <vt:lpstr>單線</vt:lpstr>
      <vt:lpstr>基於對抗式攻擊與情資平台之 HTTP/3 加密流量自動化安全防禦框架</vt:lpstr>
      <vt:lpstr>研究動機</vt:lpstr>
      <vt:lpstr>規劃時程 </vt:lpstr>
      <vt:lpstr>參考文獻</vt:lpstr>
      <vt:lpstr>感謝您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博宇 莊</dc:creator>
  <cp:lastModifiedBy>博宇 莊</cp:lastModifiedBy>
  <cp:revision>2</cp:revision>
  <dcterms:created xsi:type="dcterms:W3CDTF">2026-03-30T05:57:29Z</dcterms:created>
  <dcterms:modified xsi:type="dcterms:W3CDTF">2026-03-31T11:11:10Z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