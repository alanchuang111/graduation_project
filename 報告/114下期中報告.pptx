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theme/themeOverride1.xml" ContentType="application/vnd.openxmlformats-officedocument.themeOverr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7"/>
  </p:notesMasterIdLst>
  <p:handoutMasterIdLst>
    <p:handoutMasterId r:id="rId18"/>
  </p:handoutMasterIdLst>
  <p:sldIdLst>
    <p:sldId id="256" r:id="rId5"/>
    <p:sldId id="277" r:id="rId6"/>
    <p:sldId id="281" r:id="rId7"/>
    <p:sldId id="282" r:id="rId8"/>
    <p:sldId id="283" r:id="rId9"/>
    <p:sldId id="284" r:id="rId10"/>
    <p:sldId id="285" r:id="rId11"/>
    <p:sldId id="286" r:id="rId12"/>
    <p:sldId id="279" r:id="rId13"/>
    <p:sldId id="280" r:id="rId14"/>
    <p:sldId id="287" r:id="rId15"/>
    <p:sldId id="278" r:id="rId16"/>
  </p:sldIdLst>
  <p:sldSz cx="9144000" cy="6858000" type="screen4x3"/>
  <p:notesSz cx="9144000" cy="6858000"/>
  <p:defaultTextStyle>
    <a:defPPr rtl="0"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作者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B3E2"/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7292A2E-F333-43FB-9621-5CBBE7FDCDCB}" styleName="淺色樣式 2 - 輔色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22838BEF-8BB2-4498-84A7-C5851F593DF1}" styleName="中等深淺樣式 4 - 輔色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39" autoAdjust="0"/>
    <p:restoredTop sz="90303" autoAdjust="0"/>
  </p:normalViewPr>
  <p:slideViewPr>
    <p:cSldViewPr snapToGrid="0">
      <p:cViewPr varScale="1">
        <p:scale>
          <a:sx n="92" d="100"/>
          <a:sy n="92" d="100"/>
        </p:scale>
        <p:origin x="2334" y="306"/>
      </p:cViewPr>
      <p:guideLst>
        <p:guide orient="horz" pos="33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80" d="100"/>
          <a:sy n="80" d="100"/>
        </p:scale>
        <p:origin x="3432" y="7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image" Target="../media/image14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image" Target="../media/image1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image" Target="../media/image14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image" Target="../media/image1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D31A49-B68D-48FE-89CE-68829666A70B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65139AB7-EF38-480E-AD6D-417E10A074BB}">
      <dgm:prSet custT="1"/>
      <dgm:spPr/>
      <dgm:t>
        <a:bodyPr/>
        <a:lstStyle/>
        <a:p>
          <a:pPr algn="just"/>
          <a:r>
            <a:rPr lang="zh-TW" sz="2000" b="1" i="0" baseline="0" dirty="0"/>
            <a:t>HTTP/3 帶來的防禦真空</a:t>
          </a:r>
          <a:r>
            <a:rPr lang="zh-TW" sz="2000" b="0" i="0" baseline="0" dirty="0"/>
            <a:t>：HTTP/3</a:t>
          </a:r>
          <a:r>
            <a:rPr lang="zh-TW" altLang="en-US" sz="2000" b="0" i="0" baseline="0" dirty="0"/>
            <a:t> </a:t>
          </a:r>
          <a:r>
            <a:rPr lang="en-US" altLang="zh-TW" sz="2000" b="0" i="0" baseline="0" dirty="0"/>
            <a:t>(</a:t>
          </a:r>
          <a:r>
            <a:rPr lang="zh-TW" sz="2000" b="0" i="0" baseline="0" dirty="0"/>
            <a:t>基於 QUIC 協定</a:t>
          </a:r>
          <a:r>
            <a:rPr lang="en-US" altLang="zh-TW" sz="2000" b="0" i="0" baseline="0" dirty="0"/>
            <a:t>)</a:t>
          </a:r>
          <a:r>
            <a:rPr lang="zh-TW" altLang="en-US" sz="2000" b="0" i="0" baseline="0" dirty="0"/>
            <a:t> </a:t>
          </a:r>
          <a:r>
            <a:rPr lang="zh-TW" sz="2000" b="0" i="0" baseline="0" dirty="0"/>
            <a:t>已成為新世代傳輸標準，但其基於 UDP 且強制 TLS 1.3 加密的特性，導致傳統基於特徵碼 (Signature-based) 與深度封包檢測 (DPI) 的防火牆完全失效。</a:t>
          </a:r>
          <a:endParaRPr lang="en-US" sz="2000" dirty="0"/>
        </a:p>
      </dgm:t>
    </dgm:pt>
    <dgm:pt modelId="{D3CC8A80-B0CD-46AC-918F-2B011B28507F}" type="parTrans" cxnId="{86D9CAA0-DF90-43BE-B1C8-D92D762095F1}">
      <dgm:prSet/>
      <dgm:spPr/>
      <dgm:t>
        <a:bodyPr/>
        <a:lstStyle/>
        <a:p>
          <a:endParaRPr lang="en-US"/>
        </a:p>
      </dgm:t>
    </dgm:pt>
    <dgm:pt modelId="{A5301E28-E2C8-4258-A247-2A86B6A14354}" type="sibTrans" cxnId="{86D9CAA0-DF90-43BE-B1C8-D92D762095F1}">
      <dgm:prSet/>
      <dgm:spPr/>
      <dgm:t>
        <a:bodyPr/>
        <a:lstStyle/>
        <a:p>
          <a:endParaRPr lang="en-US"/>
        </a:p>
      </dgm:t>
    </dgm:pt>
    <dgm:pt modelId="{E6C69D53-B051-4F44-B0AE-284F59F42B99}">
      <dgm:prSet custT="1"/>
      <dgm:spPr/>
      <dgm:t>
        <a:bodyPr/>
        <a:lstStyle/>
        <a:p>
          <a:pPr algn="just"/>
          <a:r>
            <a:rPr lang="zh-TW" sz="2000" b="1" i="0" baseline="0" dirty="0"/>
            <a:t>對抗式規避技術 (Adversarial Evasion)</a:t>
          </a:r>
          <a:r>
            <a:rPr lang="zh-TW" sz="2000" b="0" i="0" baseline="0" dirty="0"/>
            <a:t>：惡意攻擊者透過封包切割、時序干擾等手法偽裝成正常流量，改變統計特徵以騙過傳統模型。</a:t>
          </a:r>
          <a:endParaRPr lang="en-US" sz="2000" dirty="0"/>
        </a:p>
      </dgm:t>
    </dgm:pt>
    <dgm:pt modelId="{27B8BEB2-71C9-4622-95DD-82313CB26C29}" type="parTrans" cxnId="{92E23C44-0BCA-4226-A055-97D9BC83C846}">
      <dgm:prSet/>
      <dgm:spPr/>
      <dgm:t>
        <a:bodyPr/>
        <a:lstStyle/>
        <a:p>
          <a:endParaRPr lang="en-US"/>
        </a:p>
      </dgm:t>
    </dgm:pt>
    <dgm:pt modelId="{0090C12E-3A41-44F9-AFBF-023C3EA317DE}" type="sibTrans" cxnId="{92E23C44-0BCA-4226-A055-97D9BC83C846}">
      <dgm:prSet/>
      <dgm:spPr/>
      <dgm:t>
        <a:bodyPr/>
        <a:lstStyle/>
        <a:p>
          <a:endParaRPr lang="en-US"/>
        </a:p>
      </dgm:t>
    </dgm:pt>
    <dgm:pt modelId="{EDF977B0-CF6A-42B3-A596-42236107D972}">
      <dgm:prSet custT="1"/>
      <dgm:spPr/>
      <dgm:t>
        <a:bodyPr/>
        <a:lstStyle/>
        <a:p>
          <a:pPr algn="just"/>
          <a:r>
            <a:rPr lang="zh-TW" sz="2000" b="1" i="0" baseline="0" dirty="0"/>
            <a:t>標記成本與告警疲勞</a:t>
          </a:r>
          <a:r>
            <a:rPr lang="zh-TW" sz="2000" b="0" i="0" baseline="0" dirty="0"/>
            <a:t>：真實網路環境中攻擊手法變幻莫測，要蒐集並標記大量的最新攻擊樣本是不切實際的。面對層出不窮的警告，資安人員往往面臨告警疲勞。</a:t>
          </a:r>
          <a:endParaRPr lang="en-US" sz="2000" dirty="0"/>
        </a:p>
      </dgm:t>
    </dgm:pt>
    <dgm:pt modelId="{5B55CBBB-005F-4A9F-9A38-B0AAEF4E860E}" type="parTrans" cxnId="{FBD1DE8C-EA49-4065-99CC-9856B45782D9}">
      <dgm:prSet/>
      <dgm:spPr/>
      <dgm:t>
        <a:bodyPr/>
        <a:lstStyle/>
        <a:p>
          <a:endParaRPr lang="en-US"/>
        </a:p>
      </dgm:t>
    </dgm:pt>
    <dgm:pt modelId="{54CEBD1C-B3F0-4DBF-9211-5487270C4A2A}" type="sibTrans" cxnId="{FBD1DE8C-EA49-4065-99CC-9856B45782D9}">
      <dgm:prSet/>
      <dgm:spPr/>
      <dgm:t>
        <a:bodyPr/>
        <a:lstStyle/>
        <a:p>
          <a:endParaRPr lang="en-US"/>
        </a:p>
      </dgm:t>
    </dgm:pt>
    <dgm:pt modelId="{E050C78D-CB9A-46FE-8A5A-A74772D27AE2}" type="pres">
      <dgm:prSet presAssocID="{B8D31A49-B68D-48FE-89CE-68829666A70B}" presName="root" presStyleCnt="0">
        <dgm:presLayoutVars>
          <dgm:dir/>
          <dgm:resizeHandles val="exact"/>
        </dgm:presLayoutVars>
      </dgm:prSet>
      <dgm:spPr/>
    </dgm:pt>
    <dgm:pt modelId="{37BDBB96-D327-4935-8070-8E3D11DE30AF}" type="pres">
      <dgm:prSet presAssocID="{65139AB7-EF38-480E-AD6D-417E10A074BB}" presName="compNode" presStyleCnt="0"/>
      <dgm:spPr/>
    </dgm:pt>
    <dgm:pt modelId="{0256C400-4925-48C1-9840-DCF43C150F09}" type="pres">
      <dgm:prSet presAssocID="{65139AB7-EF38-480E-AD6D-417E10A074BB}" presName="bgRect" presStyleLbl="bgShp" presStyleIdx="0" presStyleCnt="3"/>
      <dgm:spPr/>
    </dgm:pt>
    <dgm:pt modelId="{4C76697F-96B5-4565-ACCA-EB872D912BE0}" type="pres">
      <dgm:prSet presAssocID="{65139AB7-EF38-480E-AD6D-417E10A074BB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處理器"/>
        </a:ext>
      </dgm:extLst>
    </dgm:pt>
    <dgm:pt modelId="{C5714518-4FBA-4BF0-BBDC-309547E4853A}" type="pres">
      <dgm:prSet presAssocID="{65139AB7-EF38-480E-AD6D-417E10A074BB}" presName="spaceRect" presStyleCnt="0"/>
      <dgm:spPr/>
    </dgm:pt>
    <dgm:pt modelId="{D255D1D9-382F-4CB4-AF9F-A0CF6E492613}" type="pres">
      <dgm:prSet presAssocID="{65139AB7-EF38-480E-AD6D-417E10A074BB}" presName="parTx" presStyleLbl="revTx" presStyleIdx="0" presStyleCnt="3">
        <dgm:presLayoutVars>
          <dgm:chMax val="0"/>
          <dgm:chPref val="0"/>
        </dgm:presLayoutVars>
      </dgm:prSet>
      <dgm:spPr/>
    </dgm:pt>
    <dgm:pt modelId="{B54B0F3F-07E2-4D9B-AA0D-FACFA7EAE1FD}" type="pres">
      <dgm:prSet presAssocID="{A5301E28-E2C8-4258-A247-2A86B6A14354}" presName="sibTrans" presStyleCnt="0"/>
      <dgm:spPr/>
    </dgm:pt>
    <dgm:pt modelId="{862D1D76-C57B-4720-A42D-C771C1F55691}" type="pres">
      <dgm:prSet presAssocID="{E6C69D53-B051-4F44-B0AE-284F59F42B99}" presName="compNode" presStyleCnt="0"/>
      <dgm:spPr/>
    </dgm:pt>
    <dgm:pt modelId="{099F117A-EFF2-47E2-B118-157F252005C8}" type="pres">
      <dgm:prSet presAssocID="{E6C69D53-B051-4F44-B0AE-284F59F42B99}" presName="bgRect" presStyleLbl="bgShp" presStyleIdx="1" presStyleCnt="3"/>
      <dgm:spPr/>
    </dgm:pt>
    <dgm:pt modelId="{DAEADB4B-EA05-463D-9A98-177504B06BC0}" type="pres">
      <dgm:prSet presAssocID="{E6C69D53-B051-4F44-B0AE-284F59F42B99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骰子"/>
        </a:ext>
      </dgm:extLst>
    </dgm:pt>
    <dgm:pt modelId="{DEAECF44-5442-4E6E-9C2E-10A1C79674DB}" type="pres">
      <dgm:prSet presAssocID="{E6C69D53-B051-4F44-B0AE-284F59F42B99}" presName="spaceRect" presStyleCnt="0"/>
      <dgm:spPr/>
    </dgm:pt>
    <dgm:pt modelId="{C76CB3C1-33E1-4A3C-9A98-2DFEE9160545}" type="pres">
      <dgm:prSet presAssocID="{E6C69D53-B051-4F44-B0AE-284F59F42B99}" presName="parTx" presStyleLbl="revTx" presStyleIdx="1" presStyleCnt="3">
        <dgm:presLayoutVars>
          <dgm:chMax val="0"/>
          <dgm:chPref val="0"/>
        </dgm:presLayoutVars>
      </dgm:prSet>
      <dgm:spPr/>
    </dgm:pt>
    <dgm:pt modelId="{51880A8B-86E8-4ACC-989F-E9C728E3BB8E}" type="pres">
      <dgm:prSet presAssocID="{0090C12E-3A41-44F9-AFBF-023C3EA317DE}" presName="sibTrans" presStyleCnt="0"/>
      <dgm:spPr/>
    </dgm:pt>
    <dgm:pt modelId="{CE92E8B7-C568-4F3D-A438-B87210DBFF4B}" type="pres">
      <dgm:prSet presAssocID="{EDF977B0-CF6A-42B3-A596-42236107D972}" presName="compNode" presStyleCnt="0"/>
      <dgm:spPr/>
    </dgm:pt>
    <dgm:pt modelId="{9830C586-1C1E-4837-9248-3C1172C75E59}" type="pres">
      <dgm:prSet presAssocID="{EDF977B0-CF6A-42B3-A596-42236107D972}" presName="bgRect" presStyleLbl="bgShp" presStyleIdx="2" presStyleCnt="3"/>
      <dgm:spPr/>
    </dgm:pt>
    <dgm:pt modelId="{B3E49C2E-C8DB-45F0-BEDC-44ECA06533AE}" type="pres">
      <dgm:prSet presAssocID="{EDF977B0-CF6A-42B3-A596-42236107D972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字幕"/>
        </a:ext>
      </dgm:extLst>
    </dgm:pt>
    <dgm:pt modelId="{33E7D865-07CB-46A5-B518-3DA5A7C60934}" type="pres">
      <dgm:prSet presAssocID="{EDF977B0-CF6A-42B3-A596-42236107D972}" presName="spaceRect" presStyleCnt="0"/>
      <dgm:spPr/>
    </dgm:pt>
    <dgm:pt modelId="{F8B1E1CB-63EC-4057-B345-3774A4530389}" type="pres">
      <dgm:prSet presAssocID="{EDF977B0-CF6A-42B3-A596-42236107D972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22BF360A-499D-48EB-9D35-FE75C741A4DC}" type="presOf" srcId="{E6C69D53-B051-4F44-B0AE-284F59F42B99}" destId="{C76CB3C1-33E1-4A3C-9A98-2DFEE9160545}" srcOrd="0" destOrd="0" presId="urn:microsoft.com/office/officeart/2018/2/layout/IconVerticalSolidList"/>
    <dgm:cxn modelId="{92E23C44-0BCA-4226-A055-97D9BC83C846}" srcId="{B8D31A49-B68D-48FE-89CE-68829666A70B}" destId="{E6C69D53-B051-4F44-B0AE-284F59F42B99}" srcOrd="1" destOrd="0" parTransId="{27B8BEB2-71C9-4622-95DD-82313CB26C29}" sibTransId="{0090C12E-3A41-44F9-AFBF-023C3EA317DE}"/>
    <dgm:cxn modelId="{D0905751-5746-4CC0-BCF3-3DB33E4399F7}" type="presOf" srcId="{B8D31A49-B68D-48FE-89CE-68829666A70B}" destId="{E050C78D-CB9A-46FE-8A5A-A74772D27AE2}" srcOrd="0" destOrd="0" presId="urn:microsoft.com/office/officeart/2018/2/layout/IconVerticalSolidList"/>
    <dgm:cxn modelId="{FBD1DE8C-EA49-4065-99CC-9856B45782D9}" srcId="{B8D31A49-B68D-48FE-89CE-68829666A70B}" destId="{EDF977B0-CF6A-42B3-A596-42236107D972}" srcOrd="2" destOrd="0" parTransId="{5B55CBBB-005F-4A9F-9A38-B0AAEF4E860E}" sibTransId="{54CEBD1C-B3F0-4DBF-9211-5487270C4A2A}"/>
    <dgm:cxn modelId="{A12A929D-DDF3-4FAD-B636-FACE468C7298}" type="presOf" srcId="{EDF977B0-CF6A-42B3-A596-42236107D972}" destId="{F8B1E1CB-63EC-4057-B345-3774A4530389}" srcOrd="0" destOrd="0" presId="urn:microsoft.com/office/officeart/2018/2/layout/IconVerticalSolidList"/>
    <dgm:cxn modelId="{86D9CAA0-DF90-43BE-B1C8-D92D762095F1}" srcId="{B8D31A49-B68D-48FE-89CE-68829666A70B}" destId="{65139AB7-EF38-480E-AD6D-417E10A074BB}" srcOrd="0" destOrd="0" parTransId="{D3CC8A80-B0CD-46AC-918F-2B011B28507F}" sibTransId="{A5301E28-E2C8-4258-A247-2A86B6A14354}"/>
    <dgm:cxn modelId="{4C5060D8-E11F-459D-8F9B-9DBCE87AC956}" type="presOf" srcId="{65139AB7-EF38-480E-AD6D-417E10A074BB}" destId="{D255D1D9-382F-4CB4-AF9F-A0CF6E492613}" srcOrd="0" destOrd="0" presId="urn:microsoft.com/office/officeart/2018/2/layout/IconVerticalSolidList"/>
    <dgm:cxn modelId="{24615A76-F235-42D9-AD93-D1A59ED52492}" type="presParOf" srcId="{E050C78D-CB9A-46FE-8A5A-A74772D27AE2}" destId="{37BDBB96-D327-4935-8070-8E3D11DE30AF}" srcOrd="0" destOrd="0" presId="urn:microsoft.com/office/officeart/2018/2/layout/IconVerticalSolidList"/>
    <dgm:cxn modelId="{99C0792C-5C59-4A1F-A270-5050E8372029}" type="presParOf" srcId="{37BDBB96-D327-4935-8070-8E3D11DE30AF}" destId="{0256C400-4925-48C1-9840-DCF43C150F09}" srcOrd="0" destOrd="0" presId="urn:microsoft.com/office/officeart/2018/2/layout/IconVerticalSolidList"/>
    <dgm:cxn modelId="{36569850-ED2A-4368-A2F5-1C549D2C3867}" type="presParOf" srcId="{37BDBB96-D327-4935-8070-8E3D11DE30AF}" destId="{4C76697F-96B5-4565-ACCA-EB872D912BE0}" srcOrd="1" destOrd="0" presId="urn:microsoft.com/office/officeart/2018/2/layout/IconVerticalSolidList"/>
    <dgm:cxn modelId="{9D982440-929E-4065-8FB7-956D851D7636}" type="presParOf" srcId="{37BDBB96-D327-4935-8070-8E3D11DE30AF}" destId="{C5714518-4FBA-4BF0-BBDC-309547E4853A}" srcOrd="2" destOrd="0" presId="urn:microsoft.com/office/officeart/2018/2/layout/IconVerticalSolidList"/>
    <dgm:cxn modelId="{D02C85F6-A98D-4488-AD70-4F63F370B891}" type="presParOf" srcId="{37BDBB96-D327-4935-8070-8E3D11DE30AF}" destId="{D255D1D9-382F-4CB4-AF9F-A0CF6E492613}" srcOrd="3" destOrd="0" presId="urn:microsoft.com/office/officeart/2018/2/layout/IconVerticalSolidList"/>
    <dgm:cxn modelId="{0B7C3449-9D64-4946-B71D-2A2B837650AC}" type="presParOf" srcId="{E050C78D-CB9A-46FE-8A5A-A74772D27AE2}" destId="{B54B0F3F-07E2-4D9B-AA0D-FACFA7EAE1FD}" srcOrd="1" destOrd="0" presId="urn:microsoft.com/office/officeart/2018/2/layout/IconVerticalSolidList"/>
    <dgm:cxn modelId="{A2C83F67-E39C-4C46-BE19-C0E2D3CFCAD7}" type="presParOf" srcId="{E050C78D-CB9A-46FE-8A5A-A74772D27AE2}" destId="{862D1D76-C57B-4720-A42D-C771C1F55691}" srcOrd="2" destOrd="0" presId="urn:microsoft.com/office/officeart/2018/2/layout/IconVerticalSolidList"/>
    <dgm:cxn modelId="{567CFDD1-F621-4543-8080-2213C5BE3928}" type="presParOf" srcId="{862D1D76-C57B-4720-A42D-C771C1F55691}" destId="{099F117A-EFF2-47E2-B118-157F252005C8}" srcOrd="0" destOrd="0" presId="urn:microsoft.com/office/officeart/2018/2/layout/IconVerticalSolidList"/>
    <dgm:cxn modelId="{BCB1B3B5-8424-42B9-BFB2-7038364314F2}" type="presParOf" srcId="{862D1D76-C57B-4720-A42D-C771C1F55691}" destId="{DAEADB4B-EA05-463D-9A98-177504B06BC0}" srcOrd="1" destOrd="0" presId="urn:microsoft.com/office/officeart/2018/2/layout/IconVerticalSolidList"/>
    <dgm:cxn modelId="{C468D51F-F93D-438F-A1D7-75559BBFC40E}" type="presParOf" srcId="{862D1D76-C57B-4720-A42D-C771C1F55691}" destId="{DEAECF44-5442-4E6E-9C2E-10A1C79674DB}" srcOrd="2" destOrd="0" presId="urn:microsoft.com/office/officeart/2018/2/layout/IconVerticalSolidList"/>
    <dgm:cxn modelId="{915D7C8D-4B71-484B-ABB2-43A38CFA921C}" type="presParOf" srcId="{862D1D76-C57B-4720-A42D-C771C1F55691}" destId="{C76CB3C1-33E1-4A3C-9A98-2DFEE9160545}" srcOrd="3" destOrd="0" presId="urn:microsoft.com/office/officeart/2018/2/layout/IconVerticalSolidList"/>
    <dgm:cxn modelId="{96CDF5B4-DD3C-4FF3-B466-7C6E3E15C8B3}" type="presParOf" srcId="{E050C78D-CB9A-46FE-8A5A-A74772D27AE2}" destId="{51880A8B-86E8-4ACC-989F-E9C728E3BB8E}" srcOrd="3" destOrd="0" presId="urn:microsoft.com/office/officeart/2018/2/layout/IconVerticalSolidList"/>
    <dgm:cxn modelId="{A458D684-9CDD-4584-A64F-770E50FFCACF}" type="presParOf" srcId="{E050C78D-CB9A-46FE-8A5A-A74772D27AE2}" destId="{CE92E8B7-C568-4F3D-A438-B87210DBFF4B}" srcOrd="4" destOrd="0" presId="urn:microsoft.com/office/officeart/2018/2/layout/IconVerticalSolidList"/>
    <dgm:cxn modelId="{B557CA2F-8CFB-4A6C-919A-81AD673963E7}" type="presParOf" srcId="{CE92E8B7-C568-4F3D-A438-B87210DBFF4B}" destId="{9830C586-1C1E-4837-9248-3C1172C75E59}" srcOrd="0" destOrd="0" presId="urn:microsoft.com/office/officeart/2018/2/layout/IconVerticalSolidList"/>
    <dgm:cxn modelId="{FD31DAF4-AFC6-4C0E-BFA8-70C73CBCCBB3}" type="presParOf" srcId="{CE92E8B7-C568-4F3D-A438-B87210DBFF4B}" destId="{B3E49C2E-C8DB-45F0-BEDC-44ECA06533AE}" srcOrd="1" destOrd="0" presId="urn:microsoft.com/office/officeart/2018/2/layout/IconVerticalSolidList"/>
    <dgm:cxn modelId="{44993C60-04FE-4C93-B89F-AE8EAE3FFC27}" type="presParOf" srcId="{CE92E8B7-C568-4F3D-A438-B87210DBFF4B}" destId="{33E7D865-07CB-46A5-B518-3DA5A7C60934}" srcOrd="2" destOrd="0" presId="urn:microsoft.com/office/officeart/2018/2/layout/IconVerticalSolidList"/>
    <dgm:cxn modelId="{B9838A65-AAEF-4C66-90D1-AA16A9C75720}" type="presParOf" srcId="{CE92E8B7-C568-4F3D-A438-B87210DBFF4B}" destId="{F8B1E1CB-63EC-4057-B345-3774A453038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6928ACA-2688-4187-A056-F87AE73CF130}" type="doc">
      <dgm:prSet loTypeId="urn:microsoft.com/office/officeart/2008/layout/LinedList" loCatId="list" qsTypeId="urn:microsoft.com/office/officeart/2005/8/quickstyle/simple4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83883367-9E93-46EA-B3F1-D55BCA30C721}">
      <dgm:prSet custT="1"/>
      <dgm:spPr/>
      <dgm:t>
        <a:bodyPr/>
        <a:lstStyle/>
        <a:p>
          <a:pPr algn="just">
            <a:lnSpc>
              <a:spcPts val="3000"/>
            </a:lnSpc>
            <a:spcBef>
              <a:spcPts val="1000"/>
            </a:spcBef>
          </a:pPr>
          <a:r>
            <a:rPr lang="zh-TW" sz="2000" b="1" i="0" baseline="0" dirty="0"/>
            <a:t>機器學習驅動的加密網路流量分析</a:t>
          </a:r>
          <a:r>
            <a:rPr lang="zh-TW" sz="2000" b="0" i="0" baseline="0" dirty="0"/>
            <a:t>：現有技術能在不解密的情況下，透過提取流量的統計特徵</a:t>
          </a:r>
          <a:r>
            <a:rPr lang="en-US" altLang="zh-TW" sz="2000" b="0" i="0" baseline="0" dirty="0"/>
            <a:t> (</a:t>
          </a:r>
          <a:r>
            <a:rPr lang="zh-TW" sz="2000" b="0" i="0" baseline="0" dirty="0"/>
            <a:t>如封包長度、時間間隔</a:t>
          </a:r>
          <a:r>
            <a:rPr lang="en-US" altLang="zh-TW" sz="2000" b="0" i="0" baseline="0" dirty="0"/>
            <a:t>) </a:t>
          </a:r>
          <a:r>
            <a:rPr lang="zh-TW" sz="2000" b="0" i="0" baseline="0" dirty="0"/>
            <a:t>或行為模式來識別流量屬性。然而，過度依賴握手階段的特徵</a:t>
          </a:r>
          <a:r>
            <a:rPr lang="zh-TW" altLang="en-US" sz="2000" b="0" i="0" baseline="0" dirty="0"/>
            <a:t> </a:t>
          </a:r>
          <a:r>
            <a:rPr lang="en-US" altLang="zh-TW" sz="2000" b="0" i="0" baseline="0" dirty="0"/>
            <a:t>(</a:t>
          </a:r>
          <a:r>
            <a:rPr lang="zh-TW" sz="2000" b="0" i="0" baseline="0" dirty="0"/>
            <a:t>如憑證資料大小</a:t>
          </a:r>
          <a:r>
            <a:rPr lang="en-US" altLang="zh-TW" sz="2000" b="0" i="0" baseline="0" dirty="0"/>
            <a:t>) </a:t>
          </a:r>
          <a:r>
            <a:rPr lang="zh-TW" sz="2000" b="0" i="0" baseline="0" dirty="0"/>
            <a:t>可能導致模型在真實環境中快速失效。</a:t>
          </a:r>
          <a:endParaRPr lang="en-US" sz="2000" dirty="0"/>
        </a:p>
      </dgm:t>
    </dgm:pt>
    <dgm:pt modelId="{8349D712-8D25-4357-92C3-4E6A7E573849}" type="parTrans" cxnId="{DEE49AED-66BC-4A12-A00B-9EEE06CA8DE4}">
      <dgm:prSet/>
      <dgm:spPr/>
      <dgm:t>
        <a:bodyPr/>
        <a:lstStyle/>
        <a:p>
          <a:endParaRPr lang="en-US"/>
        </a:p>
      </dgm:t>
    </dgm:pt>
    <dgm:pt modelId="{11999433-2413-4654-BA06-B5849283D7CD}" type="sibTrans" cxnId="{DEE49AED-66BC-4A12-A00B-9EEE06CA8DE4}">
      <dgm:prSet/>
      <dgm:spPr/>
      <dgm:t>
        <a:bodyPr/>
        <a:lstStyle/>
        <a:p>
          <a:endParaRPr lang="en-US"/>
        </a:p>
      </dgm:t>
    </dgm:pt>
    <dgm:pt modelId="{4725A267-389C-4E6B-9692-B2CCE4E03C44}">
      <dgm:prSet custT="1"/>
      <dgm:spPr/>
      <dgm:t>
        <a:bodyPr/>
        <a:lstStyle/>
        <a:p>
          <a:pPr algn="just">
            <a:lnSpc>
              <a:spcPts val="3000"/>
            </a:lnSpc>
            <a:spcBef>
              <a:spcPts val="1000"/>
            </a:spcBef>
          </a:pPr>
          <a:r>
            <a:rPr lang="zh-TW" sz="2000" b="1" i="0" baseline="0" dirty="0"/>
            <a:t>非監督式學習與生成對抗網路 (GAN) 的應用</a:t>
          </a:r>
          <a:r>
            <a:rPr lang="zh-TW" sz="2000" b="0" i="0" baseline="0" dirty="0"/>
            <a:t>：傳統異常偵測高度依賴先驗知識，而 GAN 等非監督式深度學習模型透過引入少量惡意樣本進行弱監督學習，或採用自編碼器 (Autoencoder) 架構，能有效縮短訓練時間並提升對未知攻擊的偵測能力。</a:t>
          </a:r>
          <a:endParaRPr lang="en-US" sz="2000" dirty="0"/>
        </a:p>
      </dgm:t>
    </dgm:pt>
    <dgm:pt modelId="{383426CE-C896-40B2-9C89-68FAD5906D5E}" type="parTrans" cxnId="{E17487A3-ECA7-40DF-9284-67776328919B}">
      <dgm:prSet/>
      <dgm:spPr/>
      <dgm:t>
        <a:bodyPr/>
        <a:lstStyle/>
        <a:p>
          <a:endParaRPr lang="en-US"/>
        </a:p>
      </dgm:t>
    </dgm:pt>
    <dgm:pt modelId="{A8E5941E-3958-404C-A7D6-CF341C55A9CA}" type="sibTrans" cxnId="{E17487A3-ECA7-40DF-9284-67776328919B}">
      <dgm:prSet/>
      <dgm:spPr/>
      <dgm:t>
        <a:bodyPr/>
        <a:lstStyle/>
        <a:p>
          <a:endParaRPr lang="en-US"/>
        </a:p>
      </dgm:t>
    </dgm:pt>
    <dgm:pt modelId="{E07192AB-A959-4C8E-9BB2-5E242EEC2FB8}">
      <dgm:prSet custT="1"/>
      <dgm:spPr/>
      <dgm:t>
        <a:bodyPr/>
        <a:lstStyle/>
        <a:p>
          <a:pPr algn="just">
            <a:lnSpc>
              <a:spcPts val="3000"/>
            </a:lnSpc>
            <a:spcBef>
              <a:spcPts val="1000"/>
            </a:spcBef>
          </a:pPr>
          <a:r>
            <a:rPr lang="zh-TW" sz="2000" b="1" i="0" baseline="0" dirty="0"/>
            <a:t>SOAR 與人工智慧的整合</a:t>
          </a:r>
          <a:r>
            <a:rPr lang="zh-TW" sz="2000" b="0" i="0" baseline="0" dirty="0"/>
            <a:t>：安全維運中心 (SOC) 導入 SOAR 平台能自動化執行重複性任務，有效釋放分析師的時間。整合 AI 後，模型能分析大量數據以識別微小的異常行為，並針對低風險威脅自動執行處置，顯著縮短平均回應時間 (MTTR)。</a:t>
          </a:r>
          <a:endParaRPr lang="en-US" sz="2000" dirty="0"/>
        </a:p>
      </dgm:t>
    </dgm:pt>
    <dgm:pt modelId="{C5601AC9-19F1-4C6C-AFC0-C97799C5CC21}" type="parTrans" cxnId="{B7F77198-8242-4DF5-8A80-DEC6542B99B2}">
      <dgm:prSet/>
      <dgm:spPr/>
      <dgm:t>
        <a:bodyPr/>
        <a:lstStyle/>
        <a:p>
          <a:endParaRPr lang="en-US"/>
        </a:p>
      </dgm:t>
    </dgm:pt>
    <dgm:pt modelId="{0DF0189A-0986-47B6-85D3-B0311E647ECF}" type="sibTrans" cxnId="{B7F77198-8242-4DF5-8A80-DEC6542B99B2}">
      <dgm:prSet/>
      <dgm:spPr/>
      <dgm:t>
        <a:bodyPr/>
        <a:lstStyle/>
        <a:p>
          <a:endParaRPr lang="en-US"/>
        </a:p>
      </dgm:t>
    </dgm:pt>
    <dgm:pt modelId="{E3495BEA-7EB3-44BD-94FA-3E5C8C110007}" type="pres">
      <dgm:prSet presAssocID="{16928ACA-2688-4187-A056-F87AE73CF130}" presName="vert0" presStyleCnt="0">
        <dgm:presLayoutVars>
          <dgm:dir/>
          <dgm:animOne val="branch"/>
          <dgm:animLvl val="lvl"/>
        </dgm:presLayoutVars>
      </dgm:prSet>
      <dgm:spPr/>
    </dgm:pt>
    <dgm:pt modelId="{1D5BD4E5-1BA3-4F7E-8FE9-33F85485E991}" type="pres">
      <dgm:prSet presAssocID="{83883367-9E93-46EA-B3F1-D55BCA30C721}" presName="thickLine" presStyleLbl="alignNode1" presStyleIdx="0" presStyleCnt="3"/>
      <dgm:spPr/>
    </dgm:pt>
    <dgm:pt modelId="{1C7107C0-E4A5-4D85-AD8C-2A62CD5147D7}" type="pres">
      <dgm:prSet presAssocID="{83883367-9E93-46EA-B3F1-D55BCA30C721}" presName="horz1" presStyleCnt="0"/>
      <dgm:spPr/>
    </dgm:pt>
    <dgm:pt modelId="{2DC0909B-D946-49B6-B3E4-CCFA354B673D}" type="pres">
      <dgm:prSet presAssocID="{83883367-9E93-46EA-B3F1-D55BCA30C721}" presName="tx1" presStyleLbl="revTx" presStyleIdx="0" presStyleCnt="3"/>
      <dgm:spPr/>
    </dgm:pt>
    <dgm:pt modelId="{50105306-5139-4118-81FA-968855CD9CD6}" type="pres">
      <dgm:prSet presAssocID="{83883367-9E93-46EA-B3F1-D55BCA30C721}" presName="vert1" presStyleCnt="0"/>
      <dgm:spPr/>
    </dgm:pt>
    <dgm:pt modelId="{FBE8B023-D52A-448F-8300-17CB34185840}" type="pres">
      <dgm:prSet presAssocID="{4725A267-389C-4E6B-9692-B2CCE4E03C44}" presName="thickLine" presStyleLbl="alignNode1" presStyleIdx="1" presStyleCnt="3"/>
      <dgm:spPr/>
    </dgm:pt>
    <dgm:pt modelId="{F70DFBFA-5406-4C2C-9695-B4AD04A3D33C}" type="pres">
      <dgm:prSet presAssocID="{4725A267-389C-4E6B-9692-B2CCE4E03C44}" presName="horz1" presStyleCnt="0"/>
      <dgm:spPr/>
    </dgm:pt>
    <dgm:pt modelId="{1594BE68-74D1-4A71-9079-A56FC2A4EB27}" type="pres">
      <dgm:prSet presAssocID="{4725A267-389C-4E6B-9692-B2CCE4E03C44}" presName="tx1" presStyleLbl="revTx" presStyleIdx="1" presStyleCnt="3"/>
      <dgm:spPr/>
    </dgm:pt>
    <dgm:pt modelId="{1B2BAD8A-7453-40C2-8259-C2A58E3A7A8F}" type="pres">
      <dgm:prSet presAssocID="{4725A267-389C-4E6B-9692-B2CCE4E03C44}" presName="vert1" presStyleCnt="0"/>
      <dgm:spPr/>
    </dgm:pt>
    <dgm:pt modelId="{D9AF9126-106B-40B4-9E7A-8004995A355C}" type="pres">
      <dgm:prSet presAssocID="{E07192AB-A959-4C8E-9BB2-5E242EEC2FB8}" presName="thickLine" presStyleLbl="alignNode1" presStyleIdx="2" presStyleCnt="3"/>
      <dgm:spPr/>
    </dgm:pt>
    <dgm:pt modelId="{B35B9F23-84F2-4A34-AD18-1D069203EED3}" type="pres">
      <dgm:prSet presAssocID="{E07192AB-A959-4C8E-9BB2-5E242EEC2FB8}" presName="horz1" presStyleCnt="0"/>
      <dgm:spPr/>
    </dgm:pt>
    <dgm:pt modelId="{EEDD226D-20C6-4808-A681-468C9AFE89FA}" type="pres">
      <dgm:prSet presAssocID="{E07192AB-A959-4C8E-9BB2-5E242EEC2FB8}" presName="tx1" presStyleLbl="revTx" presStyleIdx="2" presStyleCnt="3"/>
      <dgm:spPr/>
    </dgm:pt>
    <dgm:pt modelId="{2A8819C3-9A08-4EEF-9A15-635B12D9B0E3}" type="pres">
      <dgm:prSet presAssocID="{E07192AB-A959-4C8E-9BB2-5E242EEC2FB8}" presName="vert1" presStyleCnt="0"/>
      <dgm:spPr/>
    </dgm:pt>
  </dgm:ptLst>
  <dgm:cxnLst>
    <dgm:cxn modelId="{AB6CBC2D-A143-411B-B936-BFD9DFD0D75C}" type="presOf" srcId="{E07192AB-A959-4C8E-9BB2-5E242EEC2FB8}" destId="{EEDD226D-20C6-4808-A681-468C9AFE89FA}" srcOrd="0" destOrd="0" presId="urn:microsoft.com/office/officeart/2008/layout/LinedList"/>
    <dgm:cxn modelId="{0AF62E72-29B0-419D-AD93-F360CFEE3184}" type="presOf" srcId="{16928ACA-2688-4187-A056-F87AE73CF130}" destId="{E3495BEA-7EB3-44BD-94FA-3E5C8C110007}" srcOrd="0" destOrd="0" presId="urn:microsoft.com/office/officeart/2008/layout/LinedList"/>
    <dgm:cxn modelId="{B7F77198-8242-4DF5-8A80-DEC6542B99B2}" srcId="{16928ACA-2688-4187-A056-F87AE73CF130}" destId="{E07192AB-A959-4C8E-9BB2-5E242EEC2FB8}" srcOrd="2" destOrd="0" parTransId="{C5601AC9-19F1-4C6C-AFC0-C97799C5CC21}" sibTransId="{0DF0189A-0986-47B6-85D3-B0311E647ECF}"/>
    <dgm:cxn modelId="{E17487A3-ECA7-40DF-9284-67776328919B}" srcId="{16928ACA-2688-4187-A056-F87AE73CF130}" destId="{4725A267-389C-4E6B-9692-B2CCE4E03C44}" srcOrd="1" destOrd="0" parTransId="{383426CE-C896-40B2-9C89-68FAD5906D5E}" sibTransId="{A8E5941E-3958-404C-A7D6-CF341C55A9CA}"/>
    <dgm:cxn modelId="{57CC39C2-B92A-4416-A115-B2025133E831}" type="presOf" srcId="{4725A267-389C-4E6B-9692-B2CCE4E03C44}" destId="{1594BE68-74D1-4A71-9079-A56FC2A4EB27}" srcOrd="0" destOrd="0" presId="urn:microsoft.com/office/officeart/2008/layout/LinedList"/>
    <dgm:cxn modelId="{7C94F8C2-95B3-4BBA-BE22-C557D809C4D0}" type="presOf" srcId="{83883367-9E93-46EA-B3F1-D55BCA30C721}" destId="{2DC0909B-D946-49B6-B3E4-CCFA354B673D}" srcOrd="0" destOrd="0" presId="urn:microsoft.com/office/officeart/2008/layout/LinedList"/>
    <dgm:cxn modelId="{DEE49AED-66BC-4A12-A00B-9EEE06CA8DE4}" srcId="{16928ACA-2688-4187-A056-F87AE73CF130}" destId="{83883367-9E93-46EA-B3F1-D55BCA30C721}" srcOrd="0" destOrd="0" parTransId="{8349D712-8D25-4357-92C3-4E6A7E573849}" sibTransId="{11999433-2413-4654-BA06-B5849283D7CD}"/>
    <dgm:cxn modelId="{AB9D7783-A8D4-4A98-9FF3-6FB400C8B944}" type="presParOf" srcId="{E3495BEA-7EB3-44BD-94FA-3E5C8C110007}" destId="{1D5BD4E5-1BA3-4F7E-8FE9-33F85485E991}" srcOrd="0" destOrd="0" presId="urn:microsoft.com/office/officeart/2008/layout/LinedList"/>
    <dgm:cxn modelId="{02A86114-4D9F-422E-A1FD-C8B3350C0772}" type="presParOf" srcId="{E3495BEA-7EB3-44BD-94FA-3E5C8C110007}" destId="{1C7107C0-E4A5-4D85-AD8C-2A62CD5147D7}" srcOrd="1" destOrd="0" presId="urn:microsoft.com/office/officeart/2008/layout/LinedList"/>
    <dgm:cxn modelId="{F2586144-85D6-448B-94B7-590D24F0A237}" type="presParOf" srcId="{1C7107C0-E4A5-4D85-AD8C-2A62CD5147D7}" destId="{2DC0909B-D946-49B6-B3E4-CCFA354B673D}" srcOrd="0" destOrd="0" presId="urn:microsoft.com/office/officeart/2008/layout/LinedList"/>
    <dgm:cxn modelId="{CCBF8858-EC2F-451E-B40B-1F5515CD1A5A}" type="presParOf" srcId="{1C7107C0-E4A5-4D85-AD8C-2A62CD5147D7}" destId="{50105306-5139-4118-81FA-968855CD9CD6}" srcOrd="1" destOrd="0" presId="urn:microsoft.com/office/officeart/2008/layout/LinedList"/>
    <dgm:cxn modelId="{2EE071C5-29FD-4E78-9AD7-03177F474F62}" type="presParOf" srcId="{E3495BEA-7EB3-44BD-94FA-3E5C8C110007}" destId="{FBE8B023-D52A-448F-8300-17CB34185840}" srcOrd="2" destOrd="0" presId="urn:microsoft.com/office/officeart/2008/layout/LinedList"/>
    <dgm:cxn modelId="{426F638A-721F-4910-8290-E1ECC2A7F5D7}" type="presParOf" srcId="{E3495BEA-7EB3-44BD-94FA-3E5C8C110007}" destId="{F70DFBFA-5406-4C2C-9695-B4AD04A3D33C}" srcOrd="3" destOrd="0" presId="urn:microsoft.com/office/officeart/2008/layout/LinedList"/>
    <dgm:cxn modelId="{66B99602-6428-49F8-AC05-6AA663137A7C}" type="presParOf" srcId="{F70DFBFA-5406-4C2C-9695-B4AD04A3D33C}" destId="{1594BE68-74D1-4A71-9079-A56FC2A4EB27}" srcOrd="0" destOrd="0" presId="urn:microsoft.com/office/officeart/2008/layout/LinedList"/>
    <dgm:cxn modelId="{BB671D8A-44D2-426D-A3E6-C64AD182A7D0}" type="presParOf" srcId="{F70DFBFA-5406-4C2C-9695-B4AD04A3D33C}" destId="{1B2BAD8A-7453-40C2-8259-C2A58E3A7A8F}" srcOrd="1" destOrd="0" presId="urn:microsoft.com/office/officeart/2008/layout/LinedList"/>
    <dgm:cxn modelId="{C249FBD1-FB08-4318-BCF4-64666E93B538}" type="presParOf" srcId="{E3495BEA-7EB3-44BD-94FA-3E5C8C110007}" destId="{D9AF9126-106B-40B4-9E7A-8004995A355C}" srcOrd="4" destOrd="0" presId="urn:microsoft.com/office/officeart/2008/layout/LinedList"/>
    <dgm:cxn modelId="{E537B3B6-AC1A-4159-A61C-3F472144A336}" type="presParOf" srcId="{E3495BEA-7EB3-44BD-94FA-3E5C8C110007}" destId="{B35B9F23-84F2-4A34-AD18-1D069203EED3}" srcOrd="5" destOrd="0" presId="urn:microsoft.com/office/officeart/2008/layout/LinedList"/>
    <dgm:cxn modelId="{DE3A348E-EF61-4358-8565-92AB121F1169}" type="presParOf" srcId="{B35B9F23-84F2-4A34-AD18-1D069203EED3}" destId="{EEDD226D-20C6-4808-A681-468C9AFE89FA}" srcOrd="0" destOrd="0" presId="urn:microsoft.com/office/officeart/2008/layout/LinedList"/>
    <dgm:cxn modelId="{1D107C07-097B-40A2-A496-075CA19E0318}" type="presParOf" srcId="{B35B9F23-84F2-4A34-AD18-1D069203EED3}" destId="{2A8819C3-9A08-4EEF-9A15-635B12D9B0E3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7A652BD-D9CE-4D68-A397-945FED5E8385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4B43281E-93C2-46CD-B3B0-02056DC3C89C}">
      <dgm:prSet custT="1"/>
      <dgm:spPr/>
      <dgm:t>
        <a:bodyPr/>
        <a:lstStyle/>
        <a:p>
          <a:pPr algn="just"/>
          <a:r>
            <a:rPr lang="zh-TW" sz="2000" b="1" i="0" baseline="0" dirty="0"/>
            <a:t>提取有效指紋</a:t>
          </a:r>
          <a:r>
            <a:rPr lang="zh-TW" sz="2000" b="0" i="0" baseline="0" dirty="0"/>
            <a:t>：在不解密的情況下，提取 HTTP/3 加密流量的有效特徵</a:t>
          </a:r>
          <a:r>
            <a:rPr lang="zh-TW" altLang="en-US" sz="2000" b="0" i="0" baseline="0" dirty="0"/>
            <a:t> </a:t>
          </a:r>
          <a:r>
            <a:rPr lang="en-US" altLang="zh-TW" sz="2000" b="0" i="0" baseline="0" dirty="0"/>
            <a:t>(</a:t>
          </a:r>
          <a:r>
            <a:rPr lang="zh-TW" sz="2000" b="0" i="0" baseline="0" dirty="0"/>
            <a:t>如封包長度、到達時間間隔</a:t>
          </a:r>
          <a:r>
            <a:rPr lang="en-US" altLang="zh-TW" sz="2000" b="0" i="0" baseline="0" dirty="0"/>
            <a:t>)</a:t>
          </a:r>
          <a:r>
            <a:rPr lang="zh-TW" sz="2000" b="0" i="0" baseline="0" dirty="0"/>
            <a:t>。</a:t>
          </a:r>
          <a:endParaRPr lang="en-US" sz="2000" dirty="0"/>
        </a:p>
      </dgm:t>
    </dgm:pt>
    <dgm:pt modelId="{10F1FD50-69FC-4540-BF9C-0E599EDF68F8}" type="parTrans" cxnId="{4DA1BB81-7A13-429E-A532-6443EC805918}">
      <dgm:prSet/>
      <dgm:spPr/>
      <dgm:t>
        <a:bodyPr/>
        <a:lstStyle/>
        <a:p>
          <a:endParaRPr lang="en-US" sz="1400"/>
        </a:p>
      </dgm:t>
    </dgm:pt>
    <dgm:pt modelId="{1FEAECF5-6BBE-46D5-941B-47F72BE9B4E9}" type="sibTrans" cxnId="{4DA1BB81-7A13-429E-A532-6443EC805918}">
      <dgm:prSet/>
      <dgm:spPr/>
      <dgm:t>
        <a:bodyPr/>
        <a:lstStyle/>
        <a:p>
          <a:endParaRPr lang="en-US" sz="1400"/>
        </a:p>
      </dgm:t>
    </dgm:pt>
    <dgm:pt modelId="{D9F2950B-B199-4860-819B-564755821A80}">
      <dgm:prSet custT="1"/>
      <dgm:spPr/>
      <dgm:t>
        <a:bodyPr/>
        <a:lstStyle/>
        <a:p>
          <a:pPr algn="just"/>
          <a:r>
            <a:rPr lang="zh-TW" sz="2000" b="1" i="0" baseline="0" dirty="0"/>
            <a:t>非監督式學習防禦未知威脅</a:t>
          </a:r>
          <a:r>
            <a:rPr lang="zh-TW" sz="2000" b="0" i="0" baseline="0" dirty="0"/>
            <a:t>：在缺乏惡意標記數據的環境下，利用深度學習進行非監督式學習，實現對零時差攻擊的偵測。</a:t>
          </a:r>
          <a:endParaRPr lang="en-US" sz="2000" dirty="0"/>
        </a:p>
      </dgm:t>
    </dgm:pt>
    <dgm:pt modelId="{10254A03-DB04-4762-8365-A2DB3B819766}" type="parTrans" cxnId="{FF6561F0-3BFA-4CA8-B692-242F4985D1DC}">
      <dgm:prSet/>
      <dgm:spPr/>
      <dgm:t>
        <a:bodyPr/>
        <a:lstStyle/>
        <a:p>
          <a:endParaRPr lang="en-US" sz="1400"/>
        </a:p>
      </dgm:t>
    </dgm:pt>
    <dgm:pt modelId="{DF5F2C4D-0F3D-4B04-A94F-27A04F92A335}" type="sibTrans" cxnId="{FF6561F0-3BFA-4CA8-B692-242F4985D1DC}">
      <dgm:prSet/>
      <dgm:spPr/>
      <dgm:t>
        <a:bodyPr/>
        <a:lstStyle/>
        <a:p>
          <a:endParaRPr lang="en-US" sz="1400"/>
        </a:p>
      </dgm:t>
    </dgm:pt>
    <dgm:pt modelId="{6AF35E4E-7F75-44C8-AB89-517C38AF8DA7}">
      <dgm:prSet custT="1"/>
      <dgm:spPr/>
      <dgm:t>
        <a:bodyPr/>
        <a:lstStyle/>
        <a:p>
          <a:pPr algn="just"/>
          <a:r>
            <a:rPr lang="zh-TW" sz="2000" b="1" i="0" baseline="0" dirty="0"/>
            <a:t>情資與自動化閉環</a:t>
          </a:r>
          <a:r>
            <a:rPr lang="zh-TW" sz="2000" b="0" i="0" baseline="0" dirty="0"/>
            <a:t>：整合 MISP 威脅情資平台與</a:t>
          </a:r>
          <a:r>
            <a:rPr lang="zh-TW" sz="2000" dirty="0"/>
            <a:t>資安協作自動化應變</a:t>
          </a:r>
          <a:r>
            <a:rPr lang="en-US" sz="2000" dirty="0"/>
            <a:t> (SOAR)</a:t>
          </a:r>
          <a:r>
            <a:rPr lang="zh-TW" altLang="en-US" sz="2000" dirty="0"/>
            <a:t> </a:t>
          </a:r>
          <a:r>
            <a:rPr lang="zh-TW" sz="2000" b="0" i="0" baseline="0" dirty="0"/>
            <a:t>機制，實現異常自動化回應。</a:t>
          </a:r>
          <a:endParaRPr lang="en-US" sz="2000" dirty="0"/>
        </a:p>
      </dgm:t>
    </dgm:pt>
    <dgm:pt modelId="{EDEDEB85-2E9E-4353-86AD-BEEE0626CC99}" type="parTrans" cxnId="{53DCE50D-D08C-4456-A857-08B1F2287A97}">
      <dgm:prSet/>
      <dgm:spPr/>
      <dgm:t>
        <a:bodyPr/>
        <a:lstStyle/>
        <a:p>
          <a:endParaRPr lang="en-US" sz="1400"/>
        </a:p>
      </dgm:t>
    </dgm:pt>
    <dgm:pt modelId="{FD897446-1626-45AC-8F21-EE600AA43EC5}" type="sibTrans" cxnId="{53DCE50D-D08C-4456-A857-08B1F2287A97}">
      <dgm:prSet/>
      <dgm:spPr/>
      <dgm:t>
        <a:bodyPr/>
        <a:lstStyle/>
        <a:p>
          <a:endParaRPr lang="en-US" sz="1400"/>
        </a:p>
      </dgm:t>
    </dgm:pt>
    <dgm:pt modelId="{E81D440D-8AC7-42AB-B910-E5728A1694DF}" type="pres">
      <dgm:prSet presAssocID="{77A652BD-D9CE-4D68-A397-945FED5E8385}" presName="root" presStyleCnt="0">
        <dgm:presLayoutVars>
          <dgm:dir/>
          <dgm:resizeHandles val="exact"/>
        </dgm:presLayoutVars>
      </dgm:prSet>
      <dgm:spPr/>
    </dgm:pt>
    <dgm:pt modelId="{01D373F8-E253-43F9-BEC0-CBCD6FC930A4}" type="pres">
      <dgm:prSet presAssocID="{4B43281E-93C2-46CD-B3B0-02056DC3C89C}" presName="compNode" presStyleCnt="0"/>
      <dgm:spPr/>
    </dgm:pt>
    <dgm:pt modelId="{57722572-0515-4ACE-930E-426A0CEE5BC1}" type="pres">
      <dgm:prSet presAssocID="{4B43281E-93C2-46CD-B3B0-02056DC3C89C}" presName="bgRect" presStyleLbl="bgShp" presStyleIdx="0" presStyleCnt="3" custLinFactNeighborX="-2465" custLinFactNeighborY="-2766"/>
      <dgm:spPr/>
    </dgm:pt>
    <dgm:pt modelId="{734D1439-FEC6-4416-A5FD-0E72B6462510}" type="pres">
      <dgm:prSet presAssocID="{4B43281E-93C2-46CD-B3B0-02056DC3C89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程式設計師"/>
        </a:ext>
      </dgm:extLst>
    </dgm:pt>
    <dgm:pt modelId="{4F7F272C-5B60-4A4D-8D0B-532502BF85EC}" type="pres">
      <dgm:prSet presAssocID="{4B43281E-93C2-46CD-B3B0-02056DC3C89C}" presName="spaceRect" presStyleCnt="0"/>
      <dgm:spPr/>
    </dgm:pt>
    <dgm:pt modelId="{3C000D28-0CD0-4397-84EE-AD2CBC718708}" type="pres">
      <dgm:prSet presAssocID="{4B43281E-93C2-46CD-B3B0-02056DC3C89C}" presName="parTx" presStyleLbl="revTx" presStyleIdx="0" presStyleCnt="3">
        <dgm:presLayoutVars>
          <dgm:chMax val="0"/>
          <dgm:chPref val="0"/>
        </dgm:presLayoutVars>
      </dgm:prSet>
      <dgm:spPr/>
    </dgm:pt>
    <dgm:pt modelId="{D1EAC610-FF72-4F69-AFDD-02AE3A449F40}" type="pres">
      <dgm:prSet presAssocID="{1FEAECF5-6BBE-46D5-941B-47F72BE9B4E9}" presName="sibTrans" presStyleCnt="0"/>
      <dgm:spPr/>
    </dgm:pt>
    <dgm:pt modelId="{A187CB96-682B-423F-91AC-D3439029DDC0}" type="pres">
      <dgm:prSet presAssocID="{D9F2950B-B199-4860-819B-564755821A80}" presName="compNode" presStyleCnt="0"/>
      <dgm:spPr/>
    </dgm:pt>
    <dgm:pt modelId="{D14CADD4-4F0C-40FD-9285-627EA6018DB1}" type="pres">
      <dgm:prSet presAssocID="{D9F2950B-B199-4860-819B-564755821A80}" presName="bgRect" presStyleLbl="bgShp" presStyleIdx="1" presStyleCnt="3"/>
      <dgm:spPr/>
    </dgm:pt>
    <dgm:pt modelId="{5E0DBD9E-6085-4A5C-8524-72460981F7B4}" type="pres">
      <dgm:prSet presAssocID="{D9F2950B-B199-4860-819B-564755821A80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字幕"/>
        </a:ext>
      </dgm:extLst>
    </dgm:pt>
    <dgm:pt modelId="{E79950DC-18B5-48EA-A2B0-E9D71450D808}" type="pres">
      <dgm:prSet presAssocID="{D9F2950B-B199-4860-819B-564755821A80}" presName="spaceRect" presStyleCnt="0"/>
      <dgm:spPr/>
    </dgm:pt>
    <dgm:pt modelId="{59D70CC6-6BEC-477C-9E82-351F5C1EFB53}" type="pres">
      <dgm:prSet presAssocID="{D9F2950B-B199-4860-819B-564755821A80}" presName="parTx" presStyleLbl="revTx" presStyleIdx="1" presStyleCnt="3">
        <dgm:presLayoutVars>
          <dgm:chMax val="0"/>
          <dgm:chPref val="0"/>
        </dgm:presLayoutVars>
      </dgm:prSet>
      <dgm:spPr/>
    </dgm:pt>
    <dgm:pt modelId="{9A4F9EDE-405F-45BE-AA97-05BA2A72DA84}" type="pres">
      <dgm:prSet presAssocID="{DF5F2C4D-0F3D-4B04-A94F-27A04F92A335}" presName="sibTrans" presStyleCnt="0"/>
      <dgm:spPr/>
    </dgm:pt>
    <dgm:pt modelId="{BE74606C-F039-4A05-9FAB-28F882F3A363}" type="pres">
      <dgm:prSet presAssocID="{6AF35E4E-7F75-44C8-AB89-517C38AF8DA7}" presName="compNode" presStyleCnt="0"/>
      <dgm:spPr/>
    </dgm:pt>
    <dgm:pt modelId="{678C9336-E14E-4917-8E85-901F65361DB1}" type="pres">
      <dgm:prSet presAssocID="{6AF35E4E-7F75-44C8-AB89-517C38AF8DA7}" presName="bgRect" presStyleLbl="bgShp" presStyleIdx="2" presStyleCnt="3"/>
      <dgm:spPr/>
    </dgm:pt>
    <dgm:pt modelId="{D1B3EE23-A117-4A9F-A6E8-AD79A9A92118}" type="pres">
      <dgm:prSet presAssocID="{6AF35E4E-7F75-44C8-AB89-517C38AF8DA7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rrow Circle"/>
        </a:ext>
      </dgm:extLst>
    </dgm:pt>
    <dgm:pt modelId="{EF0D1751-88BC-44D4-860F-DD4649EF34F9}" type="pres">
      <dgm:prSet presAssocID="{6AF35E4E-7F75-44C8-AB89-517C38AF8DA7}" presName="spaceRect" presStyleCnt="0"/>
      <dgm:spPr/>
    </dgm:pt>
    <dgm:pt modelId="{3352F786-B4B4-434D-B7DA-DC5C00BC76D7}" type="pres">
      <dgm:prSet presAssocID="{6AF35E4E-7F75-44C8-AB89-517C38AF8DA7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3DCE50D-D08C-4456-A857-08B1F2287A97}" srcId="{77A652BD-D9CE-4D68-A397-945FED5E8385}" destId="{6AF35E4E-7F75-44C8-AB89-517C38AF8DA7}" srcOrd="2" destOrd="0" parTransId="{EDEDEB85-2E9E-4353-86AD-BEEE0626CC99}" sibTransId="{FD897446-1626-45AC-8F21-EE600AA43EC5}"/>
    <dgm:cxn modelId="{E59DA978-821A-4593-879D-C5F7C52076AF}" type="presOf" srcId="{4B43281E-93C2-46CD-B3B0-02056DC3C89C}" destId="{3C000D28-0CD0-4397-84EE-AD2CBC718708}" srcOrd="0" destOrd="0" presId="urn:microsoft.com/office/officeart/2018/2/layout/IconVerticalSolidList"/>
    <dgm:cxn modelId="{4DA1BB81-7A13-429E-A532-6443EC805918}" srcId="{77A652BD-D9CE-4D68-A397-945FED5E8385}" destId="{4B43281E-93C2-46CD-B3B0-02056DC3C89C}" srcOrd="0" destOrd="0" parTransId="{10F1FD50-69FC-4540-BF9C-0E599EDF68F8}" sibTransId="{1FEAECF5-6BBE-46D5-941B-47F72BE9B4E9}"/>
    <dgm:cxn modelId="{73F17CA2-8CCD-431F-B8F5-90CC23EDE878}" type="presOf" srcId="{6AF35E4E-7F75-44C8-AB89-517C38AF8DA7}" destId="{3352F786-B4B4-434D-B7DA-DC5C00BC76D7}" srcOrd="0" destOrd="0" presId="urn:microsoft.com/office/officeart/2018/2/layout/IconVerticalSolidList"/>
    <dgm:cxn modelId="{2A76D7D4-D2BE-4AFA-BCDA-5C37D0554862}" type="presOf" srcId="{77A652BD-D9CE-4D68-A397-945FED5E8385}" destId="{E81D440D-8AC7-42AB-B910-E5728A1694DF}" srcOrd="0" destOrd="0" presId="urn:microsoft.com/office/officeart/2018/2/layout/IconVerticalSolidList"/>
    <dgm:cxn modelId="{FF6561F0-3BFA-4CA8-B692-242F4985D1DC}" srcId="{77A652BD-D9CE-4D68-A397-945FED5E8385}" destId="{D9F2950B-B199-4860-819B-564755821A80}" srcOrd="1" destOrd="0" parTransId="{10254A03-DB04-4762-8365-A2DB3B819766}" sibTransId="{DF5F2C4D-0F3D-4B04-A94F-27A04F92A335}"/>
    <dgm:cxn modelId="{CD5592F8-2255-49DA-9DF4-50FE5A45F13C}" type="presOf" srcId="{D9F2950B-B199-4860-819B-564755821A80}" destId="{59D70CC6-6BEC-477C-9E82-351F5C1EFB53}" srcOrd="0" destOrd="0" presId="urn:microsoft.com/office/officeart/2018/2/layout/IconVerticalSolidList"/>
    <dgm:cxn modelId="{3BA2E7CE-34E0-4E44-85BC-B738350953CC}" type="presParOf" srcId="{E81D440D-8AC7-42AB-B910-E5728A1694DF}" destId="{01D373F8-E253-43F9-BEC0-CBCD6FC930A4}" srcOrd="0" destOrd="0" presId="urn:microsoft.com/office/officeart/2018/2/layout/IconVerticalSolidList"/>
    <dgm:cxn modelId="{1A310553-D5E2-4BC1-99CA-4FEBA3E6D8F2}" type="presParOf" srcId="{01D373F8-E253-43F9-BEC0-CBCD6FC930A4}" destId="{57722572-0515-4ACE-930E-426A0CEE5BC1}" srcOrd="0" destOrd="0" presId="urn:microsoft.com/office/officeart/2018/2/layout/IconVerticalSolidList"/>
    <dgm:cxn modelId="{A01CA80C-DB37-4E09-93E4-21036A7ADC9C}" type="presParOf" srcId="{01D373F8-E253-43F9-BEC0-CBCD6FC930A4}" destId="{734D1439-FEC6-4416-A5FD-0E72B6462510}" srcOrd="1" destOrd="0" presId="urn:microsoft.com/office/officeart/2018/2/layout/IconVerticalSolidList"/>
    <dgm:cxn modelId="{C427170F-21A4-48B9-8D77-5156092B771F}" type="presParOf" srcId="{01D373F8-E253-43F9-BEC0-CBCD6FC930A4}" destId="{4F7F272C-5B60-4A4D-8D0B-532502BF85EC}" srcOrd="2" destOrd="0" presId="urn:microsoft.com/office/officeart/2018/2/layout/IconVerticalSolidList"/>
    <dgm:cxn modelId="{8520D1CA-CB6A-4587-AA0E-027818E5AA70}" type="presParOf" srcId="{01D373F8-E253-43F9-BEC0-CBCD6FC930A4}" destId="{3C000D28-0CD0-4397-84EE-AD2CBC718708}" srcOrd="3" destOrd="0" presId="urn:microsoft.com/office/officeart/2018/2/layout/IconVerticalSolidList"/>
    <dgm:cxn modelId="{D89E7BA1-D382-453D-982C-FC25F6E07CCE}" type="presParOf" srcId="{E81D440D-8AC7-42AB-B910-E5728A1694DF}" destId="{D1EAC610-FF72-4F69-AFDD-02AE3A449F40}" srcOrd="1" destOrd="0" presId="urn:microsoft.com/office/officeart/2018/2/layout/IconVerticalSolidList"/>
    <dgm:cxn modelId="{888F9B3D-2689-405B-A21D-869C6468D8C3}" type="presParOf" srcId="{E81D440D-8AC7-42AB-B910-E5728A1694DF}" destId="{A187CB96-682B-423F-91AC-D3439029DDC0}" srcOrd="2" destOrd="0" presId="urn:microsoft.com/office/officeart/2018/2/layout/IconVerticalSolidList"/>
    <dgm:cxn modelId="{10D84220-8D10-4EB6-A491-0828C125E12C}" type="presParOf" srcId="{A187CB96-682B-423F-91AC-D3439029DDC0}" destId="{D14CADD4-4F0C-40FD-9285-627EA6018DB1}" srcOrd="0" destOrd="0" presId="urn:microsoft.com/office/officeart/2018/2/layout/IconVerticalSolidList"/>
    <dgm:cxn modelId="{86F72331-BF2E-422A-98F8-56126E24076B}" type="presParOf" srcId="{A187CB96-682B-423F-91AC-D3439029DDC0}" destId="{5E0DBD9E-6085-4A5C-8524-72460981F7B4}" srcOrd="1" destOrd="0" presId="urn:microsoft.com/office/officeart/2018/2/layout/IconVerticalSolidList"/>
    <dgm:cxn modelId="{E345A762-F22C-463A-9B79-F51A80ADE07A}" type="presParOf" srcId="{A187CB96-682B-423F-91AC-D3439029DDC0}" destId="{E79950DC-18B5-48EA-A2B0-E9D71450D808}" srcOrd="2" destOrd="0" presId="urn:microsoft.com/office/officeart/2018/2/layout/IconVerticalSolidList"/>
    <dgm:cxn modelId="{399FCC9F-CC1F-48D3-A731-C2F5AAF32F4B}" type="presParOf" srcId="{A187CB96-682B-423F-91AC-D3439029DDC0}" destId="{59D70CC6-6BEC-477C-9E82-351F5C1EFB53}" srcOrd="3" destOrd="0" presId="urn:microsoft.com/office/officeart/2018/2/layout/IconVerticalSolidList"/>
    <dgm:cxn modelId="{E400E127-73C3-4E74-87BA-748193970185}" type="presParOf" srcId="{E81D440D-8AC7-42AB-B910-E5728A1694DF}" destId="{9A4F9EDE-405F-45BE-AA97-05BA2A72DA84}" srcOrd="3" destOrd="0" presId="urn:microsoft.com/office/officeart/2018/2/layout/IconVerticalSolidList"/>
    <dgm:cxn modelId="{E37FFA32-23C5-4452-8C2E-DF2F21CF4292}" type="presParOf" srcId="{E81D440D-8AC7-42AB-B910-E5728A1694DF}" destId="{BE74606C-F039-4A05-9FAB-28F882F3A363}" srcOrd="4" destOrd="0" presId="urn:microsoft.com/office/officeart/2018/2/layout/IconVerticalSolidList"/>
    <dgm:cxn modelId="{08DACA2F-410A-49D6-8861-95A0673A661B}" type="presParOf" srcId="{BE74606C-F039-4A05-9FAB-28F882F3A363}" destId="{678C9336-E14E-4917-8E85-901F65361DB1}" srcOrd="0" destOrd="0" presId="urn:microsoft.com/office/officeart/2018/2/layout/IconVerticalSolidList"/>
    <dgm:cxn modelId="{2BE0806A-37A3-4F4D-808F-4401C280E61C}" type="presParOf" srcId="{BE74606C-F039-4A05-9FAB-28F882F3A363}" destId="{D1B3EE23-A117-4A9F-A6E8-AD79A9A92118}" srcOrd="1" destOrd="0" presId="urn:microsoft.com/office/officeart/2018/2/layout/IconVerticalSolidList"/>
    <dgm:cxn modelId="{26EAD535-021B-4701-A32D-D82A71675A27}" type="presParOf" srcId="{BE74606C-F039-4A05-9FAB-28F882F3A363}" destId="{EF0D1751-88BC-44D4-860F-DD4649EF34F9}" srcOrd="2" destOrd="0" presId="urn:microsoft.com/office/officeart/2018/2/layout/IconVerticalSolidList"/>
    <dgm:cxn modelId="{13AE684E-51ED-4996-BED8-DAAC3B7A6B34}" type="presParOf" srcId="{BE74606C-F039-4A05-9FAB-28F882F3A363}" destId="{3352F786-B4B4-434D-B7DA-DC5C00BC76D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56C400-4925-48C1-9840-DCF43C150F09}">
      <dsp:nvSpPr>
        <dsp:cNvPr id="0" name=""/>
        <dsp:cNvSpPr/>
      </dsp:nvSpPr>
      <dsp:spPr>
        <a:xfrm>
          <a:off x="0" y="2296"/>
          <a:ext cx="7886700" cy="128719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C76697F-96B5-4565-ACCA-EB872D912BE0}">
      <dsp:nvSpPr>
        <dsp:cNvPr id="0" name=""/>
        <dsp:cNvSpPr/>
      </dsp:nvSpPr>
      <dsp:spPr>
        <a:xfrm>
          <a:off x="389376" y="291915"/>
          <a:ext cx="708649" cy="7079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55D1D9-382F-4CB4-AF9F-A0CF6E492613}">
      <dsp:nvSpPr>
        <dsp:cNvPr id="0" name=""/>
        <dsp:cNvSpPr/>
      </dsp:nvSpPr>
      <dsp:spPr>
        <a:xfrm>
          <a:off x="1487401" y="2296"/>
          <a:ext cx="6261812" cy="12884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361" tIns="136361" rIns="136361" bIns="136361" numCol="1" spcCol="1270" anchor="ctr" anchorCtr="0">
          <a:noAutofit/>
        </a:bodyPr>
        <a:lstStyle/>
        <a:p>
          <a:pPr marL="0" lvl="0" indent="0" algn="just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000" b="1" i="0" kern="1200" baseline="0" dirty="0"/>
            <a:t>HTTP/3 帶來的防禦真空</a:t>
          </a:r>
          <a:r>
            <a:rPr lang="zh-TW" sz="2000" b="0" i="0" kern="1200" baseline="0" dirty="0"/>
            <a:t>：HTTP/3</a:t>
          </a:r>
          <a:r>
            <a:rPr lang="zh-TW" altLang="en-US" sz="2000" b="0" i="0" kern="1200" baseline="0" dirty="0"/>
            <a:t> </a:t>
          </a:r>
          <a:r>
            <a:rPr lang="en-US" altLang="zh-TW" sz="2000" b="0" i="0" kern="1200" baseline="0" dirty="0"/>
            <a:t>(</a:t>
          </a:r>
          <a:r>
            <a:rPr lang="zh-TW" sz="2000" b="0" i="0" kern="1200" baseline="0" dirty="0"/>
            <a:t>基於 QUIC 協定</a:t>
          </a:r>
          <a:r>
            <a:rPr lang="en-US" altLang="zh-TW" sz="2000" b="0" i="0" kern="1200" baseline="0" dirty="0"/>
            <a:t>)</a:t>
          </a:r>
          <a:r>
            <a:rPr lang="zh-TW" altLang="en-US" sz="2000" b="0" i="0" kern="1200" baseline="0" dirty="0"/>
            <a:t> </a:t>
          </a:r>
          <a:r>
            <a:rPr lang="zh-TW" sz="2000" b="0" i="0" kern="1200" baseline="0" dirty="0"/>
            <a:t>已成為新世代傳輸標準，但其基於 UDP 且強制 TLS 1.3 加密的特性，導致傳統基於特徵碼 (Signature-based) 與深度封包檢測 (DPI) 的防火牆完全失效。</a:t>
          </a:r>
          <a:endParaRPr lang="en-US" sz="2000" kern="1200" dirty="0"/>
        </a:p>
      </dsp:txBody>
      <dsp:txXfrm>
        <a:off x="1487401" y="2296"/>
        <a:ext cx="6261812" cy="1288452"/>
      </dsp:txXfrm>
    </dsp:sp>
    <dsp:sp modelId="{099F117A-EFF2-47E2-B118-157F252005C8}">
      <dsp:nvSpPr>
        <dsp:cNvPr id="0" name=""/>
        <dsp:cNvSpPr/>
      </dsp:nvSpPr>
      <dsp:spPr>
        <a:xfrm>
          <a:off x="0" y="1569334"/>
          <a:ext cx="7886700" cy="128719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AEADB4B-EA05-463D-9A98-177504B06BC0}">
      <dsp:nvSpPr>
        <dsp:cNvPr id="0" name=""/>
        <dsp:cNvSpPr/>
      </dsp:nvSpPr>
      <dsp:spPr>
        <a:xfrm>
          <a:off x="389376" y="1858952"/>
          <a:ext cx="708649" cy="7079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6CB3C1-33E1-4A3C-9A98-2DFEE9160545}">
      <dsp:nvSpPr>
        <dsp:cNvPr id="0" name=""/>
        <dsp:cNvSpPr/>
      </dsp:nvSpPr>
      <dsp:spPr>
        <a:xfrm>
          <a:off x="1487401" y="1569334"/>
          <a:ext cx="6261812" cy="12884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361" tIns="136361" rIns="136361" bIns="136361" numCol="1" spcCol="1270" anchor="ctr" anchorCtr="0">
          <a:noAutofit/>
        </a:bodyPr>
        <a:lstStyle/>
        <a:p>
          <a:pPr marL="0" lvl="0" indent="0" algn="just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000" b="1" i="0" kern="1200" baseline="0" dirty="0"/>
            <a:t>對抗式規避技術 (Adversarial Evasion)</a:t>
          </a:r>
          <a:r>
            <a:rPr lang="zh-TW" sz="2000" b="0" i="0" kern="1200" baseline="0" dirty="0"/>
            <a:t>：惡意攻擊者透過封包切割、時序干擾等手法偽裝成正常流量，改變統計特徵以騙過傳統模型。</a:t>
          </a:r>
          <a:endParaRPr lang="en-US" sz="2000" kern="1200" dirty="0"/>
        </a:p>
      </dsp:txBody>
      <dsp:txXfrm>
        <a:off x="1487401" y="1569334"/>
        <a:ext cx="6261812" cy="1288452"/>
      </dsp:txXfrm>
    </dsp:sp>
    <dsp:sp modelId="{9830C586-1C1E-4837-9248-3C1172C75E59}">
      <dsp:nvSpPr>
        <dsp:cNvPr id="0" name=""/>
        <dsp:cNvSpPr/>
      </dsp:nvSpPr>
      <dsp:spPr>
        <a:xfrm>
          <a:off x="0" y="3136371"/>
          <a:ext cx="7886700" cy="128719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E49C2E-C8DB-45F0-BEDC-44ECA06533AE}">
      <dsp:nvSpPr>
        <dsp:cNvPr id="0" name=""/>
        <dsp:cNvSpPr/>
      </dsp:nvSpPr>
      <dsp:spPr>
        <a:xfrm>
          <a:off x="389376" y="3425990"/>
          <a:ext cx="708649" cy="7079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B1E1CB-63EC-4057-B345-3774A4530389}">
      <dsp:nvSpPr>
        <dsp:cNvPr id="0" name=""/>
        <dsp:cNvSpPr/>
      </dsp:nvSpPr>
      <dsp:spPr>
        <a:xfrm>
          <a:off x="1487401" y="3136371"/>
          <a:ext cx="6261812" cy="12884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361" tIns="136361" rIns="136361" bIns="136361" numCol="1" spcCol="1270" anchor="ctr" anchorCtr="0">
          <a:noAutofit/>
        </a:bodyPr>
        <a:lstStyle/>
        <a:p>
          <a:pPr marL="0" lvl="0" indent="0" algn="just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000" b="1" i="0" kern="1200" baseline="0" dirty="0"/>
            <a:t>標記成本與告警疲勞</a:t>
          </a:r>
          <a:r>
            <a:rPr lang="zh-TW" sz="2000" b="0" i="0" kern="1200" baseline="0" dirty="0"/>
            <a:t>：真實網路環境中攻擊手法變幻莫測，要蒐集並標記大量的最新攻擊樣本是不切實際的。面對層出不窮的警告，資安人員往往面臨告警疲勞。</a:t>
          </a:r>
          <a:endParaRPr lang="en-US" sz="2000" kern="1200" dirty="0"/>
        </a:p>
      </dsp:txBody>
      <dsp:txXfrm>
        <a:off x="1487401" y="3136371"/>
        <a:ext cx="6261812" cy="128845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5BD4E5-1BA3-4F7E-8FE9-33F85485E991}">
      <dsp:nvSpPr>
        <dsp:cNvPr id="0" name=""/>
        <dsp:cNvSpPr/>
      </dsp:nvSpPr>
      <dsp:spPr>
        <a:xfrm>
          <a:off x="0" y="2394"/>
          <a:ext cx="7886700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DC0909B-D946-49B6-B3E4-CCFA354B673D}">
      <dsp:nvSpPr>
        <dsp:cNvPr id="0" name=""/>
        <dsp:cNvSpPr/>
      </dsp:nvSpPr>
      <dsp:spPr>
        <a:xfrm>
          <a:off x="0" y="2394"/>
          <a:ext cx="7886700" cy="16332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just" defTabSz="889000">
            <a:lnSpc>
              <a:spcPts val="3000"/>
            </a:lnSpc>
            <a:spcBef>
              <a:spcPts val="1000"/>
            </a:spcBef>
            <a:spcAft>
              <a:spcPct val="35000"/>
            </a:spcAft>
            <a:buNone/>
          </a:pPr>
          <a:r>
            <a:rPr lang="zh-TW" sz="2000" b="1" i="0" kern="1200" baseline="0" dirty="0"/>
            <a:t>機器學習驅動的加密網路流量分析</a:t>
          </a:r>
          <a:r>
            <a:rPr lang="zh-TW" sz="2000" b="0" i="0" kern="1200" baseline="0" dirty="0"/>
            <a:t>：現有技術能在不解密的情況下，透過提取流量的統計特徵</a:t>
          </a:r>
          <a:r>
            <a:rPr lang="en-US" altLang="zh-TW" sz="2000" b="0" i="0" kern="1200" baseline="0" dirty="0"/>
            <a:t> (</a:t>
          </a:r>
          <a:r>
            <a:rPr lang="zh-TW" sz="2000" b="0" i="0" kern="1200" baseline="0" dirty="0"/>
            <a:t>如封包長度、時間間隔</a:t>
          </a:r>
          <a:r>
            <a:rPr lang="en-US" altLang="zh-TW" sz="2000" b="0" i="0" kern="1200" baseline="0" dirty="0"/>
            <a:t>) </a:t>
          </a:r>
          <a:r>
            <a:rPr lang="zh-TW" sz="2000" b="0" i="0" kern="1200" baseline="0" dirty="0"/>
            <a:t>或行為模式來識別流量屬性。然而，過度依賴握手階段的特徵</a:t>
          </a:r>
          <a:r>
            <a:rPr lang="zh-TW" altLang="en-US" sz="2000" b="0" i="0" kern="1200" baseline="0" dirty="0"/>
            <a:t> </a:t>
          </a:r>
          <a:r>
            <a:rPr lang="en-US" altLang="zh-TW" sz="2000" b="0" i="0" kern="1200" baseline="0" dirty="0"/>
            <a:t>(</a:t>
          </a:r>
          <a:r>
            <a:rPr lang="zh-TW" sz="2000" b="0" i="0" kern="1200" baseline="0" dirty="0"/>
            <a:t>如憑證資料大小</a:t>
          </a:r>
          <a:r>
            <a:rPr lang="en-US" altLang="zh-TW" sz="2000" b="0" i="0" kern="1200" baseline="0" dirty="0"/>
            <a:t>) </a:t>
          </a:r>
          <a:r>
            <a:rPr lang="zh-TW" sz="2000" b="0" i="0" kern="1200" baseline="0" dirty="0"/>
            <a:t>可能導致模型在真實環境中快速失效。</a:t>
          </a:r>
          <a:endParaRPr lang="en-US" sz="2000" kern="1200" dirty="0"/>
        </a:p>
      </dsp:txBody>
      <dsp:txXfrm>
        <a:off x="0" y="2394"/>
        <a:ext cx="7886700" cy="1633239"/>
      </dsp:txXfrm>
    </dsp:sp>
    <dsp:sp modelId="{FBE8B023-D52A-448F-8300-17CB34185840}">
      <dsp:nvSpPr>
        <dsp:cNvPr id="0" name=""/>
        <dsp:cNvSpPr/>
      </dsp:nvSpPr>
      <dsp:spPr>
        <a:xfrm>
          <a:off x="0" y="1635634"/>
          <a:ext cx="7886700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594BE68-74D1-4A71-9079-A56FC2A4EB27}">
      <dsp:nvSpPr>
        <dsp:cNvPr id="0" name=""/>
        <dsp:cNvSpPr/>
      </dsp:nvSpPr>
      <dsp:spPr>
        <a:xfrm>
          <a:off x="0" y="1635634"/>
          <a:ext cx="7886700" cy="16332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just" defTabSz="889000">
            <a:lnSpc>
              <a:spcPts val="3000"/>
            </a:lnSpc>
            <a:spcBef>
              <a:spcPts val="1000"/>
            </a:spcBef>
            <a:spcAft>
              <a:spcPct val="35000"/>
            </a:spcAft>
            <a:buNone/>
          </a:pPr>
          <a:r>
            <a:rPr lang="zh-TW" sz="2000" b="1" i="0" kern="1200" baseline="0" dirty="0"/>
            <a:t>非監督式學習與生成對抗網路 (GAN) 的應用</a:t>
          </a:r>
          <a:r>
            <a:rPr lang="zh-TW" sz="2000" b="0" i="0" kern="1200" baseline="0" dirty="0"/>
            <a:t>：傳統異常偵測高度依賴先驗知識，而 GAN 等非監督式深度學習模型透過引入少量惡意樣本進行弱監督學習，或採用自編碼器 (Autoencoder) 架構，能有效縮短訓練時間並提升對未知攻擊的偵測能力。</a:t>
          </a:r>
          <a:endParaRPr lang="en-US" sz="2000" kern="1200" dirty="0"/>
        </a:p>
      </dsp:txBody>
      <dsp:txXfrm>
        <a:off x="0" y="1635634"/>
        <a:ext cx="7886700" cy="1633239"/>
      </dsp:txXfrm>
    </dsp:sp>
    <dsp:sp modelId="{D9AF9126-106B-40B4-9E7A-8004995A355C}">
      <dsp:nvSpPr>
        <dsp:cNvPr id="0" name=""/>
        <dsp:cNvSpPr/>
      </dsp:nvSpPr>
      <dsp:spPr>
        <a:xfrm>
          <a:off x="0" y="3268874"/>
          <a:ext cx="7886700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EDD226D-20C6-4808-A681-468C9AFE89FA}">
      <dsp:nvSpPr>
        <dsp:cNvPr id="0" name=""/>
        <dsp:cNvSpPr/>
      </dsp:nvSpPr>
      <dsp:spPr>
        <a:xfrm>
          <a:off x="0" y="3268874"/>
          <a:ext cx="7886700" cy="16332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just" defTabSz="889000">
            <a:lnSpc>
              <a:spcPts val="3000"/>
            </a:lnSpc>
            <a:spcBef>
              <a:spcPts val="1000"/>
            </a:spcBef>
            <a:spcAft>
              <a:spcPct val="35000"/>
            </a:spcAft>
            <a:buNone/>
          </a:pPr>
          <a:r>
            <a:rPr lang="zh-TW" sz="2000" b="1" i="0" kern="1200" baseline="0" dirty="0"/>
            <a:t>SOAR 與人工智慧的整合</a:t>
          </a:r>
          <a:r>
            <a:rPr lang="zh-TW" sz="2000" b="0" i="0" kern="1200" baseline="0" dirty="0"/>
            <a:t>：安全維運中心 (SOC) 導入 SOAR 平台能自動化執行重複性任務，有效釋放分析師的時間。整合 AI 後，模型能分析大量數據以識別微小的異常行為，並針對低風險威脅自動執行處置，顯著縮短平均回應時間 (MTTR)。</a:t>
          </a:r>
          <a:endParaRPr lang="en-US" sz="2000" kern="1200" dirty="0"/>
        </a:p>
      </dsp:txBody>
      <dsp:txXfrm>
        <a:off x="0" y="3268874"/>
        <a:ext cx="7886700" cy="163323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722572-0515-4ACE-930E-426A0CEE5BC1}">
      <dsp:nvSpPr>
        <dsp:cNvPr id="0" name=""/>
        <dsp:cNvSpPr/>
      </dsp:nvSpPr>
      <dsp:spPr>
        <a:xfrm>
          <a:off x="0" y="0"/>
          <a:ext cx="8219209" cy="892577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4D1439-FEC6-4416-A5FD-0E72B6462510}">
      <dsp:nvSpPr>
        <dsp:cNvPr id="0" name=""/>
        <dsp:cNvSpPr/>
      </dsp:nvSpPr>
      <dsp:spPr>
        <a:xfrm>
          <a:off x="270004" y="201211"/>
          <a:ext cx="490917" cy="49091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000D28-0CD0-4397-84EE-AD2CBC718708}">
      <dsp:nvSpPr>
        <dsp:cNvPr id="0" name=""/>
        <dsp:cNvSpPr/>
      </dsp:nvSpPr>
      <dsp:spPr>
        <a:xfrm>
          <a:off x="1030927" y="381"/>
          <a:ext cx="7188281" cy="8925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4464" tIns="94464" rIns="94464" bIns="94464" numCol="1" spcCol="1270" anchor="ctr" anchorCtr="0">
          <a:noAutofit/>
        </a:bodyPr>
        <a:lstStyle/>
        <a:p>
          <a:pPr marL="0" lvl="0" indent="0" algn="just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000" b="1" i="0" kern="1200" baseline="0" dirty="0"/>
            <a:t>提取有效指紋</a:t>
          </a:r>
          <a:r>
            <a:rPr lang="zh-TW" sz="2000" b="0" i="0" kern="1200" baseline="0" dirty="0"/>
            <a:t>：在不解密的情況下，提取 HTTP/3 加密流量的有效特徵</a:t>
          </a:r>
          <a:r>
            <a:rPr lang="zh-TW" altLang="en-US" sz="2000" b="0" i="0" kern="1200" baseline="0" dirty="0"/>
            <a:t> </a:t>
          </a:r>
          <a:r>
            <a:rPr lang="en-US" altLang="zh-TW" sz="2000" b="0" i="0" kern="1200" baseline="0" dirty="0"/>
            <a:t>(</a:t>
          </a:r>
          <a:r>
            <a:rPr lang="zh-TW" sz="2000" b="0" i="0" kern="1200" baseline="0" dirty="0"/>
            <a:t>如封包長度、到達時間間隔</a:t>
          </a:r>
          <a:r>
            <a:rPr lang="en-US" altLang="zh-TW" sz="2000" b="0" i="0" kern="1200" baseline="0" dirty="0"/>
            <a:t>)</a:t>
          </a:r>
          <a:r>
            <a:rPr lang="zh-TW" sz="2000" b="0" i="0" kern="1200" baseline="0" dirty="0"/>
            <a:t>。</a:t>
          </a:r>
          <a:endParaRPr lang="en-US" sz="2000" kern="1200" dirty="0"/>
        </a:p>
      </dsp:txBody>
      <dsp:txXfrm>
        <a:off x="1030927" y="381"/>
        <a:ext cx="7188281" cy="892577"/>
      </dsp:txXfrm>
    </dsp:sp>
    <dsp:sp modelId="{D14CADD4-4F0C-40FD-9285-627EA6018DB1}">
      <dsp:nvSpPr>
        <dsp:cNvPr id="0" name=""/>
        <dsp:cNvSpPr/>
      </dsp:nvSpPr>
      <dsp:spPr>
        <a:xfrm>
          <a:off x="0" y="1116103"/>
          <a:ext cx="8219209" cy="892577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0DBD9E-6085-4A5C-8524-72460981F7B4}">
      <dsp:nvSpPr>
        <dsp:cNvPr id="0" name=""/>
        <dsp:cNvSpPr/>
      </dsp:nvSpPr>
      <dsp:spPr>
        <a:xfrm>
          <a:off x="270004" y="1316933"/>
          <a:ext cx="490917" cy="49091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D70CC6-6BEC-477C-9E82-351F5C1EFB53}">
      <dsp:nvSpPr>
        <dsp:cNvPr id="0" name=""/>
        <dsp:cNvSpPr/>
      </dsp:nvSpPr>
      <dsp:spPr>
        <a:xfrm>
          <a:off x="1030927" y="1116103"/>
          <a:ext cx="7188281" cy="8925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4464" tIns="94464" rIns="94464" bIns="94464" numCol="1" spcCol="1270" anchor="ctr" anchorCtr="0">
          <a:noAutofit/>
        </a:bodyPr>
        <a:lstStyle/>
        <a:p>
          <a:pPr marL="0" lvl="0" indent="0" algn="just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000" b="1" i="0" kern="1200" baseline="0" dirty="0"/>
            <a:t>非監督式學習防禦未知威脅</a:t>
          </a:r>
          <a:r>
            <a:rPr lang="zh-TW" sz="2000" b="0" i="0" kern="1200" baseline="0" dirty="0"/>
            <a:t>：在缺乏惡意標記數據的環境下，利用深度學習進行非監督式學習，實現對零時差攻擊的偵測。</a:t>
          </a:r>
          <a:endParaRPr lang="en-US" sz="2000" kern="1200" dirty="0"/>
        </a:p>
      </dsp:txBody>
      <dsp:txXfrm>
        <a:off x="1030927" y="1116103"/>
        <a:ext cx="7188281" cy="892577"/>
      </dsp:txXfrm>
    </dsp:sp>
    <dsp:sp modelId="{678C9336-E14E-4917-8E85-901F65361DB1}">
      <dsp:nvSpPr>
        <dsp:cNvPr id="0" name=""/>
        <dsp:cNvSpPr/>
      </dsp:nvSpPr>
      <dsp:spPr>
        <a:xfrm>
          <a:off x="0" y="2231825"/>
          <a:ext cx="8219209" cy="892577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B3EE23-A117-4A9F-A6E8-AD79A9A92118}">
      <dsp:nvSpPr>
        <dsp:cNvPr id="0" name=""/>
        <dsp:cNvSpPr/>
      </dsp:nvSpPr>
      <dsp:spPr>
        <a:xfrm>
          <a:off x="270004" y="2432655"/>
          <a:ext cx="490917" cy="49091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352F786-B4B4-434D-B7DA-DC5C00BC76D7}">
      <dsp:nvSpPr>
        <dsp:cNvPr id="0" name=""/>
        <dsp:cNvSpPr/>
      </dsp:nvSpPr>
      <dsp:spPr>
        <a:xfrm>
          <a:off x="1030927" y="2231825"/>
          <a:ext cx="7188281" cy="8925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4464" tIns="94464" rIns="94464" bIns="94464" numCol="1" spcCol="1270" anchor="ctr" anchorCtr="0">
          <a:noAutofit/>
        </a:bodyPr>
        <a:lstStyle/>
        <a:p>
          <a:pPr marL="0" lvl="0" indent="0" algn="just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000" b="1" i="0" kern="1200" baseline="0" dirty="0"/>
            <a:t>情資與自動化閉環</a:t>
          </a:r>
          <a:r>
            <a:rPr lang="zh-TW" sz="2000" b="0" i="0" kern="1200" baseline="0" dirty="0"/>
            <a:t>：整合 MISP 威脅情資平台與</a:t>
          </a:r>
          <a:r>
            <a:rPr lang="zh-TW" sz="2000" kern="1200" dirty="0"/>
            <a:t>資安協作自動化應變</a:t>
          </a:r>
          <a:r>
            <a:rPr lang="en-US" sz="2000" kern="1200" dirty="0"/>
            <a:t> (SOAR)</a:t>
          </a:r>
          <a:r>
            <a:rPr lang="zh-TW" altLang="en-US" sz="2000" kern="1200" dirty="0"/>
            <a:t> </a:t>
          </a:r>
          <a:r>
            <a:rPr lang="zh-TW" sz="2000" b="0" i="0" kern="1200" baseline="0" dirty="0"/>
            <a:t>機制，實現異常自動化回應。</a:t>
          </a:r>
          <a:endParaRPr lang="en-US" sz="2000" kern="1200" dirty="0"/>
        </a:p>
      </dsp:txBody>
      <dsp:txXfrm>
        <a:off x="1030927" y="2231825"/>
        <a:ext cx="7188281" cy="89257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2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79484" y="2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76FB3A4-D5D4-495C-AAA0-94A56026E627}" type="datetime1">
              <a:rPr lang="zh-TW" altLang="en-US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2026/4/1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F9A36D-7FAC-478F-9944-F324014F6FD1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‹#›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endParaRPr lang="zh-TW" altLang="en-US" noProof="0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5179484" y="2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106E7358-DB18-48DD-91BC-D4D36CB91577}" type="datetime1">
              <a:rPr lang="zh-TW" altLang="en-US" noProof="0" smtClean="0"/>
              <a:t>2026/4/1</a:t>
            </a:fld>
            <a:endParaRPr lang="zh-TW" altLang="en-US" noProof="0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zh-TW" altLang="en-US" noProof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endParaRPr lang="zh-TW" altLang="en-US" noProof="0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4B9A9E5-4F7F-4A7D-9DE1-899232329269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028950" y="857250"/>
            <a:ext cx="3086100" cy="2314575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983024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altLang="zh-TW" noProof="0" smtClean="0"/>
              <a:pPr/>
              <a:t>2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38962857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altLang="zh-TW" noProof="0" smtClean="0"/>
              <a:pPr/>
              <a:t>3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6744091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altLang="zh-TW" noProof="0" smtClean="0"/>
              <a:pPr/>
              <a:t>4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33622140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altLang="zh-TW" noProof="0" smtClean="0"/>
              <a:pPr/>
              <a:t>5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5504064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altLang="zh-TW" noProof="0" smtClean="0"/>
              <a:pPr/>
              <a:t>6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61934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altLang="zh-TW" noProof="0" smtClean="0"/>
              <a:pPr/>
              <a:t>7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42645017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altLang="zh-TW" noProof="0" smtClean="0"/>
              <a:pPr/>
              <a:t>8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4533879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028950" y="857250"/>
            <a:ext cx="3086100" cy="2314575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altLang="zh-TW" noProof="0" smtClean="0"/>
              <a:pPr/>
              <a:t>9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38289618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altLang="zh-TW" noProof="0" smtClean="0"/>
              <a:pPr/>
              <a:t>10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38352846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altLang="zh-TW" noProof="0" smtClean="0"/>
              <a:pPr/>
              <a:t>11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31380181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altLang="zh-TW" noProof="0" smtClean="0"/>
              <a:pPr/>
              <a:t>12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9025188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12031" y="4434840"/>
            <a:ext cx="3706328" cy="1122202"/>
          </a:xfrm>
        </p:spPr>
        <p:txBody>
          <a:bodyPr rtlCol="0" anchor="b">
            <a:noAutofit/>
          </a:bodyPr>
          <a:lstStyle>
            <a:lvl1pPr algn="l">
              <a:defRPr sz="2700" cap="all" spc="113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12031" y="5586890"/>
            <a:ext cx="3706328" cy="396660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pic>
        <p:nvPicPr>
          <p:cNvPr id="8" name="圖形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7"/>
            <a:ext cx="7116234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議程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形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4116615" y="0"/>
            <a:ext cx="5027389" cy="685800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128" y="1020452"/>
            <a:ext cx="2378869" cy="1325563"/>
          </a:xfrm>
        </p:spPr>
        <p:txBody>
          <a:bodyPr rtlCol="0" anchor="b">
            <a:normAutofit/>
          </a:bodyPr>
          <a:lstStyle>
            <a:lvl1pPr>
              <a:defRPr sz="2100" spc="113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0128" y="2924182"/>
            <a:ext cx="2378869" cy="2519363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750"/>
              </a:spcBef>
              <a:buNone/>
              <a:defRPr sz="1050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lnSpc>
                <a:spcPct val="120000"/>
              </a:lnSpc>
              <a:spcBef>
                <a:spcPts val="750"/>
              </a:spcBef>
              <a:buNone/>
              <a:defRPr sz="1050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685800" indent="0">
              <a:lnSpc>
                <a:spcPct val="120000"/>
              </a:lnSpc>
              <a:spcBef>
                <a:spcPts val="750"/>
              </a:spcBef>
              <a:buNone/>
              <a:defRPr sz="1050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1028700" indent="0">
              <a:lnSpc>
                <a:spcPct val="120000"/>
              </a:lnSpc>
              <a:spcBef>
                <a:spcPts val="750"/>
              </a:spcBef>
              <a:buNone/>
              <a:defRPr sz="1050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 marL="1371600" indent="0">
              <a:lnSpc>
                <a:spcPct val="120000"/>
              </a:lnSpc>
              <a:spcBef>
                <a:spcPts val="750"/>
              </a:spcBef>
              <a:buNone/>
              <a:defRPr sz="1050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0125" y="6356357"/>
            <a:ext cx="738868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02414" y="6356356"/>
            <a:ext cx="1862132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2229" y="6356357"/>
            <a:ext cx="740664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B5CEABB6-07DC-46E8-9B57-56EC44A396E5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時間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圖形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85415" y="0"/>
            <a:ext cx="7558587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350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3" y="5509419"/>
            <a:ext cx="3061607" cy="585788"/>
          </a:xfrm>
        </p:spPr>
        <p:txBody>
          <a:bodyPr rtlCol="0">
            <a:normAutofit/>
          </a:bodyPr>
          <a:lstStyle>
            <a:lvl1pPr>
              <a:defRPr lang="en-US" sz="2100" kern="1200" cap="all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rtl="0"/>
            <a:r>
              <a:rPr lang="zh-TW" altLang="en-US" noProof="0"/>
              <a:t>按一下以編輯標題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1239" y="1481138"/>
            <a:ext cx="1606323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200" cap="all" spc="113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17" name="文字版面配置區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5781" y="2557463"/>
            <a:ext cx="1606323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200" cap="all" spc="113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18" name="文字版面配置區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90602" y="3633788"/>
            <a:ext cx="1606323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200" cap="all" spc="113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19" name="文字版面配置區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428752" y="4710114"/>
            <a:ext cx="1606323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200" cap="all" spc="113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34" name="文字版面配置區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01155" y="1594478"/>
            <a:ext cx="4154321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35" name="文字版面配置區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739525" y="2673328"/>
            <a:ext cx="4154321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36" name="文字版面配置區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182706" y="3755394"/>
            <a:ext cx="4154321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37" name="文字版面配置區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631463" y="4824430"/>
            <a:ext cx="4154321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cxnSp>
        <p:nvCxnSpPr>
          <p:cNvPr id="3" name="直線接點​​(S)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265138" y="5023933"/>
            <a:ext cx="1134908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直線接點​​(S)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819938" y="3948451"/>
            <a:ext cx="1134908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直線接點​​(S)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380090" y="2872686"/>
            <a:ext cx="1134908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直線接點​​(S)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939699" y="1796083"/>
            <a:ext cx="1134908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675">
                <a:solidFill>
                  <a:srgbClr val="898989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31459" y="6356357"/>
            <a:ext cx="1356534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algn="l"/>
            <a:r>
              <a:rPr lang="zh-TW" altLang="en-US" noProof="0"/>
              <a:t>募資簡報</a:t>
            </a: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08157" y="6356357"/>
            <a:ext cx="407194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B5CEABB6-07DC-46E8-9B57-56EC44A396E5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內容 2 欄位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3867" y="892184"/>
            <a:ext cx="6316266" cy="1325563"/>
          </a:xfrm>
        </p:spPr>
        <p:txBody>
          <a:bodyPr rtlCol="0">
            <a:normAutofit/>
          </a:bodyPr>
          <a:lstStyle>
            <a:lvl1pPr algn="ctr">
              <a:defRPr lang="en-US" sz="2100" kern="1200" spc="113" baseline="0" dirty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15" name="文字版面配置區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4428" y="2563130"/>
            <a:ext cx="3023959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1500" kern="1200" spc="113" baseline="0" dirty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17" name="文字版面配置區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14251" y="3070348"/>
            <a:ext cx="3023273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05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31" name="文字版面配置區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04756" y="2563130"/>
            <a:ext cx="3023959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1500" kern="1200" spc="113" baseline="0" dirty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zh-TW" altLang="en-US" noProof="0"/>
              <a:t>按一下以新增副標題</a:t>
            </a:r>
          </a:p>
        </p:txBody>
      </p:sp>
      <p:sp>
        <p:nvSpPr>
          <p:cNvPr id="32" name="文字版面配置區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04860" y="3070348"/>
            <a:ext cx="3023273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05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33" name="文字版面配置區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14428" y="4319438"/>
            <a:ext cx="3023959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1500" kern="1200" spc="113" baseline="0" dirty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zh-TW" altLang="en-US" noProof="0"/>
              <a:t>按一下以新增副標題</a:t>
            </a:r>
          </a:p>
        </p:txBody>
      </p:sp>
      <p:sp>
        <p:nvSpPr>
          <p:cNvPr id="34" name="文字版面配置區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14812" y="4826656"/>
            <a:ext cx="3023273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05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12" name="文字版面配置區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004476" y="4319438"/>
            <a:ext cx="3023959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1500" kern="1200" spc="113" baseline="0" dirty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zh-TW" altLang="en-US" noProof="0"/>
              <a:t>按一下以新增副標題</a:t>
            </a:r>
          </a:p>
        </p:txBody>
      </p:sp>
      <p:sp>
        <p:nvSpPr>
          <p:cNvPr id="13" name="文字版面配置區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004860" y="4826656"/>
            <a:ext cx="3023273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05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B5CEABB6-07DC-46E8-9B57-56EC44A396E5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  <p:cxnSp>
        <p:nvCxnSpPr>
          <p:cNvPr id="2" name="直線接點​​(S)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516293" y="7"/>
            <a:ext cx="2627709" cy="2352957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接點​​(S)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290711" y="0"/>
            <a:ext cx="1853293" cy="2699032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內容 3 欄位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1570" y="4156412"/>
            <a:ext cx="2354580" cy="1325563"/>
          </a:xfrm>
        </p:spPr>
        <p:txBody>
          <a:bodyPr rtlCol="0" anchor="b">
            <a:normAutofit/>
          </a:bodyPr>
          <a:lstStyle>
            <a:lvl1pPr algn="l">
              <a:defRPr lang="en-US" sz="2100" kern="1200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15" name="文字版面配置區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41691" y="1530642"/>
            <a:ext cx="4074903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1500" kern="1200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17" name="文字版面配置區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41372" y="1860060"/>
            <a:ext cx="4073978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441691" y="2630438"/>
            <a:ext cx="4074903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1500" kern="1200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18" name="文字版面配置區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41372" y="2959856"/>
            <a:ext cx="4073978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19" name="文字版面配置區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41691" y="3730234"/>
            <a:ext cx="4074903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1500" kern="1200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20" name="文字版面配置區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41372" y="4059652"/>
            <a:ext cx="4073978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3" name="文字版面配置區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40080" y="4830031"/>
            <a:ext cx="4074903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1500" kern="1200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24" name="文字版面配置區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39761" y="5159449"/>
            <a:ext cx="4073978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4439762" y="6356357"/>
            <a:ext cx="710637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5371469" y="6356357"/>
            <a:ext cx="2432957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8025496" y="6356357"/>
            <a:ext cx="489857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B5CEABB6-07DC-46E8-9B57-56EC44A396E5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  <p:pic>
        <p:nvPicPr>
          <p:cNvPr id="2" name="圖形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-3522" y="-1"/>
            <a:ext cx="3672551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簡介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1559" y="1671639"/>
            <a:ext cx="3833813" cy="1204912"/>
          </a:xfrm>
        </p:spPr>
        <p:txBody>
          <a:bodyPr rtlCol="0" anchor="b">
            <a:normAutofit/>
          </a:bodyPr>
          <a:lstStyle>
            <a:lvl1pPr>
              <a:defRPr lang="en-US" sz="2100" kern="1200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1559" y="3660774"/>
            <a:ext cx="3833813" cy="152558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050" spc="38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cxnSp>
        <p:nvCxnSpPr>
          <p:cNvPr id="14" name="直線接點​​(S)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6822285" y="1497012"/>
            <a:ext cx="232171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接點​​(S)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5214940" y="-25401"/>
            <a:ext cx="2843213" cy="69024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日期版面配置區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7"/>
            <a:ext cx="2057400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10" name="頁尾版面配置區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18349" y="6356357"/>
            <a:ext cx="1307306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11" name="投影片編號版面配置區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7"/>
            <a:ext cx="2057400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B5CEABB6-07DC-46E8-9B57-56EC44A396E5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分節符號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43512" y="2571238"/>
            <a:ext cx="3134678" cy="1715531"/>
          </a:xfrm>
        </p:spPr>
        <p:txBody>
          <a:bodyPr rtlCol="0" anchor="ctr">
            <a:noAutofit/>
          </a:bodyPr>
          <a:lstStyle>
            <a:lvl1pPr algn="l">
              <a:defRPr sz="2700" spc="113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pic>
        <p:nvPicPr>
          <p:cNvPr id="5" name="圖形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4407694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引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形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" y="0"/>
            <a:ext cx="4186238" cy="685800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0127" y="1152778"/>
            <a:ext cx="4073978" cy="846301"/>
          </a:xfrm>
        </p:spPr>
        <p:txBody>
          <a:bodyPr rtlCol="0" anchor="t">
            <a:normAutofit/>
          </a:bodyPr>
          <a:lstStyle>
            <a:lvl1pPr>
              <a:defRPr lang="en-US" sz="2100" kern="1200" cap="all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cxnSp>
        <p:nvCxnSpPr>
          <p:cNvPr id="9" name="直線接點​​(S)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1657350" y="0"/>
            <a:ext cx="182880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版面配置區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41691" y="2469522"/>
            <a:ext cx="4074903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1500" kern="1200" cap="all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12" name="文字版面配置區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41372" y="2798940"/>
            <a:ext cx="4073978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13" name="文字版面配置區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441691" y="3569311"/>
            <a:ext cx="4074903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1500" kern="1200" cap="all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14" name="文字版面配置區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41372" y="3898736"/>
            <a:ext cx="4073978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15" name="文字版面配置區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41691" y="4669114"/>
            <a:ext cx="4074903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1500" kern="1200" cap="all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16" name="文字版面配置區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41372" y="4998532"/>
            <a:ext cx="4073978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17" name="日期版面配置區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4439762" y="6356357"/>
            <a:ext cx="710637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18" name="頁尾版面配置區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5371469" y="6356357"/>
            <a:ext cx="2432957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19" name="投影片編號版面配置區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8025496" y="6356357"/>
            <a:ext cx="489857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B5CEABB6-07DC-46E8-9B57-56EC44A396E5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三個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3867" y="892184"/>
            <a:ext cx="6316266" cy="1325563"/>
          </a:xfrm>
        </p:spPr>
        <p:txBody>
          <a:bodyPr rtlCol="0">
            <a:normAutofit/>
          </a:bodyPr>
          <a:lstStyle>
            <a:lvl1pPr algn="ctr">
              <a:defRPr lang="en-US" sz="2100" kern="1200" cap="all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2329" y="2776936"/>
            <a:ext cx="2161856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1500" kern="1200" cap="all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2329" y="3834613"/>
            <a:ext cx="2161856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68580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102870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 marL="137160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485752" y="2776936"/>
            <a:ext cx="2172503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1500" kern="1200" cap="all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zh-TW" altLang="en-US" noProof="0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485752" y="3834613"/>
            <a:ext cx="2172503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68580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102870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 marL="137160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cxnSp>
        <p:nvCxnSpPr>
          <p:cNvPr id="16" name="直線接點​​(S)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" y="0"/>
            <a:ext cx="928688" cy="310515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​​(S)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678782" cy="24765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版面配置區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049816" y="2776936"/>
            <a:ext cx="2161856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1500" kern="1200" cap="all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22" name="內容版面配置區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049816" y="3834613"/>
            <a:ext cx="2161856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68580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102870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 marL="137160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B5CEABB6-07DC-46E8-9B57-56EC44A396E5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內容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3867" y="892184"/>
            <a:ext cx="6316266" cy="1325563"/>
          </a:xfrm>
        </p:spPr>
        <p:txBody>
          <a:bodyPr rtlCol="0">
            <a:normAutofit/>
          </a:bodyPr>
          <a:lstStyle>
            <a:lvl1pPr algn="ctr">
              <a:defRPr lang="en-US" sz="2100" kern="1200" cap="all" spc="113" baseline="0" dirty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pic>
        <p:nvPicPr>
          <p:cNvPr id="11" name="圖形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856" y="2358007"/>
            <a:ext cx="1828800" cy="2019300"/>
          </a:xfrm>
          <a:prstGeom prst="rect">
            <a:avLst/>
          </a:prstGeom>
        </p:spPr>
      </p:pic>
      <p:pic>
        <p:nvPicPr>
          <p:cNvPr id="13" name="圖形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50472" y="2531837"/>
            <a:ext cx="1643063" cy="1943100"/>
          </a:xfrm>
          <a:prstGeom prst="rect">
            <a:avLst/>
          </a:prstGeom>
        </p:spPr>
      </p:pic>
      <p:pic>
        <p:nvPicPr>
          <p:cNvPr id="15" name="圖形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59208" y="2421056"/>
            <a:ext cx="1743075" cy="2057400"/>
          </a:xfrm>
          <a:prstGeom prst="rect">
            <a:avLst/>
          </a:prstGeom>
        </p:spPr>
      </p:pic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47893" y="3064615"/>
            <a:ext cx="930728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3000" kern="1200" cap="all" spc="113" baseline="0" dirty="0" smtClean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en-US" altLang="zh-TW" noProof="0"/>
              <a:t>#</a:t>
            </a:r>
          </a:p>
        </p:txBody>
      </p:sp>
      <p:sp>
        <p:nvSpPr>
          <p:cNvPr id="23" name="文字版面配置區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4106638" y="3064615"/>
            <a:ext cx="930728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3000" kern="1200" cap="all" spc="113" baseline="0" dirty="0" smtClean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en-US" altLang="zh-TW" noProof="0"/>
              <a:t>#</a:t>
            </a:r>
          </a:p>
        </p:txBody>
      </p:sp>
      <p:sp>
        <p:nvSpPr>
          <p:cNvPr id="24" name="文字版面配置區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6665383" y="3064615"/>
            <a:ext cx="930728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3000" kern="1200" cap="all" spc="113" baseline="0" dirty="0" smtClean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en-US" altLang="zh-TW" noProof="0"/>
              <a:t>#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7275" y="4824195"/>
            <a:ext cx="2343070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500" cap="all" spc="38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2pPr>
            <a:lvl3pPr marL="6858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3pPr>
            <a:lvl4pPr marL="10287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4pPr>
            <a:lvl5pPr marL="13716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25" name="內容版面配置區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847275" y="5280770"/>
            <a:ext cx="2343070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050" cap="none" spc="38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2pPr>
            <a:lvl3pPr marL="6858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3pPr>
            <a:lvl4pPr marL="10287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4pPr>
            <a:lvl5pPr marL="13716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394699" y="4824195"/>
            <a:ext cx="235460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500" cap="all" spc="38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lnSpc>
                <a:spcPct val="100000"/>
              </a:lnSpc>
              <a:buNone/>
              <a:defRPr sz="1500" cap="all" spc="38" baseline="0">
                <a:solidFill>
                  <a:schemeClr val="bg1"/>
                </a:solidFill>
              </a:defRPr>
            </a:lvl2pPr>
            <a:lvl3pPr marL="6858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3pPr>
            <a:lvl4pPr marL="10287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4pPr>
            <a:lvl5pPr marL="13716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26" name="內容版面配置區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394699" y="5280770"/>
            <a:ext cx="235460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050" cap="none" spc="38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 algn="ctr">
              <a:lnSpc>
                <a:spcPct val="100000"/>
              </a:lnSpc>
              <a:buNone/>
              <a:defRPr sz="1050" cap="none" spc="38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6858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3pPr>
            <a:lvl4pPr marL="10287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4pPr>
            <a:lvl5pPr marL="13716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</p:txBody>
      </p:sp>
      <p:sp>
        <p:nvSpPr>
          <p:cNvPr id="22" name="內容版面配置區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5953659" y="4824195"/>
            <a:ext cx="2343070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500" cap="all" spc="38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2pPr>
            <a:lvl3pPr marL="6858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3pPr>
            <a:lvl4pPr marL="10287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4pPr>
            <a:lvl5pPr marL="13716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27" name="內容版面配置區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5953659" y="5280770"/>
            <a:ext cx="2343070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050" cap="none" spc="38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2pPr>
            <a:lvl3pPr marL="6858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3pPr>
            <a:lvl4pPr marL="10287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4pPr>
            <a:lvl5pPr marL="1371600" indent="0">
              <a:lnSpc>
                <a:spcPct val="100000"/>
              </a:lnSpc>
              <a:buNone/>
              <a:defRPr sz="1050" spc="38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B5CEABB6-07DC-46E8-9B57-56EC44A396E5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兩項內容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0275" y="892184"/>
            <a:ext cx="6316266" cy="1325563"/>
          </a:xfrm>
        </p:spPr>
        <p:txBody>
          <a:bodyPr rtlCol="0">
            <a:normAutofit/>
          </a:bodyPr>
          <a:lstStyle>
            <a:lvl1pPr>
              <a:defRPr lang="en-US" sz="2100" kern="1200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00277" y="2776936"/>
            <a:ext cx="294322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1500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200277" y="3834613"/>
            <a:ext cx="294322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68580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102870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 marL="137160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557630" y="2776936"/>
            <a:ext cx="2957720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1500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zh-TW" altLang="en-US" noProof="0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57630" y="3834613"/>
            <a:ext cx="2957720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68580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102870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 marL="1371600" indent="0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B5CEABB6-07DC-46E8-9B57-56EC44A396E5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  <p:pic>
        <p:nvPicPr>
          <p:cNvPr id="11" name="圖形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19342" y="0"/>
            <a:ext cx="3276023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圖形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41825" b="23071"/>
          <a:stretch/>
        </p:blipFill>
        <p:spPr>
          <a:xfrm flipH="1">
            <a:off x="0" y="0"/>
            <a:ext cx="4081416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標題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0127" y="1152778"/>
            <a:ext cx="4073978" cy="846301"/>
          </a:xfrm>
        </p:spPr>
        <p:txBody>
          <a:bodyPr rtlCol="0" anchor="t">
            <a:normAutofit/>
          </a:bodyPr>
          <a:lstStyle>
            <a:lvl1pPr>
              <a:defRPr lang="en-US" sz="2100" kern="1200" cap="all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20" name="文字版面配置區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41691" y="2469522"/>
            <a:ext cx="4074903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1500" kern="1200" cap="all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25" name="文字版面配置區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41372" y="2798940"/>
            <a:ext cx="4073978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6" name="文字版面配置區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441691" y="3569311"/>
            <a:ext cx="4074903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1500" kern="1200" cap="all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27" name="文字版面配置區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41372" y="3898736"/>
            <a:ext cx="4073978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8" name="文字版面配置區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41691" y="4669114"/>
            <a:ext cx="4074903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1500" kern="1200" cap="all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29" name="文字版面配置區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41372" y="4998532"/>
            <a:ext cx="4073978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1" name="日期版面配置區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7"/>
            <a:ext cx="2057400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22" name="頁尾版面配置區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7"/>
            <a:ext cx="3086100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24" name="投影片編號版面配置區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7"/>
            <a:ext cx="2057400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B5CEABB6-07DC-46E8-9B57-56EC44A396E5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25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圖表​​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>
            <a:lvl1pPr algn="l">
              <a:defRPr lang="en-US" sz="2100" kern="1200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B250D272-9B39-4C2D-B0F5-21010D11E43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61564" y="1361938"/>
            <a:ext cx="5074444" cy="496888"/>
          </a:xfrm>
        </p:spPr>
        <p:txBody>
          <a:bodyPr rtlCol="0">
            <a:noAutofit/>
          </a:bodyPr>
          <a:lstStyle>
            <a:lvl1pPr marL="0" indent="0">
              <a:buNone/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7" name="圖表預留位置 6">
            <a:extLst>
              <a:ext uri="{FF2B5EF4-FFF2-40B4-BE49-F238E27FC236}">
                <a16:creationId xmlns:a16="http://schemas.microsoft.com/office/drawing/2014/main" id="{08AF2DB4-A973-4307-B59C-6058A138835C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628653" y="2286002"/>
            <a:ext cx="4570703" cy="3542143"/>
          </a:xfr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按一下圖示以新增圖表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339C283A-EC40-421C-8A0E-F9A3161C88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93594" y="2284624"/>
            <a:ext cx="2360499" cy="306388"/>
          </a:xfrm>
        </p:spPr>
        <p:txBody>
          <a:bodyPr rtlCol="0">
            <a:noAutofit/>
          </a:bodyPr>
          <a:lstStyle>
            <a:lvl1pPr marL="0" indent="0">
              <a:buNone/>
              <a:defRPr sz="1050" cap="all" spc="113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825"/>
            </a:lvl4pPr>
            <a:lvl5pPr marL="1371600" indent="0">
              <a:buNone/>
              <a:defRPr sz="825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13" name="內容版面配置區 12">
            <a:extLst>
              <a:ext uri="{FF2B5EF4-FFF2-40B4-BE49-F238E27FC236}">
                <a16:creationId xmlns:a16="http://schemas.microsoft.com/office/drawing/2014/main" id="{305CA2B1-D510-4949-A638-C1A064DA41A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93596" y="2779720"/>
            <a:ext cx="2361010" cy="3095625"/>
          </a:xfrm>
        </p:spPr>
        <p:txBody>
          <a:bodyPr rtlCol="0">
            <a:normAutofit/>
          </a:bodyPr>
          <a:lstStyle>
            <a:lvl1pPr marL="0" indent="0">
              <a:buNone/>
              <a:defRPr sz="90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buNone/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685800" indent="0">
              <a:buNone/>
              <a:defRPr sz="788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1028700" indent="0">
              <a:buNone/>
              <a:defRPr sz="75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1371600" indent="0">
              <a:buNone/>
              <a:defRPr sz="75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 rtl="0"/>
            <a:r>
              <a:rPr lang="zh-TW" altLang="en-US" noProof="0"/>
              <a:t>按一下以新增內容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B5CEABB6-07DC-46E8-9B57-56EC44A396E5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34910030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時間表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D46070C-E825-43D0-99F4-8B46141311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" y="3057683"/>
            <a:ext cx="9143999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sz="1350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>
            <a:lvl1pPr algn="l">
              <a:defRPr lang="en-US" sz="2100" kern="1200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6" name="文字版面配置區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85799" y="3354712"/>
            <a:ext cx="548640" cy="457200"/>
          </a:xfrm>
        </p:spPr>
        <p:txBody>
          <a:bodyPr rtlCol="0" anchor="ctr"/>
          <a:lstStyle>
            <a:lvl1pPr marL="0" indent="0" algn="l">
              <a:buNone/>
              <a:defRPr sz="1050" b="1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年份</a:t>
            </a:r>
          </a:p>
        </p:txBody>
      </p:sp>
      <p:sp>
        <p:nvSpPr>
          <p:cNvPr id="7" name="文字版面配置區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474470" y="3502152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8" name="文字版面配置區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065410" y="3502152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9" name="文字版面配置區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656350" y="3502152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10" name="文字版面配置區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247290" y="3502152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12" name="文字版面配置區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838230" y="3502152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13" name="文字版面配置區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429170" y="3502152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14" name="文字版面配置區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020110" y="3502152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16" name="文字版面配置區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611050" y="3502152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17" name="文字版面配置區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01990" y="3502152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15" name="文字版面配置區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792930" y="3502152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18" name="文字版面配置區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383870" y="3502152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19" name="文字版面配置區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974814" y="3502152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85800" y="4292468"/>
            <a:ext cx="548640" cy="457200"/>
          </a:xfrm>
        </p:spPr>
        <p:txBody>
          <a:bodyPr rtlCol="0" anchor="ctr"/>
          <a:lstStyle>
            <a:lvl1pPr marL="0" indent="0" algn="l">
              <a:buNone/>
              <a:defRPr sz="1050" b="1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年份</a:t>
            </a:r>
          </a:p>
        </p:txBody>
      </p:sp>
      <p:sp>
        <p:nvSpPr>
          <p:cNvPr id="20" name="文字版面配置區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477436" y="4425696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21" name="文字版面配置區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068202" y="4425696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22" name="文字版面配置區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658967" y="4425696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23" name="文字版面配置區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249732" y="4425696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24" name="文字版面配置區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3840497" y="4425696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25" name="文字版面配置區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431263" y="4425696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26" name="文字版面配置區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5022028" y="4425696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28" name="文字版面配置區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5612793" y="4425696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29" name="文字版面配置區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6203558" y="4425696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27" name="文字版面配置區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794324" y="4425696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30" name="文字版面配置區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7385089" y="4425696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31" name="文字版面配置區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7975854" y="4425696"/>
            <a:ext cx="48006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75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en-US" altLang="zh-TW" noProof="0"/>
              <a:t>MM</a:t>
            </a:r>
            <a:endParaRPr lang="zh-TW" altLang="en-US" noProof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FA35437-CCDE-4D92-B879-F23B329C8E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97230" y="4034785"/>
            <a:ext cx="7749540" cy="4571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sz="1350" noProof="0">
              <a:solidFill>
                <a:schemeClr val="tx1">
                  <a:lumMod val="75000"/>
                  <a:lumOff val="25000"/>
                </a:schemeClr>
              </a:solidFill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6" name="日期版面配置區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7"/>
            <a:ext cx="2057400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37" name="頁尾版面配置區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7"/>
            <a:ext cx="3086100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38" name="投影片編號版面配置區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7"/>
            <a:ext cx="2057400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B5CEABB6-07DC-46E8-9B57-56EC44A396E5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>
            <a:lvl1pPr algn="ctr">
              <a:defRPr lang="en-US" sz="2100" kern="1200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7" name="SmartArt 預留位置 6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/>
          </p:nvPr>
        </p:nvSpPr>
        <p:spPr>
          <a:xfrm>
            <a:off x="628650" y="2139084"/>
            <a:ext cx="7886700" cy="3695338"/>
          </a:xfr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 </a:t>
            </a:r>
            <a:r>
              <a:rPr lang="en-US" altLang="zh-TW" noProof="0"/>
              <a:t>SmartArt </a:t>
            </a:r>
            <a:r>
              <a:rPr lang="zh-TW" altLang="en-US" noProof="0"/>
              <a:t>圖形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cxnSp>
        <p:nvCxnSpPr>
          <p:cNvPr id="10" name="直線接點​​(S) 9">
            <a:extLst>
              <a:ext uri="{FF2B5EF4-FFF2-40B4-BE49-F238E27FC236}">
                <a16:creationId xmlns:a16="http://schemas.microsoft.com/office/drawing/2014/main" id="{66988B2D-0240-4256-8268-4B9FF1E723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1943100" cy="762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​​(S) 11">
            <a:extLst>
              <a:ext uri="{FF2B5EF4-FFF2-40B4-BE49-F238E27FC236}">
                <a16:creationId xmlns:a16="http://schemas.microsoft.com/office/drawing/2014/main" id="{D8EEAAE1-3D04-41C3-B2D2-B3BEF34C3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" y="0"/>
            <a:ext cx="528638" cy="102790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B5CEABB6-07DC-46E8-9B57-56EC44A396E5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團隊投影片 4 人員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3867" y="892184"/>
            <a:ext cx="6316266" cy="1325563"/>
          </a:xfrm>
        </p:spPr>
        <p:txBody>
          <a:bodyPr rtlCol="0">
            <a:normAutofit/>
          </a:bodyPr>
          <a:lstStyle>
            <a:lvl1pPr algn="ctr">
              <a:defRPr lang="en-US" sz="2100" kern="1200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11" name="圖片版面配置區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15389" y="2886079"/>
            <a:ext cx="1384133" cy="1845511"/>
          </a:xfrm>
          <a:solidFill>
            <a:schemeClr val="bg1">
              <a:lumMod val="95000"/>
            </a:schemeClr>
          </a:solidFill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83671" y="5084531"/>
            <a:ext cx="1647464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050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26" name="文字版面配置區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/>
          </p:nvPr>
        </p:nvSpPr>
        <p:spPr>
          <a:xfrm>
            <a:off x="1115389" y="5464121"/>
            <a:ext cx="1384133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750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17" name="圖片版面配置區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877689" y="2886079"/>
            <a:ext cx="1384133" cy="1845511"/>
          </a:xfrm>
          <a:solidFill>
            <a:schemeClr val="bg1">
              <a:lumMod val="95000"/>
            </a:schemeClr>
          </a:solidFill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3" name="文字版面配置區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2780709" y="5099213"/>
            <a:ext cx="1608787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050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27" name="文字版面配置區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2877687" y="5478803"/>
            <a:ext cx="1391962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750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18" name="圖片版面配置區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45687" y="2886079"/>
            <a:ext cx="1384133" cy="1845511"/>
          </a:xfrm>
          <a:solidFill>
            <a:schemeClr val="bg1">
              <a:lumMod val="95000"/>
            </a:schemeClr>
          </a:solidFill>
        </p:spPr>
        <p:txBody>
          <a:bodyPr rtlCol="0"/>
          <a:lstStyle>
            <a:lvl2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</a:lstStyle>
          <a:p>
            <a:pPr lvl="1" rtl="0"/>
            <a:r>
              <a:rPr lang="zh-TW" altLang="en-US" noProof="0"/>
              <a:t>按一下圖示以新增圖片</a:t>
            </a:r>
          </a:p>
        </p:txBody>
      </p:sp>
      <p:sp>
        <p:nvSpPr>
          <p:cNvPr id="24" name="文字版面配置區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4648707" y="5099213"/>
            <a:ext cx="1599739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050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28" name="文字版面配置區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/>
          </p:nvPr>
        </p:nvSpPr>
        <p:spPr>
          <a:xfrm>
            <a:off x="4745686" y="5478803"/>
            <a:ext cx="1384133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750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19" name="圖片版面配置區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560597" y="2886079"/>
            <a:ext cx="1384133" cy="1845511"/>
          </a:xfrm>
          <a:solidFill>
            <a:schemeClr val="bg1">
              <a:lumMod val="95000"/>
            </a:schemeClr>
          </a:solidFill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5" name="文字版面配置區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6463614" y="5084531"/>
            <a:ext cx="1599738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050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29" name="文字版面配置區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6560596" y="5464121"/>
            <a:ext cx="1384133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750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cxnSp>
        <p:nvCxnSpPr>
          <p:cNvPr id="10" name="直線接點​​(S)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5500690" y="0"/>
            <a:ext cx="3643313" cy="762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接點​​(S)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615362" y="5"/>
            <a:ext cx="528638" cy="17240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B5CEABB6-07DC-46E8-9B57-56EC44A396E5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702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團隊投影片 8 人員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3867" y="892184"/>
            <a:ext cx="6316266" cy="1325563"/>
          </a:xfrm>
        </p:spPr>
        <p:txBody>
          <a:bodyPr rtlCol="0">
            <a:normAutofit/>
          </a:bodyPr>
          <a:lstStyle>
            <a:lvl1pPr algn="ctr">
              <a:defRPr lang="en-US" sz="2100" kern="1200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11" name="圖片版面配置區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07882" y="2428875"/>
            <a:ext cx="8001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675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5126" y="3654385"/>
            <a:ext cx="13716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788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26" name="文字版面配置區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/>
          </p:nvPr>
        </p:nvSpPr>
        <p:spPr>
          <a:xfrm>
            <a:off x="1042590" y="3782042"/>
            <a:ext cx="154305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675" kern="1200" spc="113" baseline="0" dirty="0" smtClean="0">
                <a:solidFill>
                  <a:schemeClr val="accent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17" name="圖片版面配置區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169703" y="2428875"/>
            <a:ext cx="8001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675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3" name="文字版面配置區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2886947" y="3669065"/>
            <a:ext cx="13716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788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27" name="文字版面配置區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2804411" y="3796722"/>
            <a:ext cx="154305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675" kern="1200" spc="113" baseline="0" dirty="0" smtClean="0">
                <a:solidFill>
                  <a:schemeClr val="accent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18" name="圖片版面配置區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037701" y="2428875"/>
            <a:ext cx="8001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buNone/>
              <a:defRPr sz="675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lnSpc>
                <a:spcPct val="100000"/>
              </a:lnSpc>
              <a:buNone/>
              <a:defRPr sz="675">
                <a:solidFill>
                  <a:schemeClr val="bg1"/>
                </a:solidFill>
              </a:defRPr>
            </a:lvl2pPr>
          </a:lstStyle>
          <a:p>
            <a:pPr lvl="0" rtl="0"/>
            <a:r>
              <a:rPr lang="zh-TW" altLang="en-US" noProof="0"/>
              <a:t>按一下圖示以新增圖片</a:t>
            </a:r>
          </a:p>
        </p:txBody>
      </p:sp>
      <p:sp>
        <p:nvSpPr>
          <p:cNvPr id="24" name="文字版面配置區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4754945" y="3669065"/>
            <a:ext cx="13716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788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28" name="文字版面配置區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/>
          </p:nvPr>
        </p:nvSpPr>
        <p:spPr>
          <a:xfrm>
            <a:off x="4663472" y="3796722"/>
            <a:ext cx="154305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675" kern="1200" spc="113" baseline="0" dirty="0" smtClean="0">
                <a:solidFill>
                  <a:schemeClr val="accent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19" name="圖片版面配置區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852611" y="2428875"/>
            <a:ext cx="8001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675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5" name="文字版面配置區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6569855" y="3654385"/>
            <a:ext cx="13716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788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29" name="文字版面配置區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6475824" y="3782042"/>
            <a:ext cx="154305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675" kern="1200" spc="113" baseline="0" dirty="0" smtClean="0">
                <a:solidFill>
                  <a:schemeClr val="accent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55" name="圖片版面配置區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07882" y="4287711"/>
            <a:ext cx="8001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675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54" name="文字版面配置區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/>
          </p:nvPr>
        </p:nvSpPr>
        <p:spPr>
          <a:xfrm>
            <a:off x="1125126" y="5513221"/>
            <a:ext cx="13716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788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62" name="文字版面配置區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/>
          </p:nvPr>
        </p:nvSpPr>
        <p:spPr>
          <a:xfrm>
            <a:off x="1042590" y="5640882"/>
            <a:ext cx="154305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675" kern="1200" spc="113" baseline="0" dirty="0" smtClean="0">
                <a:solidFill>
                  <a:schemeClr val="accent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56" name="圖片版面配置區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169703" y="4287711"/>
            <a:ext cx="8001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675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59" name="文字版面配置區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/>
          </p:nvPr>
        </p:nvSpPr>
        <p:spPr>
          <a:xfrm>
            <a:off x="2886947" y="5527903"/>
            <a:ext cx="13716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788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63" name="文字版面配置區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/>
          </p:nvPr>
        </p:nvSpPr>
        <p:spPr>
          <a:xfrm>
            <a:off x="2804411" y="5655564"/>
            <a:ext cx="154305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675" kern="1200" spc="113" baseline="0" dirty="0" smtClean="0">
                <a:solidFill>
                  <a:schemeClr val="accent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57" name="圖片版面配置區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037701" y="4287711"/>
            <a:ext cx="8001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buNone/>
              <a:defRPr sz="675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lnSpc>
                <a:spcPct val="100000"/>
              </a:lnSpc>
              <a:buNone/>
              <a:defRPr sz="675">
                <a:solidFill>
                  <a:schemeClr val="bg1"/>
                </a:solidFill>
              </a:defRPr>
            </a:lvl2pPr>
          </a:lstStyle>
          <a:p>
            <a:pPr lvl="0" rtl="0"/>
            <a:r>
              <a:rPr lang="zh-TW" altLang="en-US" noProof="0"/>
              <a:t>按一下圖示以新增圖片</a:t>
            </a:r>
          </a:p>
        </p:txBody>
      </p:sp>
      <p:sp>
        <p:nvSpPr>
          <p:cNvPr id="60" name="文字版面配置區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/>
          </p:nvPr>
        </p:nvSpPr>
        <p:spPr>
          <a:xfrm>
            <a:off x="4754945" y="5527903"/>
            <a:ext cx="13716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788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64" name="文字版面配置區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/>
          </p:nvPr>
        </p:nvSpPr>
        <p:spPr>
          <a:xfrm>
            <a:off x="4672409" y="5655564"/>
            <a:ext cx="154305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675" kern="1200" spc="113" baseline="0" dirty="0" smtClean="0">
                <a:solidFill>
                  <a:schemeClr val="accent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58" name="圖片版面配置區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852611" y="4287711"/>
            <a:ext cx="8001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675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61" name="文字版面配置區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/>
          </p:nvPr>
        </p:nvSpPr>
        <p:spPr>
          <a:xfrm>
            <a:off x="6569855" y="5513221"/>
            <a:ext cx="13716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788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65" name="文字版面配置區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/>
          </p:nvPr>
        </p:nvSpPr>
        <p:spPr>
          <a:xfrm>
            <a:off x="6475824" y="5640882"/>
            <a:ext cx="154305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675" kern="1200" spc="113" baseline="0" dirty="0" smtClean="0">
                <a:solidFill>
                  <a:schemeClr val="accent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675">
                <a:solidFill>
                  <a:srgbClr val="898989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675">
                <a:solidFill>
                  <a:srgbClr val="898989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675">
                <a:solidFill>
                  <a:srgbClr val="898989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B5CEABB6-07DC-46E8-9B57-56EC44A396E5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  <p:pic>
        <p:nvPicPr>
          <p:cNvPr id="13" name="圖形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60"/>
            <a:ext cx="1543050" cy="1647825"/>
          </a:xfrm>
          <a:prstGeom prst="rect">
            <a:avLst/>
          </a:prstGeom>
        </p:spPr>
      </p:pic>
      <p:pic>
        <p:nvPicPr>
          <p:cNvPr id="14" name="圖形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86750" y="5180889"/>
            <a:ext cx="85725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基金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直線接點​​(S)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" y="7"/>
            <a:ext cx="928688" cy="1328057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​​(S)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3" y="4"/>
            <a:ext cx="2843213" cy="8921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3867" y="892184"/>
            <a:ext cx="6316266" cy="1325563"/>
          </a:xfrm>
        </p:spPr>
        <p:txBody>
          <a:bodyPr rtlCol="0">
            <a:normAutofit/>
          </a:bodyPr>
          <a:lstStyle>
            <a:lvl1pPr algn="ctr">
              <a:defRPr lang="en-US" sz="2100" kern="1200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11" name="內容版面配置區 10">
            <a:extLst>
              <a:ext uri="{FF2B5EF4-FFF2-40B4-BE49-F238E27FC236}">
                <a16:creationId xmlns:a16="http://schemas.microsoft.com/office/drawing/2014/main" id="{319EE98D-9541-4F21-8952-3026DEF75EC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806585" y="2118642"/>
            <a:ext cx="1392174" cy="1664208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</a:lstStyle>
          <a:p>
            <a:pPr lvl="0" rtl="0"/>
            <a:r>
              <a:rPr lang="zh-TW" altLang="en-US" noProof="0"/>
              <a:t>按一下以新增內容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28653" y="3788814"/>
            <a:ext cx="1748045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2400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en-US" altLang="zh-TW" noProof="0"/>
              <a:t>#</a:t>
            </a:r>
          </a:p>
        </p:txBody>
      </p:sp>
      <p:sp>
        <p:nvSpPr>
          <p:cNvPr id="17" name="文字版面配置區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628653" y="4464817"/>
            <a:ext cx="1748045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050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653" y="5120729"/>
            <a:ext cx="1748045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lnSpc>
                <a:spcPct val="100000"/>
              </a:lnSpc>
              <a:buNone/>
              <a:defRPr sz="1050" spc="38" baseline="0"/>
            </a:lvl2pPr>
            <a:lvl3pPr marL="685800" indent="0">
              <a:lnSpc>
                <a:spcPct val="100000"/>
              </a:lnSpc>
              <a:buNone/>
              <a:defRPr sz="1050" spc="38" baseline="0"/>
            </a:lvl3pPr>
            <a:lvl4pPr marL="1028700" indent="0">
              <a:lnSpc>
                <a:spcPct val="100000"/>
              </a:lnSpc>
              <a:buNone/>
              <a:defRPr sz="1050" spc="38" baseline="0"/>
            </a:lvl4pPr>
            <a:lvl5pPr marL="1371600" indent="0">
              <a:lnSpc>
                <a:spcPct val="100000"/>
              </a:lnSpc>
              <a:buNone/>
              <a:defRPr sz="1050" spc="38" baseline="0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24" name="內容版面配置區 10">
            <a:extLst>
              <a:ext uri="{FF2B5EF4-FFF2-40B4-BE49-F238E27FC236}">
                <a16:creationId xmlns:a16="http://schemas.microsoft.com/office/drawing/2014/main" id="{AB843230-A4E3-4E21-AA93-998E28EB901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2858543" y="2118642"/>
            <a:ext cx="1392174" cy="1664208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</a:lstStyle>
          <a:p>
            <a:pPr lvl="0" rtl="0"/>
            <a:r>
              <a:rPr lang="zh-TW" altLang="en-US" noProof="0"/>
              <a:t>按一下以新增內容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2672001" y="3788814"/>
            <a:ext cx="1756654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2400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en-US" altLang="zh-TW" noProof="0"/>
              <a:t>#</a:t>
            </a:r>
          </a:p>
        </p:txBody>
      </p:sp>
      <p:sp>
        <p:nvSpPr>
          <p:cNvPr id="18" name="文字版面配置區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2001" y="4464817"/>
            <a:ext cx="1756654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050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zh-TW" altLang="en-US" noProof="0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672001" y="5120729"/>
            <a:ext cx="1756654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lnSpc>
                <a:spcPct val="100000"/>
              </a:lnSpc>
              <a:buNone/>
              <a:defRPr sz="1050" spc="38" baseline="0"/>
            </a:lvl2pPr>
            <a:lvl3pPr marL="685800" indent="0">
              <a:lnSpc>
                <a:spcPct val="100000"/>
              </a:lnSpc>
              <a:buNone/>
              <a:defRPr sz="1050" spc="38" baseline="0"/>
            </a:lvl3pPr>
            <a:lvl4pPr marL="1028700" indent="0">
              <a:lnSpc>
                <a:spcPct val="100000"/>
              </a:lnSpc>
              <a:buNone/>
              <a:defRPr sz="1050" spc="38" baseline="0"/>
            </a:lvl4pPr>
            <a:lvl5pPr marL="1371600" indent="0">
              <a:lnSpc>
                <a:spcPct val="100000"/>
              </a:lnSpc>
              <a:buNone/>
              <a:defRPr sz="1050" spc="38" baseline="0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25" name="內容版面配置區 10">
            <a:extLst>
              <a:ext uri="{FF2B5EF4-FFF2-40B4-BE49-F238E27FC236}">
                <a16:creationId xmlns:a16="http://schemas.microsoft.com/office/drawing/2014/main" id="{3AE0369E-A275-4E5A-AE0F-B1F9A54DEDFC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893283" y="2118642"/>
            <a:ext cx="1392174" cy="1664208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</a:lstStyle>
          <a:p>
            <a:pPr lvl="0" rtl="0"/>
            <a:r>
              <a:rPr lang="zh-TW" altLang="en-US" noProof="0"/>
              <a:t>按一下以新增內容</a:t>
            </a:r>
          </a:p>
        </p:txBody>
      </p:sp>
      <p:sp>
        <p:nvSpPr>
          <p:cNvPr id="21" name="文字版面配置區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723960" y="3788814"/>
            <a:ext cx="1748045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2400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en-US" altLang="zh-TW" noProof="0"/>
              <a:t>#</a:t>
            </a:r>
          </a:p>
        </p:txBody>
      </p:sp>
      <p:sp>
        <p:nvSpPr>
          <p:cNvPr id="19" name="文字版面配置區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4723960" y="4464817"/>
            <a:ext cx="1748045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050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22" name="內容版面配置區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723960" y="5120729"/>
            <a:ext cx="1748045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lnSpc>
                <a:spcPct val="100000"/>
              </a:lnSpc>
              <a:buNone/>
              <a:defRPr sz="1050" spc="38" baseline="0"/>
            </a:lvl2pPr>
            <a:lvl3pPr marL="685800" indent="0">
              <a:lnSpc>
                <a:spcPct val="100000"/>
              </a:lnSpc>
              <a:buNone/>
              <a:defRPr sz="1050" spc="38" baseline="0"/>
            </a:lvl3pPr>
            <a:lvl4pPr marL="1028700" indent="0">
              <a:lnSpc>
                <a:spcPct val="100000"/>
              </a:lnSpc>
              <a:buNone/>
              <a:defRPr sz="1050" spc="38" baseline="0"/>
            </a:lvl4pPr>
            <a:lvl5pPr marL="1371600" indent="0">
              <a:lnSpc>
                <a:spcPct val="100000"/>
              </a:lnSpc>
              <a:buNone/>
              <a:defRPr sz="1050" spc="38" baseline="0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26" name="內容版面配置區 10">
            <a:extLst>
              <a:ext uri="{FF2B5EF4-FFF2-40B4-BE49-F238E27FC236}">
                <a16:creationId xmlns:a16="http://schemas.microsoft.com/office/drawing/2014/main" id="{CCA3A81E-171B-4946-B8BA-B2F406CF093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945241" y="2118642"/>
            <a:ext cx="1392174" cy="1664208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</a:lstStyle>
          <a:p>
            <a:pPr lvl="0" rtl="0"/>
            <a:r>
              <a:rPr lang="zh-TW" altLang="en-US" noProof="0"/>
              <a:t>按一下以新增內容</a:t>
            </a:r>
          </a:p>
        </p:txBody>
      </p:sp>
      <p:sp>
        <p:nvSpPr>
          <p:cNvPr id="14" name="文字版面配置區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6767308" y="3788460"/>
            <a:ext cx="1748045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2400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en-US" altLang="zh-TW" noProof="0"/>
              <a:t>#</a:t>
            </a:r>
          </a:p>
        </p:txBody>
      </p:sp>
      <p:sp>
        <p:nvSpPr>
          <p:cNvPr id="23" name="文字版面配置區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6767308" y="4464461"/>
            <a:ext cx="1748045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050" kern="1200" spc="113" baseline="0" dirty="0" smtClean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15" name="內容版面配置區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767308" y="5120373"/>
            <a:ext cx="1748045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050" spc="38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lnSpc>
                <a:spcPct val="100000"/>
              </a:lnSpc>
              <a:buNone/>
              <a:defRPr sz="1050" spc="38" baseline="0"/>
            </a:lvl2pPr>
            <a:lvl3pPr marL="685800" indent="0">
              <a:lnSpc>
                <a:spcPct val="100000"/>
              </a:lnSpc>
              <a:buNone/>
              <a:defRPr sz="1050" spc="38" baseline="0"/>
            </a:lvl3pPr>
            <a:lvl4pPr marL="1028700" indent="0">
              <a:lnSpc>
                <a:spcPct val="100000"/>
              </a:lnSpc>
              <a:buNone/>
              <a:defRPr sz="1050" spc="38" baseline="0"/>
            </a:lvl4pPr>
            <a:lvl5pPr marL="1371600" indent="0">
              <a:lnSpc>
                <a:spcPct val="100000"/>
              </a:lnSpc>
              <a:buNone/>
              <a:defRPr sz="1050" spc="38" baseline="0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B5CEABB6-07DC-46E8-9B57-56EC44A396E5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摘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7659" y="1671639"/>
            <a:ext cx="3833813" cy="1204912"/>
          </a:xfrm>
        </p:spPr>
        <p:txBody>
          <a:bodyPr rtlCol="0" anchor="b">
            <a:normAutofit/>
          </a:bodyPr>
          <a:lstStyle>
            <a:lvl1pPr>
              <a:defRPr lang="en-US" sz="2100" kern="1200" cap="all" spc="113" baseline="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  <a:cs typeface="+mj-cs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07659" y="3682546"/>
            <a:ext cx="3833813" cy="1525588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1050" spc="38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cxnSp>
        <p:nvCxnSpPr>
          <p:cNvPr id="23" name="直線接點​​(S)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2" y="876307"/>
            <a:ext cx="3571875" cy="16287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​​(S)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1978820" y="7"/>
            <a:ext cx="1593057" cy="51863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日期版面配置區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7"/>
            <a:ext cx="2057400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22" name="頁尾版面配置區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7"/>
            <a:ext cx="3086100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24" name="投影片編號版面配置區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7"/>
            <a:ext cx="2057400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B5CEABB6-07DC-46E8-9B57-56EC44A396E5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25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結語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1" y="1615743"/>
            <a:ext cx="3134678" cy="1524735"/>
          </a:xfrm>
        </p:spPr>
        <p:txBody>
          <a:bodyPr rtlCol="0" anchor="b">
            <a:noAutofit/>
          </a:bodyPr>
          <a:lstStyle>
            <a:lvl1pPr algn="l">
              <a:defRPr sz="2400" spc="113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00401" y="3238110"/>
            <a:ext cx="3134678" cy="2004161"/>
          </a:xfrm>
        </p:spPr>
        <p:txBody>
          <a:bodyPr rtlCol="0">
            <a:normAutofit/>
          </a:bodyPr>
          <a:lstStyle>
            <a:lvl1pPr marL="0" indent="0" algn="l">
              <a:lnSpc>
                <a:spcPct val="150000"/>
              </a:lnSpc>
              <a:buNone/>
              <a:defRPr sz="1050" spc="38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pic>
        <p:nvPicPr>
          <p:cNvPr id="6" name="圖形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2382704" cy="6858000"/>
          </a:xfrm>
          <a:prstGeom prst="rect">
            <a:avLst/>
          </a:prstGeom>
        </p:spPr>
      </p:pic>
      <p:sp>
        <p:nvSpPr>
          <p:cNvPr id="9" name="日期版面配置區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0401" y="6356357"/>
            <a:ext cx="1330778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10" name="頁尾版面配置區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59793" y="6356357"/>
            <a:ext cx="1996168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11" name="投影片編號版面配置區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84572" y="6356357"/>
            <a:ext cx="1330778" cy="365125"/>
          </a:xfrm>
        </p:spPr>
        <p:txBody>
          <a:bodyPr rtlCol="0"/>
          <a:lstStyle>
            <a:lvl1pPr>
              <a:defRPr sz="67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B5CEABB6-07DC-46E8-9B57-56EC44A396E5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7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>
                <a:solidFill>
                  <a:schemeClr val="tx1">
                    <a:tint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B5CEABB6-07DC-46E8-9B57-56EC44A396E5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700" r:id="rId12"/>
    <p:sldLayoutId id="2147483679" r:id="rId13"/>
    <p:sldLayoutId id="2147483692" r:id="rId14"/>
    <p:sldLayoutId id="2147483681" r:id="rId15"/>
    <p:sldLayoutId id="2147483674" r:id="rId16"/>
    <p:sldLayoutId id="2147483675" r:id="rId17"/>
    <p:sldLayoutId id="2147483696" r:id="rId18"/>
    <p:sldLayoutId id="2147483677" r:id="rId19"/>
    <p:sldLayoutId id="2147483678" r:id="rId20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 cap="all" baseline="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8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7237" y="2317174"/>
            <a:ext cx="6909954" cy="1608090"/>
          </a:xfrm>
        </p:spPr>
        <p:txBody>
          <a:bodyPr rtlCol="0">
            <a:noAutofit/>
          </a:bodyPr>
          <a:lstStyle/>
          <a:p>
            <a:pPr algn="just"/>
            <a:r>
              <a:rPr lang="zh-TW" altLang="zh-TW" sz="3600" dirty="0"/>
              <a:t>基於對抗式攻擊與情資平台之</a:t>
            </a:r>
            <a:r>
              <a:rPr lang="en-US" altLang="zh-TW" sz="3600" dirty="0"/>
              <a:t> HTTP/3 </a:t>
            </a:r>
            <a:r>
              <a:rPr lang="zh-TW" altLang="zh-TW" sz="3600" dirty="0"/>
              <a:t>加密流量自動化安全防禦框架</a:t>
            </a:r>
            <a:endParaRPr lang="zh-TW" altLang="en-US" sz="3600" dirty="0"/>
          </a:p>
        </p:txBody>
      </p:sp>
      <p:sp>
        <p:nvSpPr>
          <p:cNvPr id="10" name="文字版面配置區 9">
            <a:extLst>
              <a:ext uri="{FF2B5EF4-FFF2-40B4-BE49-F238E27FC236}">
                <a16:creationId xmlns:a16="http://schemas.microsoft.com/office/drawing/2014/main" id="{D723BB82-24E0-21F6-0763-4B89733402E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752595" y="4205223"/>
            <a:ext cx="5123714" cy="1504181"/>
          </a:xfrm>
        </p:spPr>
        <p:txBody>
          <a:bodyPr>
            <a:noAutofit/>
          </a:bodyPr>
          <a:lstStyle/>
          <a:p>
            <a:r>
              <a:rPr lang="zh-TW" altLang="en-US" sz="2400" dirty="0"/>
              <a:t>指導教授：王智弘教授</a:t>
            </a:r>
            <a:endParaRPr lang="en-US" altLang="zh-TW" sz="2400" dirty="0"/>
          </a:p>
          <a:p>
            <a:r>
              <a:rPr lang="zh-TW" altLang="en-US" sz="2400" dirty="0"/>
              <a:t>組員資訊：</a:t>
            </a:r>
            <a:r>
              <a:rPr lang="en-US" altLang="zh-TW" sz="2400" dirty="0"/>
              <a:t>1122931</a:t>
            </a:r>
            <a:r>
              <a:rPr lang="zh-TW" altLang="en-US" sz="2400" dirty="0"/>
              <a:t> 莊博</a:t>
            </a:r>
            <a:endParaRPr lang="en-US" altLang="zh-TW" sz="2400" dirty="0"/>
          </a:p>
          <a:p>
            <a:r>
              <a:rPr lang="en-US" altLang="zh-TW" sz="2400" dirty="0"/>
              <a:t>		</a:t>
            </a:r>
            <a:r>
              <a:rPr lang="zh-TW" altLang="en-US" sz="2400" dirty="0"/>
              <a:t>  </a:t>
            </a:r>
            <a:r>
              <a:rPr lang="en-US" altLang="zh-TW" sz="2400" dirty="0"/>
              <a:t>1122930</a:t>
            </a:r>
            <a:r>
              <a:rPr lang="zh-TW" altLang="en-US" sz="2400" dirty="0"/>
              <a:t> 闕帝軒</a:t>
            </a:r>
            <a:endParaRPr lang="en-US" altLang="zh-TW" sz="2400" dirty="0"/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9A9ACD-BD44-004B-135E-E820AB04F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14400"/>
            <a:ext cx="7886700" cy="893024"/>
          </a:xfrm>
        </p:spPr>
        <p:txBody>
          <a:bodyPr anchor="ctr">
            <a:normAutofit/>
          </a:bodyPr>
          <a:lstStyle/>
          <a:p>
            <a:r>
              <a:rPr lang="zh-TW" altLang="en-US" sz="3600" dirty="0"/>
              <a:t>研究動機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B098B2-35B8-AC37-487E-26E1D383F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7"/>
            <a:ext cx="2057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altLang="zh-TW" noProof="0" smtClean="0"/>
              <a:pPr>
                <a:spcAft>
                  <a:spcPts val="600"/>
                </a:spcAft>
              </a:pPr>
              <a:t>2</a:t>
            </a:fld>
            <a:endParaRPr lang="zh-TW" altLang="en-US" noProof="0" dirty="0"/>
          </a:p>
        </p:txBody>
      </p:sp>
      <p:graphicFrame>
        <p:nvGraphicFramePr>
          <p:cNvPr id="12" name="Rectangle 2">
            <a:extLst>
              <a:ext uri="{FF2B5EF4-FFF2-40B4-BE49-F238E27FC236}">
                <a16:creationId xmlns:a16="http://schemas.microsoft.com/office/drawing/2014/main" id="{7506A803-41FA-90C3-76AD-C22ABD5FEF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46171045"/>
              </p:ext>
            </p:extLst>
          </p:nvPr>
        </p:nvGraphicFramePr>
        <p:xfrm>
          <a:off x="628650" y="1807423"/>
          <a:ext cx="7886700" cy="44271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8892631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9424AE-6F6E-8078-FD3E-A0F286950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96302"/>
            <a:ext cx="7886700" cy="954516"/>
          </a:xfrm>
        </p:spPr>
        <p:txBody>
          <a:bodyPr anchor="ctr">
            <a:normAutofit/>
          </a:bodyPr>
          <a:lstStyle/>
          <a:p>
            <a:r>
              <a:rPr lang="zh-TW" altLang="en-US" sz="3600" dirty="0"/>
              <a:t>文獻</a:t>
            </a:r>
            <a:r>
              <a:rPr lang="en-US" altLang="zh-TW" sz="3600" dirty="0"/>
              <a:t>/</a:t>
            </a:r>
            <a:r>
              <a:rPr lang="zh-TW" altLang="en-US" sz="3600" dirty="0"/>
              <a:t>既有系統服務探討 </a:t>
            </a:r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C9E3769-B283-81F0-D7E3-435216CA1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7"/>
            <a:ext cx="2057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altLang="zh-TW" noProof="0" smtClean="0"/>
              <a:pPr>
                <a:spcAft>
                  <a:spcPts val="600"/>
                </a:spcAft>
              </a:pPr>
              <a:t>3</a:t>
            </a:fld>
            <a:endParaRPr lang="zh-TW" altLang="en-US" noProof="0"/>
          </a:p>
        </p:txBody>
      </p:sp>
      <p:graphicFrame>
        <p:nvGraphicFramePr>
          <p:cNvPr id="12" name="Rectangle 1">
            <a:extLst>
              <a:ext uri="{FF2B5EF4-FFF2-40B4-BE49-F238E27FC236}">
                <a16:creationId xmlns:a16="http://schemas.microsoft.com/office/drawing/2014/main" id="{E267831E-7FD5-0E24-8A71-18469D93AE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24974227"/>
              </p:ext>
            </p:extLst>
          </p:nvPr>
        </p:nvGraphicFramePr>
        <p:xfrm>
          <a:off x="628650" y="1350818"/>
          <a:ext cx="7886700" cy="49045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789174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76643D-E223-F84E-6DD2-0D71BF01D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855" y="525326"/>
            <a:ext cx="8364681" cy="661546"/>
          </a:xfrm>
        </p:spPr>
        <p:txBody>
          <a:bodyPr anchor="ctr">
            <a:noAutofit/>
          </a:bodyPr>
          <a:lstStyle/>
          <a:p>
            <a:r>
              <a:rPr lang="zh-TW" altLang="en-US" sz="3600" dirty="0"/>
              <a:t>預計提出的方法與系統開發的相關技術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9423259-13EC-B990-93C8-5B99BD83157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61563" y="1361937"/>
            <a:ext cx="7886699" cy="1556477"/>
          </a:xfrm>
        </p:spPr>
        <p:txBody>
          <a:bodyPr>
            <a:noAutofit/>
          </a:bodyPr>
          <a:lstStyle/>
          <a:p>
            <a:pPr algn="just">
              <a:lnSpc>
                <a:spcPts val="3000"/>
              </a:lnSpc>
              <a:spcBef>
                <a:spcPts val="1000"/>
              </a:spcBef>
            </a:pPr>
            <a:r>
              <a:rPr lang="zh-TW" altLang="en-US" sz="2000" dirty="0">
                <a:latin typeface="+mn-lt"/>
              </a:rPr>
              <a:t>本系統採用混合式防禦架構，結合威脅情資、非監督式深度學習與 </a:t>
            </a:r>
            <a:r>
              <a:rPr lang="en-US" altLang="zh-TW" sz="2000" dirty="0">
                <a:latin typeface="+mn-lt"/>
              </a:rPr>
              <a:t>SOAR </a:t>
            </a:r>
            <a:r>
              <a:rPr lang="zh-TW" altLang="en-US" sz="2000" dirty="0">
                <a:latin typeface="+mn-lt"/>
              </a:rPr>
              <a:t>機制。我們將使用 </a:t>
            </a:r>
            <a:r>
              <a:rPr lang="en-US" altLang="zh-TW" sz="2000" dirty="0">
                <a:latin typeface="+mn-lt"/>
              </a:rPr>
              <a:t>Ubuntu </a:t>
            </a:r>
            <a:r>
              <a:rPr lang="zh-TW" altLang="en-US" sz="2000" dirty="0">
                <a:latin typeface="+mn-lt"/>
              </a:rPr>
              <a:t>作為操作系統，並以 </a:t>
            </a:r>
            <a:r>
              <a:rPr lang="en-US" altLang="zh-TW" sz="2000" dirty="0">
                <a:latin typeface="+mn-lt"/>
              </a:rPr>
              <a:t>Python (</a:t>
            </a:r>
            <a:r>
              <a:rPr lang="en-US" altLang="zh-TW" sz="2000" dirty="0" err="1">
                <a:latin typeface="+mn-lt"/>
              </a:rPr>
              <a:t>aioquic</a:t>
            </a:r>
            <a:r>
              <a:rPr lang="en-US" altLang="zh-TW" sz="2000" dirty="0">
                <a:latin typeface="+mn-lt"/>
              </a:rPr>
              <a:t>) </a:t>
            </a:r>
            <a:r>
              <a:rPr lang="zh-TW" altLang="en-US" sz="2000" dirty="0">
                <a:latin typeface="+mn-lt"/>
              </a:rPr>
              <a:t>搭配 </a:t>
            </a:r>
            <a:r>
              <a:rPr lang="en-US" altLang="zh-TW" sz="2000" dirty="0">
                <a:latin typeface="+mn-lt"/>
              </a:rPr>
              <a:t>Python (</a:t>
            </a:r>
            <a:r>
              <a:rPr lang="en-US" altLang="zh-TW" sz="2000" dirty="0" err="1">
                <a:latin typeface="+mn-lt"/>
              </a:rPr>
              <a:t>Scapy</a:t>
            </a:r>
            <a:r>
              <a:rPr lang="en-US" altLang="zh-TW" sz="2000" dirty="0">
                <a:latin typeface="+mn-lt"/>
              </a:rPr>
              <a:t>) </a:t>
            </a:r>
            <a:r>
              <a:rPr lang="zh-TW" altLang="en-US" sz="2000" dirty="0">
                <a:latin typeface="+mn-lt"/>
              </a:rPr>
              <a:t>進行虛擬環境中的封包側錄與特徵收集。深度學習模型擬使用 </a:t>
            </a:r>
            <a:r>
              <a:rPr lang="en-US" altLang="zh-TW" sz="2000" dirty="0" err="1">
                <a:latin typeface="+mn-lt"/>
              </a:rPr>
              <a:t>PyTorch</a:t>
            </a:r>
            <a:r>
              <a:rPr lang="en-US" altLang="zh-TW" sz="2000" dirty="0">
                <a:latin typeface="+mn-lt"/>
              </a:rPr>
              <a:t> </a:t>
            </a:r>
            <a:r>
              <a:rPr lang="zh-TW" altLang="en-US" sz="2000" dirty="0">
                <a:latin typeface="+mn-lt"/>
              </a:rPr>
              <a:t>框架開發，威脅情資平台則透過 </a:t>
            </a:r>
            <a:r>
              <a:rPr lang="en-US" altLang="zh-TW" sz="2000" dirty="0">
                <a:latin typeface="+mn-lt"/>
              </a:rPr>
              <a:t>Docker </a:t>
            </a:r>
            <a:r>
              <a:rPr lang="zh-TW" altLang="en-US" sz="2000" dirty="0">
                <a:latin typeface="+mn-lt"/>
              </a:rPr>
              <a:t>容器化部署 </a:t>
            </a:r>
            <a:r>
              <a:rPr lang="en-US" altLang="zh-TW" sz="2000" dirty="0">
                <a:latin typeface="+mn-lt"/>
              </a:rPr>
              <a:t>MISP</a:t>
            </a:r>
            <a:r>
              <a:rPr lang="zh-TW" altLang="en-US" sz="2000" dirty="0">
                <a:latin typeface="+mn-lt"/>
              </a:rPr>
              <a:t>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EACD76-83DB-53FD-B226-DFCDEDDC4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7"/>
            <a:ext cx="2057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altLang="zh-TW" noProof="0" smtClean="0"/>
              <a:pPr>
                <a:spcAft>
                  <a:spcPts val="600"/>
                </a:spcAft>
              </a:pPr>
              <a:t>4</a:t>
            </a:fld>
            <a:endParaRPr lang="zh-TW" altLang="en-US" noProof="0"/>
          </a:p>
        </p:txBody>
      </p:sp>
      <p:graphicFrame>
        <p:nvGraphicFramePr>
          <p:cNvPr id="7" name="Rectangle 1">
            <a:extLst>
              <a:ext uri="{FF2B5EF4-FFF2-40B4-BE49-F238E27FC236}">
                <a16:creationId xmlns:a16="http://schemas.microsoft.com/office/drawing/2014/main" id="{E5B68EF6-532F-7577-BD3E-590017701463}"/>
              </a:ext>
            </a:extLst>
          </p:cNvPr>
          <p:cNvGraphicFramePr>
            <a:graphicFrameLocks noGrp="1"/>
          </p:cNvGraphicFramePr>
          <p:nvPr>
            <p:ph type="chart" sz="quarter" idx="13"/>
            <p:extLst>
              <p:ext uri="{D42A27DB-BD31-4B8C-83A1-F6EECF244321}">
                <p14:modId xmlns:p14="http://schemas.microsoft.com/office/powerpoint/2010/main" val="333611980"/>
              </p:ext>
            </p:extLst>
          </p:nvPr>
        </p:nvGraphicFramePr>
        <p:xfrm>
          <a:off x="462395" y="3335481"/>
          <a:ext cx="8219209" cy="31247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217067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F5C2FF-18A5-891B-2571-83C76573B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54" y="578470"/>
            <a:ext cx="8260773" cy="687233"/>
          </a:xfrm>
        </p:spPr>
        <p:txBody>
          <a:bodyPr anchor="ctr">
            <a:noAutofit/>
          </a:bodyPr>
          <a:lstStyle/>
          <a:p>
            <a:r>
              <a:rPr lang="zh-TW" altLang="en-US" sz="3600" dirty="0"/>
              <a:t>預計提出的方法與系統開發的相關技術</a:t>
            </a:r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E5433A1F-8D0E-5BEC-A279-090DB49AE9E0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683554" y="1340052"/>
            <a:ext cx="7776892" cy="2415877"/>
          </a:xfr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0" rIns="91440" bIns="45720" numCol="1" anchorCtr="0" compatLnSpc="1">
            <a:prstTxWarp prst="textNoShape">
              <a:avLst/>
            </a:prstTxWarp>
            <a:noAutofit/>
          </a:bodyPr>
          <a:lstStyle/>
          <a:p>
            <a:pPr marL="0" marR="0" lvl="0" indent="0" algn="just" defTabSz="914400" fontAlgn="base">
              <a:spcBef>
                <a:spcPts val="1000"/>
              </a:spcBef>
              <a:buClrTx/>
              <a:buSzTx/>
              <a:buFontTx/>
              <a:buChar char="•"/>
              <a:tabLst/>
            </a:pPr>
            <a:r>
              <a:rPr kumimoji="0" lang="zh-TW" altLang="en-US" sz="2000" b="1" i="0" u="none" strike="noStrike" kern="1200" cap="none" normalizeH="0" baseline="0" dirty="0">
                <a:ln>
                  <a:noFill/>
                </a:ln>
                <a:effectLst/>
              </a:rPr>
              <a:t>預過濾模組</a:t>
            </a:r>
            <a:r>
              <a:rPr kumimoji="0" lang="zh-TW" altLang="en-US" sz="2000" b="0" i="0" u="none" strike="noStrike" kern="1200" cap="none" normalizeH="0" baseline="0" dirty="0">
                <a:ln>
                  <a:noFill/>
                </a:ln>
                <a:effectLst/>
              </a:rPr>
              <a:t>：提取來源 </a:t>
            </a:r>
            <a:r>
              <a:rPr kumimoji="0" lang="en-US" altLang="zh-TW" sz="2000" b="0" i="0" u="none" strike="noStrike" kern="1200" cap="none" normalizeH="0" baseline="0" dirty="0">
                <a:ln>
                  <a:noFill/>
                </a:ln>
                <a:effectLst/>
              </a:rPr>
              <a:t>IP</a:t>
            </a:r>
            <a:r>
              <a:rPr kumimoji="0" lang="zh-TW" altLang="en-US" sz="2000" b="0" i="0" u="none" strike="noStrike" kern="1200" cap="none" normalizeH="0" baseline="0" dirty="0">
                <a:ln>
                  <a:noFill/>
                </a:ln>
                <a:effectLst/>
              </a:rPr>
              <a:t>，即時比對自建的 </a:t>
            </a:r>
            <a:r>
              <a:rPr kumimoji="0" lang="en-US" altLang="zh-TW" sz="2000" b="0" i="0" u="none" strike="noStrike" kern="1200" cap="none" normalizeH="0" baseline="0" dirty="0">
                <a:ln>
                  <a:noFill/>
                </a:ln>
                <a:effectLst/>
              </a:rPr>
              <a:t>MISP </a:t>
            </a:r>
            <a:r>
              <a:rPr kumimoji="0" lang="zh-TW" altLang="en-US" sz="2000" b="0" i="0" u="none" strike="noStrike" kern="1200" cap="none" normalizeH="0" baseline="0" dirty="0">
                <a:ln>
                  <a:noFill/>
                </a:ln>
                <a:effectLst/>
              </a:rPr>
              <a:t>情資平台。若命中黑名單直接阻斷，大幅降低後端 </a:t>
            </a:r>
            <a:r>
              <a:rPr kumimoji="0" lang="en-US" altLang="zh-TW" sz="2000" b="0" i="0" u="none" strike="noStrike" kern="1200" cap="none" normalizeH="0" baseline="0" dirty="0">
                <a:ln>
                  <a:noFill/>
                </a:ln>
                <a:effectLst/>
              </a:rPr>
              <a:t>AI </a:t>
            </a:r>
            <a:r>
              <a:rPr kumimoji="0" lang="zh-TW" altLang="en-US" sz="2000" b="0" i="0" u="none" strike="noStrike" kern="1200" cap="none" normalizeH="0" baseline="0" dirty="0">
                <a:ln>
                  <a:noFill/>
                </a:ln>
                <a:effectLst/>
              </a:rPr>
              <a:t>運算負載 。</a:t>
            </a:r>
          </a:p>
          <a:p>
            <a:pPr marL="0" marR="0" lvl="0" indent="0" algn="just" defTabSz="914400" fontAlgn="base">
              <a:spcBef>
                <a:spcPts val="1000"/>
              </a:spcBef>
              <a:buClrTx/>
              <a:buSzTx/>
              <a:buFontTx/>
              <a:buChar char="•"/>
              <a:tabLst/>
            </a:pPr>
            <a:r>
              <a:rPr kumimoji="0" lang="zh-TW" altLang="en-US" sz="2000" b="1" i="0" u="none" strike="noStrike" kern="1200" cap="none" normalizeH="0" baseline="0" dirty="0">
                <a:ln>
                  <a:noFill/>
                </a:ln>
                <a:effectLst/>
              </a:rPr>
              <a:t>異常偵測模型</a:t>
            </a:r>
            <a:r>
              <a:rPr kumimoji="0" lang="zh-TW" altLang="en-US" sz="2000" b="0" i="0" u="none" strike="noStrike" kern="1200" cap="none" normalizeH="0" baseline="0" dirty="0">
                <a:ln>
                  <a:noFill/>
                </a:ln>
                <a:effectLst/>
              </a:rPr>
              <a:t>：針對未知流量提取特徵並輸入非監督式模型。模型僅學習正常流量，當遭遇攻擊特徵時將產生高重構誤差 </a:t>
            </a:r>
            <a:r>
              <a:rPr kumimoji="0" lang="en-US" altLang="zh-TW" sz="2000" b="0" i="0" u="none" strike="noStrike" kern="1200" cap="none" normalizeH="0" baseline="0" dirty="0">
                <a:ln>
                  <a:noFill/>
                </a:ln>
                <a:effectLst/>
              </a:rPr>
              <a:t>(Reconstruction Error)</a:t>
            </a:r>
            <a:r>
              <a:rPr kumimoji="0" lang="zh-TW" altLang="en-US" sz="2000" b="0" i="0" u="none" strike="noStrike" kern="1200" cap="none" normalizeH="0" baseline="0" dirty="0">
                <a:ln>
                  <a:noFill/>
                </a:ln>
                <a:effectLst/>
              </a:rPr>
              <a:t>，藉此判定為異常。</a:t>
            </a:r>
          </a:p>
          <a:p>
            <a:pPr marL="0" marR="0" lvl="0" indent="0" algn="just" defTabSz="914400" fontAlgn="base">
              <a:spcBef>
                <a:spcPts val="1000"/>
              </a:spcBef>
              <a:buClrTx/>
              <a:buSzTx/>
              <a:buFontTx/>
              <a:buChar char="•"/>
              <a:tabLst/>
            </a:pPr>
            <a:r>
              <a:rPr kumimoji="0" lang="zh-TW" altLang="en-US" sz="2000" b="1" i="0" u="none" strike="noStrike" kern="1200" cap="none" normalizeH="0" baseline="0" dirty="0">
                <a:ln>
                  <a:noFill/>
                </a:ln>
                <a:effectLst/>
              </a:rPr>
              <a:t>自動化回應模組</a:t>
            </a:r>
            <a:r>
              <a:rPr kumimoji="0" lang="zh-TW" altLang="en-US" sz="2000" b="0" i="0" u="none" strike="noStrike" kern="1200" cap="none" normalizeH="0" baseline="0" dirty="0">
                <a:ln>
                  <a:noFill/>
                </a:ln>
                <a:effectLst/>
              </a:rPr>
              <a:t>：判定為惡意後，觸發控制器透過 </a:t>
            </a:r>
            <a:r>
              <a:rPr kumimoji="0" lang="en-US" altLang="zh-TW" sz="2000" b="0" i="0" u="none" strike="noStrike" kern="1200" cap="none" normalizeH="0" baseline="0" dirty="0">
                <a:ln>
                  <a:noFill/>
                </a:ln>
                <a:effectLst/>
              </a:rPr>
              <a:t>Linux iptables </a:t>
            </a:r>
            <a:r>
              <a:rPr kumimoji="0" lang="zh-TW" altLang="en-US" sz="2000" b="0" i="0" u="none" strike="noStrike" kern="1200" cap="none" normalizeH="0" baseline="0" dirty="0">
                <a:ln>
                  <a:noFill/>
                </a:ln>
                <a:effectLst/>
              </a:rPr>
              <a:t>發送阻斷規則，並將新威脅指標 </a:t>
            </a:r>
            <a:r>
              <a:rPr kumimoji="0" lang="en-US" altLang="zh-TW" sz="2000" b="0" i="0" u="none" strike="noStrike" kern="1200" cap="none" normalizeH="0" baseline="0" dirty="0">
                <a:ln>
                  <a:noFill/>
                </a:ln>
                <a:effectLst/>
              </a:rPr>
              <a:t>(IoC) </a:t>
            </a:r>
            <a:r>
              <a:rPr kumimoji="0" lang="zh-TW" altLang="en-US" sz="2000" b="0" i="0" u="none" strike="noStrike" kern="1200" cap="none" normalizeH="0" baseline="0" dirty="0">
                <a:ln>
                  <a:noFill/>
                </a:ln>
                <a:effectLst/>
              </a:rPr>
              <a:t>回寫至 </a:t>
            </a:r>
            <a:r>
              <a:rPr kumimoji="0" lang="en-US" altLang="zh-TW" sz="2000" b="0" i="0" u="none" strike="noStrike" kern="1200" cap="none" normalizeH="0" baseline="0" dirty="0">
                <a:ln>
                  <a:noFill/>
                </a:ln>
                <a:effectLst/>
              </a:rPr>
              <a:t>MISP</a:t>
            </a:r>
            <a:r>
              <a:rPr kumimoji="0" lang="zh-TW" altLang="en-US" sz="2000" b="0" i="0" u="none" strike="noStrike" kern="1200" cap="none" normalizeH="0" baseline="0" dirty="0">
                <a:ln>
                  <a:noFill/>
                </a:ln>
                <a:effectLst/>
              </a:rPr>
              <a:t>。</a:t>
            </a:r>
            <a:endParaRPr kumimoji="0" lang="en-US" altLang="zh-TW" sz="2000" b="0" i="0" u="none" strike="noStrike" kern="1200" cap="none" normalizeH="0" baseline="0" dirty="0">
              <a:ln>
                <a:noFill/>
              </a:ln>
              <a:effectLst/>
            </a:endParaRPr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603139E4-D8F1-3C91-66BD-6099D6DBD08C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/>
          <a:stretch/>
        </p:blipFill>
        <p:spPr>
          <a:xfrm>
            <a:off x="1836767" y="3864143"/>
            <a:ext cx="5218660" cy="2857339"/>
          </a:xfrm>
          <a:prstGeom prst="rect">
            <a:avLst/>
          </a:prstGeom>
          <a:noFill/>
        </p:spPr>
      </p:pic>
      <p:sp>
        <p:nvSpPr>
          <p:cNvPr id="22" name="Slide Number Placeholder 6">
            <a:extLst>
              <a:ext uri="{FF2B5EF4-FFF2-40B4-BE49-F238E27FC236}">
                <a16:creationId xmlns:a16="http://schemas.microsoft.com/office/drawing/2014/main" id="{DF1FAE78-9F3E-A2B5-916F-B007882E9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altLang="zh-TW" noProof="0" smtClean="0"/>
              <a:pPr>
                <a:spcAft>
                  <a:spcPts val="600"/>
                </a:spcAft>
              </a:pPr>
              <a:t>5</a:t>
            </a:fld>
            <a:endParaRPr lang="zh-TW" altLang="en-US" noProof="0"/>
          </a:p>
        </p:txBody>
      </p:sp>
      <p:sp>
        <p:nvSpPr>
          <p:cNvPr id="7" name="投影片編號版面配置區 6" hidden="1">
            <a:extLst>
              <a:ext uri="{FF2B5EF4-FFF2-40B4-BE49-F238E27FC236}">
                <a16:creationId xmlns:a16="http://schemas.microsoft.com/office/drawing/2014/main" id="{85B749D5-19B1-A21B-BCA6-0CAA8F7367D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86600" y="6356350"/>
            <a:ext cx="20574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altLang="zh-TW" noProof="0" smtClean="0"/>
              <a:pPr>
                <a:spcAft>
                  <a:spcPts val="600"/>
                </a:spcAft>
              </a:pPr>
              <a:t>5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272275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897EBB-022D-770F-A36B-763BC171A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20993"/>
            <a:ext cx="7886700" cy="809044"/>
          </a:xfrm>
        </p:spPr>
        <p:txBody>
          <a:bodyPr>
            <a:normAutofit/>
          </a:bodyPr>
          <a:lstStyle/>
          <a:p>
            <a:r>
              <a:rPr lang="en-US" altLang="zh-TW" sz="3600" dirty="0"/>
              <a:t>SWOT </a:t>
            </a:r>
            <a:r>
              <a:rPr lang="zh-TW" altLang="en-US" sz="3600" dirty="0"/>
              <a:t>分析</a:t>
            </a:r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FFCDC166-50E5-59A9-3BBA-CEDEF19B9A15}"/>
              </a:ext>
            </a:extLst>
          </p:cNvPr>
          <p:cNvGrpSpPr/>
          <p:nvPr/>
        </p:nvGrpSpPr>
        <p:grpSpPr>
          <a:xfrm>
            <a:off x="628648" y="1652152"/>
            <a:ext cx="7886702" cy="4540256"/>
            <a:chOff x="628648" y="1652152"/>
            <a:chExt cx="7886702" cy="4540256"/>
          </a:xfrm>
        </p:grpSpPr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C21D6179-ED90-E8A8-40FF-3953113BE806}"/>
                </a:ext>
              </a:extLst>
            </p:cNvPr>
            <p:cNvSpPr/>
            <p:nvPr/>
          </p:nvSpPr>
          <p:spPr>
            <a:xfrm>
              <a:off x="628648" y="1652152"/>
              <a:ext cx="3943352" cy="2270131"/>
            </a:xfrm>
            <a:custGeom>
              <a:avLst/>
              <a:gdLst>
                <a:gd name="csX0" fmla="*/ 0 w 1847850"/>
                <a:gd name="csY0" fmla="*/ 0 h 3943350"/>
                <a:gd name="csX1" fmla="*/ 1539869 w 1847850"/>
                <a:gd name="csY1" fmla="*/ 0 h 3943350"/>
                <a:gd name="csX2" fmla="*/ 1847850 w 1847850"/>
                <a:gd name="csY2" fmla="*/ 307981 h 3943350"/>
                <a:gd name="csX3" fmla="*/ 1847850 w 1847850"/>
                <a:gd name="csY3" fmla="*/ 3943350 h 3943350"/>
                <a:gd name="csX4" fmla="*/ 0 w 1847850"/>
                <a:gd name="csY4" fmla="*/ 3943350 h 3943350"/>
                <a:gd name="csX5" fmla="*/ 0 w 1847850"/>
                <a:gd name="csY5" fmla="*/ 0 h 3943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847850" h="3943350">
                  <a:moveTo>
                    <a:pt x="0" y="3943349"/>
                  </a:moveTo>
                  <a:lnTo>
                    <a:pt x="0" y="657239"/>
                  </a:lnTo>
                  <a:cubicBezTo>
                    <a:pt x="0" y="294257"/>
                    <a:pt x="64614" y="1"/>
                    <a:pt x="144320" y="1"/>
                  </a:cubicBezTo>
                  <a:lnTo>
                    <a:pt x="1847850" y="1"/>
                  </a:lnTo>
                  <a:lnTo>
                    <a:pt x="1847850" y="3943349"/>
                  </a:lnTo>
                  <a:lnTo>
                    <a:pt x="0" y="3943349"/>
                  </a:lnTo>
                  <a:close/>
                </a:path>
              </a:pathLst>
            </a:custGeom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0"/>
                <a:satOff val="0"/>
                <a:lumOff val="0"/>
                <a:alphaOff val="0"/>
              </a:schemeClr>
            </a:fillRef>
            <a:effectRef idx="1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spcFirstLastPara="0" vert="horz" wrap="square" lIns="142239" tIns="142239" rIns="142240" bIns="604204" numCol="1" spcCol="1270" anchor="ctr" anchorCtr="0">
              <a:noAutofit/>
            </a:bodyPr>
            <a:lstStyle/>
            <a:p>
              <a:pPr marL="0" lvl="0" indent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altLang="zh-TW" sz="2000" b="1" kern="1200" dirty="0"/>
            </a:p>
            <a:p>
              <a:pPr marL="0" lvl="0" indent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zh-TW" altLang="en-US" sz="2000" b="1" kern="1200" dirty="0"/>
                <a:t>優勢 </a:t>
              </a:r>
              <a:r>
                <a:rPr lang="en-US" altLang="zh-TW" sz="2000" b="1" kern="1200" dirty="0"/>
                <a:t>(Strengths)</a:t>
              </a:r>
            </a:p>
            <a:p>
              <a:pPr marL="0" lvl="0" indent="0" algn="just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zh-TW" altLang="en-US" sz="2000" kern="1200" dirty="0"/>
                <a:t>能在不完整解密封包的前提下，精準識別並阻斷隱蔽的惡意 </a:t>
              </a:r>
              <a:r>
                <a:rPr lang="en-US" altLang="zh-TW" sz="2000" kern="1200" dirty="0"/>
                <a:t>QUIC </a:t>
              </a:r>
              <a:r>
                <a:rPr lang="zh-TW" altLang="en-US" sz="2000" kern="1200" dirty="0"/>
                <a:t>流量。整合 </a:t>
              </a:r>
              <a:r>
                <a:rPr lang="en-US" altLang="zh-TW" sz="2000" kern="1200" dirty="0"/>
                <a:t>SOAR </a:t>
              </a:r>
              <a:r>
                <a:rPr lang="zh-TW" altLang="en-US" sz="2000" kern="1200" dirty="0"/>
                <a:t>能自動化生成工單與處置，釋放分析師時間。</a:t>
              </a:r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6F0A0C63-87F8-9FAB-9752-8EE939B55A85}"/>
                </a:ext>
              </a:extLst>
            </p:cNvPr>
            <p:cNvSpPr/>
            <p:nvPr/>
          </p:nvSpPr>
          <p:spPr>
            <a:xfrm>
              <a:off x="4572000" y="1652153"/>
              <a:ext cx="3943350" cy="2270129"/>
            </a:xfrm>
            <a:custGeom>
              <a:avLst/>
              <a:gdLst>
                <a:gd name="csX0" fmla="*/ 0 w 3943350"/>
                <a:gd name="csY0" fmla="*/ 0 h 1847850"/>
                <a:gd name="csX1" fmla="*/ 3635369 w 3943350"/>
                <a:gd name="csY1" fmla="*/ 0 h 1847850"/>
                <a:gd name="csX2" fmla="*/ 3943350 w 3943350"/>
                <a:gd name="csY2" fmla="*/ 307981 h 1847850"/>
                <a:gd name="csX3" fmla="*/ 3943350 w 3943350"/>
                <a:gd name="csY3" fmla="*/ 1847850 h 1847850"/>
                <a:gd name="csX4" fmla="*/ 0 w 3943350"/>
                <a:gd name="csY4" fmla="*/ 1847850 h 1847850"/>
                <a:gd name="csX5" fmla="*/ 0 w 3943350"/>
                <a:gd name="csY5" fmla="*/ 0 h 18478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3943350" h="1847850">
                  <a:moveTo>
                    <a:pt x="0" y="0"/>
                  </a:moveTo>
                  <a:lnTo>
                    <a:pt x="3635369" y="0"/>
                  </a:lnTo>
                  <a:cubicBezTo>
                    <a:pt x="3805462" y="0"/>
                    <a:pt x="3943350" y="137888"/>
                    <a:pt x="3943350" y="307981"/>
                  </a:cubicBezTo>
                  <a:lnTo>
                    <a:pt x="3943350" y="1847850"/>
                  </a:lnTo>
                  <a:lnTo>
                    <a:pt x="0" y="1847850"/>
                  </a:lnTo>
                  <a:lnTo>
                    <a:pt x="0" y="0"/>
                  </a:lnTo>
                  <a:close/>
                </a:path>
              </a:pathLst>
            </a:custGeom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-485121"/>
                <a:satOff val="-27976"/>
                <a:lumOff val="2876"/>
                <a:alphaOff val="0"/>
              </a:schemeClr>
            </a:fillRef>
            <a:effectRef idx="1">
              <a:schemeClr val="accent2">
                <a:hueOff val="-485121"/>
                <a:satOff val="-27976"/>
                <a:lumOff val="2876"/>
                <a:alphaOff val="0"/>
              </a:schemeClr>
            </a:effectRef>
            <a:fontRef idx="minor">
              <a:schemeClr val="dk1"/>
            </a:fontRef>
          </p:style>
          <p:txBody>
            <a:bodyPr spcFirstLastPara="0" vert="horz" wrap="square" lIns="142240" tIns="142240" rIns="142240" bIns="604203" numCol="1" spcCol="1270" anchor="ctr" anchorCtr="0">
              <a:noAutofit/>
            </a:bodyPr>
            <a:lstStyle/>
            <a:p>
              <a:pPr marL="0" lvl="0" indent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zh-TW" altLang="en-US" sz="2000" b="1" kern="1200" dirty="0"/>
                <a:t>劣勢 </a:t>
              </a:r>
              <a:r>
                <a:rPr lang="en-US" altLang="zh-TW" sz="2000" b="1" kern="1200" dirty="0"/>
                <a:t>(Weaknesses)</a:t>
              </a:r>
              <a:r>
                <a:rPr lang="zh-TW" altLang="en-US" sz="2000" kern="1200" dirty="0"/>
                <a:t>：</a:t>
              </a:r>
              <a:endParaRPr lang="en-US" altLang="zh-TW" sz="2000" kern="1200" dirty="0"/>
            </a:p>
            <a:p>
              <a:pPr marL="0" lvl="0" indent="0" algn="just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zh-TW" altLang="en-US" sz="2000" kern="1200" dirty="0"/>
                <a:t>深度學習模型在處理高維度網絡數據時，運算量較大，可能面臨延遲挑戰。</a:t>
              </a:r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AF8B33CC-F6AF-0AC2-E801-38EE32E1BFBA}"/>
                </a:ext>
              </a:extLst>
            </p:cNvPr>
            <p:cNvSpPr/>
            <p:nvPr/>
          </p:nvSpPr>
          <p:spPr>
            <a:xfrm>
              <a:off x="628650" y="3922282"/>
              <a:ext cx="3943351" cy="2270126"/>
            </a:xfrm>
            <a:custGeom>
              <a:avLst/>
              <a:gdLst>
                <a:gd name="csX0" fmla="*/ 0 w 3943350"/>
                <a:gd name="csY0" fmla="*/ 0 h 1847850"/>
                <a:gd name="csX1" fmla="*/ 3635369 w 3943350"/>
                <a:gd name="csY1" fmla="*/ 0 h 1847850"/>
                <a:gd name="csX2" fmla="*/ 3943350 w 3943350"/>
                <a:gd name="csY2" fmla="*/ 307981 h 1847850"/>
                <a:gd name="csX3" fmla="*/ 3943350 w 3943350"/>
                <a:gd name="csY3" fmla="*/ 1847850 h 1847850"/>
                <a:gd name="csX4" fmla="*/ 0 w 3943350"/>
                <a:gd name="csY4" fmla="*/ 1847850 h 1847850"/>
                <a:gd name="csX5" fmla="*/ 0 w 3943350"/>
                <a:gd name="csY5" fmla="*/ 0 h 18478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3943350" h="1847850">
                  <a:moveTo>
                    <a:pt x="3943350" y="1847849"/>
                  </a:moveTo>
                  <a:lnTo>
                    <a:pt x="307981" y="1847849"/>
                  </a:lnTo>
                  <a:cubicBezTo>
                    <a:pt x="137888" y="1847849"/>
                    <a:pt x="0" y="1709961"/>
                    <a:pt x="0" y="1539868"/>
                  </a:cubicBezTo>
                  <a:lnTo>
                    <a:pt x="0" y="1"/>
                  </a:lnTo>
                  <a:lnTo>
                    <a:pt x="3943350" y="1"/>
                  </a:lnTo>
                  <a:lnTo>
                    <a:pt x="3943350" y="1847849"/>
                  </a:lnTo>
                  <a:close/>
                </a:path>
              </a:pathLst>
            </a:custGeom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-970242"/>
                <a:satOff val="-55952"/>
                <a:lumOff val="5752"/>
                <a:alphaOff val="0"/>
              </a:schemeClr>
            </a:fillRef>
            <a:effectRef idx="1">
              <a:schemeClr val="accent2">
                <a:hueOff val="-970242"/>
                <a:satOff val="-55952"/>
                <a:lumOff val="5752"/>
                <a:alphaOff val="0"/>
              </a:schemeClr>
            </a:effectRef>
            <a:fontRef idx="minor">
              <a:schemeClr val="dk1"/>
            </a:fontRef>
          </p:style>
          <p:txBody>
            <a:bodyPr spcFirstLastPara="0" vert="horz" wrap="square" lIns="142239" tIns="604203" rIns="142241" bIns="142241" numCol="1" spcCol="1270" anchor="t" anchorCtr="0">
              <a:noAutofit/>
            </a:bodyPr>
            <a:lstStyle/>
            <a:p>
              <a:pPr marL="0" lvl="0" indent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zh-TW" altLang="en-US" sz="2000" b="1" kern="1200" dirty="0"/>
                <a:t>機會 </a:t>
              </a:r>
              <a:r>
                <a:rPr lang="en-US" altLang="zh-TW" sz="2000" b="1" kern="1200" dirty="0"/>
                <a:t>(Opportunities)</a:t>
              </a:r>
              <a:r>
                <a:rPr lang="zh-TW" altLang="en-US" sz="2000" kern="1200" dirty="0"/>
                <a:t>：</a:t>
              </a:r>
              <a:endParaRPr lang="en-US" altLang="zh-TW" sz="2000" kern="1200" dirty="0"/>
            </a:p>
            <a:p>
              <a:pPr marL="0" lvl="0" indent="0" algn="just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zh-TW" altLang="en-US" sz="2000" kern="1200" dirty="0"/>
                <a:t>網路基礎設施正經歷從 </a:t>
              </a:r>
              <a:r>
                <a:rPr lang="en-US" altLang="zh-TW" sz="2000" kern="1200" dirty="0"/>
                <a:t>TCP/TLS </a:t>
              </a:r>
              <a:r>
                <a:rPr lang="zh-TW" altLang="en-US" sz="2000" kern="1200" dirty="0"/>
                <a:t>轉向 </a:t>
              </a:r>
              <a:r>
                <a:rPr lang="en-US" altLang="zh-TW" sz="2000" kern="1200" dirty="0"/>
                <a:t>UDP/QUIC </a:t>
              </a:r>
              <a:r>
                <a:rPr lang="zh-TW" altLang="en-US" sz="2000" kern="1200" dirty="0"/>
                <a:t>的巨大變革，市場對於新一代加密流量分析的需求急遽上升。</a:t>
              </a:r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A74E1847-A922-AFA2-A5B7-78748C825BFD}"/>
                </a:ext>
              </a:extLst>
            </p:cNvPr>
            <p:cNvSpPr/>
            <p:nvPr/>
          </p:nvSpPr>
          <p:spPr>
            <a:xfrm>
              <a:off x="4571999" y="3922282"/>
              <a:ext cx="3943350" cy="2270125"/>
            </a:xfrm>
            <a:custGeom>
              <a:avLst/>
              <a:gdLst>
                <a:gd name="csX0" fmla="*/ 0 w 1847850"/>
                <a:gd name="csY0" fmla="*/ 0 h 3943350"/>
                <a:gd name="csX1" fmla="*/ 1539869 w 1847850"/>
                <a:gd name="csY1" fmla="*/ 0 h 3943350"/>
                <a:gd name="csX2" fmla="*/ 1847850 w 1847850"/>
                <a:gd name="csY2" fmla="*/ 307981 h 3943350"/>
                <a:gd name="csX3" fmla="*/ 1847850 w 1847850"/>
                <a:gd name="csY3" fmla="*/ 3943350 h 3943350"/>
                <a:gd name="csX4" fmla="*/ 0 w 1847850"/>
                <a:gd name="csY4" fmla="*/ 3943350 h 3943350"/>
                <a:gd name="csX5" fmla="*/ 0 w 1847850"/>
                <a:gd name="csY5" fmla="*/ 0 h 3943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847850" h="3943350">
                  <a:moveTo>
                    <a:pt x="1847850" y="1"/>
                  </a:moveTo>
                  <a:lnTo>
                    <a:pt x="1847850" y="3286111"/>
                  </a:lnTo>
                  <a:cubicBezTo>
                    <a:pt x="1847850" y="3649093"/>
                    <a:pt x="1783236" y="3943349"/>
                    <a:pt x="1703530" y="3943349"/>
                  </a:cubicBezTo>
                  <a:lnTo>
                    <a:pt x="0" y="3943349"/>
                  </a:lnTo>
                  <a:lnTo>
                    <a:pt x="0" y="1"/>
                  </a:lnTo>
                  <a:lnTo>
                    <a:pt x="1847850" y="1"/>
                  </a:lnTo>
                  <a:close/>
                </a:path>
              </a:pathLst>
            </a:custGeom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-1455363"/>
                <a:satOff val="-83928"/>
                <a:lumOff val="8628"/>
                <a:alphaOff val="0"/>
              </a:schemeClr>
            </a:fillRef>
            <a:effectRef idx="1">
              <a:schemeClr val="accent2">
                <a:hueOff val="-1455363"/>
                <a:satOff val="-83928"/>
                <a:lumOff val="8628"/>
                <a:alphaOff val="0"/>
              </a:schemeClr>
            </a:effectRef>
            <a:fontRef idx="minor">
              <a:schemeClr val="dk1"/>
            </a:fontRef>
          </p:style>
          <p:txBody>
            <a:bodyPr spcFirstLastPara="0" vert="horz" wrap="square" lIns="142241" tIns="604202" rIns="142239" bIns="142241" numCol="1" spcCol="1270" anchor="t" anchorCtr="0">
              <a:noAutofit/>
            </a:bodyPr>
            <a:lstStyle/>
            <a:p>
              <a:pPr marL="0" lvl="0" indent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zh-TW" altLang="en-US" sz="2000" b="1" kern="1200" dirty="0"/>
                <a:t>威脅 </a:t>
              </a:r>
              <a:r>
                <a:rPr lang="en-US" altLang="zh-TW" sz="2000" b="1" kern="1200" dirty="0"/>
                <a:t>(Threats)</a:t>
              </a:r>
              <a:r>
                <a:rPr lang="zh-TW" altLang="en-US" sz="2000" kern="1200" dirty="0"/>
                <a:t>：</a:t>
              </a:r>
              <a:endParaRPr lang="en-US" altLang="zh-TW" sz="2000" kern="1200" dirty="0"/>
            </a:p>
            <a:p>
              <a:pPr marL="0" lvl="0" indent="0" algn="just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zh-TW" altLang="en-US" sz="2000" kern="1200" dirty="0"/>
                <a:t>駭客持續演進對抗式機器學習概念，若防禦系統缺乏強健性將形同虛設。</a:t>
              </a:r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C55D8D6E-01D8-B35B-13F6-7960845C09B4}"/>
                </a:ext>
              </a:extLst>
            </p:cNvPr>
            <p:cNvSpPr/>
            <p:nvPr/>
          </p:nvSpPr>
          <p:spPr>
            <a:xfrm>
              <a:off x="3388994" y="3444337"/>
              <a:ext cx="2366010" cy="955890"/>
            </a:xfrm>
            <a:custGeom>
              <a:avLst/>
              <a:gdLst>
                <a:gd name="csX0" fmla="*/ 0 w 2366010"/>
                <a:gd name="csY0" fmla="*/ 153991 h 923925"/>
                <a:gd name="csX1" fmla="*/ 153991 w 2366010"/>
                <a:gd name="csY1" fmla="*/ 0 h 923925"/>
                <a:gd name="csX2" fmla="*/ 2212019 w 2366010"/>
                <a:gd name="csY2" fmla="*/ 0 h 923925"/>
                <a:gd name="csX3" fmla="*/ 2366010 w 2366010"/>
                <a:gd name="csY3" fmla="*/ 153991 h 923925"/>
                <a:gd name="csX4" fmla="*/ 2366010 w 2366010"/>
                <a:gd name="csY4" fmla="*/ 769934 h 923925"/>
                <a:gd name="csX5" fmla="*/ 2212019 w 2366010"/>
                <a:gd name="csY5" fmla="*/ 923925 h 923925"/>
                <a:gd name="csX6" fmla="*/ 153991 w 2366010"/>
                <a:gd name="csY6" fmla="*/ 923925 h 923925"/>
                <a:gd name="csX7" fmla="*/ 0 w 2366010"/>
                <a:gd name="csY7" fmla="*/ 769934 h 923925"/>
                <a:gd name="csX8" fmla="*/ 0 w 2366010"/>
                <a:gd name="csY8" fmla="*/ 153991 h 92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366010" h="923925">
                  <a:moveTo>
                    <a:pt x="0" y="153991"/>
                  </a:moveTo>
                  <a:cubicBezTo>
                    <a:pt x="0" y="68944"/>
                    <a:pt x="68944" y="0"/>
                    <a:pt x="153991" y="0"/>
                  </a:cubicBezTo>
                  <a:lnTo>
                    <a:pt x="2212019" y="0"/>
                  </a:lnTo>
                  <a:cubicBezTo>
                    <a:pt x="2297066" y="0"/>
                    <a:pt x="2366010" y="68944"/>
                    <a:pt x="2366010" y="153991"/>
                  </a:cubicBezTo>
                  <a:lnTo>
                    <a:pt x="2366010" y="769934"/>
                  </a:lnTo>
                  <a:cubicBezTo>
                    <a:pt x="2366010" y="854981"/>
                    <a:pt x="2297066" y="923925"/>
                    <a:pt x="2212019" y="923925"/>
                  </a:cubicBezTo>
                  <a:lnTo>
                    <a:pt x="153991" y="923925"/>
                  </a:lnTo>
                  <a:cubicBezTo>
                    <a:pt x="68944" y="923925"/>
                    <a:pt x="0" y="854981"/>
                    <a:pt x="0" y="769934"/>
                  </a:cubicBezTo>
                  <a:lnTo>
                    <a:pt x="0" y="153991"/>
                  </a:lnTo>
                  <a:close/>
                </a:path>
              </a:pathLst>
            </a:custGeom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1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tint val="40000"/>
                <a:hueOff val="0"/>
                <a:satOff val="0"/>
                <a:lumOff val="0"/>
                <a:alphaOff val="0"/>
              </a:schemeClr>
            </a:fillRef>
            <a:effectRef idx="1">
              <a:schemeClr val="accent2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36542" tIns="136542" rIns="136542" bIns="136542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b="0" i="0" kern="1200" dirty="0"/>
                <a:t>SWOT</a:t>
              </a:r>
              <a:endParaRPr lang="zh-TW" altLang="en-US" sz="2400" kern="1200" dirty="0"/>
            </a:p>
          </p:txBody>
        </p:sp>
      </p:grp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83EEE5-671A-1E4E-F0E6-0B195F7A2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altLang="zh-TW" noProof="0" smtClean="0"/>
              <a:pPr/>
              <a:t>6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984599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63563A-CD1D-7588-C01E-495329988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3867" y="892185"/>
            <a:ext cx="6316266" cy="708016"/>
          </a:xfrm>
        </p:spPr>
        <p:txBody>
          <a:bodyPr>
            <a:normAutofit/>
          </a:bodyPr>
          <a:lstStyle/>
          <a:p>
            <a:r>
              <a:rPr lang="zh-TW" altLang="en-US" sz="3600" dirty="0"/>
              <a:t> 預計產出的成果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9A24459D-D0C2-7E2D-AA53-B1068ACBCAF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071219" y="1990430"/>
            <a:ext cx="6856824" cy="33291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TW" altLang="zh-TW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Google Sans Text"/>
              </a:rPr>
              <a:t>建置出一套高擬真攻防實驗場域，驗證系統在面對各類變形攻擊時的韌性。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TW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完成從流量偵測到阻斷回應的完全自動化防禦系統。</a:t>
            </a:r>
            <a:endParaRPr kumimoji="0" lang="en-US" altLang="zh-TW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TW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模型偵測到異常時，能在無人工介入的情況下，於數秒內自動發送防火牆阻斷規則。</a:t>
            </a:r>
            <a:endParaRPr kumimoji="0" lang="en-US" altLang="zh-TW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TW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成功透過 </a:t>
            </a:r>
            <a:r>
              <a:rPr kumimoji="0" lang="en-US" altLang="zh-TW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API </a:t>
            </a:r>
            <a:r>
              <a:rPr kumimoji="0" lang="zh-TW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將威脅指標 </a:t>
            </a:r>
            <a:r>
              <a:rPr kumimoji="0" lang="en-US" altLang="zh-TW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(IoC) </a:t>
            </a:r>
            <a:r>
              <a:rPr kumimoji="0" lang="zh-TW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回寫至自建的 </a:t>
            </a:r>
            <a:r>
              <a:rPr kumimoji="0" lang="en-US" altLang="zh-TW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MISP </a:t>
            </a:r>
            <a:r>
              <a:rPr kumimoji="0" lang="zh-TW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情資平台，實現情資動態更新。</a:t>
            </a:r>
            <a:endParaRPr kumimoji="0" lang="en-US" altLang="zh-TW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TW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為後量子時代的加密網路安全提前部署，提出具前瞻性的資安解決方案</a:t>
            </a:r>
            <a:r>
              <a:rPr kumimoji="0" lang="zh-TW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。</a:t>
            </a:r>
            <a:endParaRPr kumimoji="0" lang="zh-TW" altLang="zh-TW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AB5DF4F-CC0E-53B7-8A20-1BCEE07BF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altLang="zh-TW" noProof="0" smtClean="0"/>
              <a:pPr/>
              <a:t>7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9501927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DD892A-C95F-8E7C-1190-B6FF1D9DC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1559" y="1671639"/>
            <a:ext cx="5077905" cy="565723"/>
          </a:xfrm>
        </p:spPr>
        <p:txBody>
          <a:bodyPr>
            <a:noAutofit/>
          </a:bodyPr>
          <a:lstStyle/>
          <a:p>
            <a:r>
              <a:rPr lang="zh-TW" altLang="en-US" sz="3600" dirty="0"/>
              <a:t>預計參加的比賽項目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432356F-81BE-B96B-FD3E-F78DE9FFB7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D386201-52AC-B7CA-3802-6B43BF702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altLang="zh-TW" noProof="0" smtClean="0"/>
              <a:pPr/>
              <a:t>8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328483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29C37BF-6FC9-D4BF-4393-AD5B9E66B6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7302" y="209254"/>
            <a:ext cx="3189395" cy="617934"/>
          </a:xfrm>
        </p:spPr>
        <p:txBody>
          <a:bodyPr>
            <a:noAutofit/>
          </a:bodyPr>
          <a:lstStyle/>
          <a:p>
            <a:pPr algn="ctr"/>
            <a:r>
              <a:rPr lang="zh-TW" altLang="en-US" sz="3600" dirty="0"/>
              <a:t>規劃時程 </a:t>
            </a: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8965DA3-8F81-28FA-A488-216DB54F8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altLang="zh-TW" noProof="0" smtClean="0"/>
              <a:pPr/>
              <a:t>9</a:t>
            </a:fld>
            <a:endParaRPr lang="zh-TW" altLang="en-US" noProof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6CEA7BA-2E19-770F-9C59-79901B7965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8960949"/>
              </p:ext>
            </p:extLst>
          </p:nvPr>
        </p:nvGraphicFramePr>
        <p:xfrm>
          <a:off x="296925" y="910886"/>
          <a:ext cx="8550148" cy="5737860"/>
        </p:xfrm>
        <a:graphic>
          <a:graphicData uri="http://schemas.openxmlformats.org/drawingml/2006/table">
            <a:tbl>
              <a:tblPr firstRow="1">
                <a:tableStyleId>{17292A2E-F333-43FB-9621-5CBBE7FDCDCB}</a:tableStyleId>
              </a:tblPr>
              <a:tblGrid>
                <a:gridCol w="1422148">
                  <a:extLst>
                    <a:ext uri="{9D8B030D-6E8A-4147-A177-3AD203B41FA5}">
                      <a16:colId xmlns:a16="http://schemas.microsoft.com/office/drawing/2014/main" val="2279423080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2190934902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693018727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812021294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2593094880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4050546068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1427226634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11404893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2880679725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1167367535"/>
                    </a:ext>
                  </a:extLst>
                </a:gridCol>
              </a:tblGrid>
              <a:tr h="774368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研究計畫時程表</a:t>
                      </a: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115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年</a:t>
                      </a:r>
                      <a:endParaRPr lang="en-US" altLang="zh-TW" sz="1600" b="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月</a:t>
                      </a:r>
                      <a:endParaRPr lang="en-US" altLang="zh-TW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115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年</a:t>
                      </a:r>
                      <a:endParaRPr lang="en-US" altLang="zh-TW" sz="16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月</a:t>
                      </a:r>
                      <a:endParaRPr lang="en-US" altLang="zh-TW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115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年</a:t>
                      </a:r>
                      <a:endParaRPr lang="en-US" altLang="zh-TW" sz="1600" b="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月</a:t>
                      </a: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115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年</a:t>
                      </a:r>
                      <a:endParaRPr lang="en-US" altLang="zh-TW" sz="1600" b="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6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月</a:t>
                      </a: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115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年</a:t>
                      </a:r>
                      <a:endParaRPr lang="en-US" altLang="zh-TW" sz="1600" b="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7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月</a:t>
                      </a: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115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年</a:t>
                      </a:r>
                      <a:endParaRPr lang="en-US" altLang="zh-TW" sz="1600" b="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8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月</a:t>
                      </a: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115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年</a:t>
                      </a:r>
                      <a:endParaRPr lang="en-US" altLang="zh-TW" sz="1600" b="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9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月</a:t>
                      </a: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115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年</a:t>
                      </a: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月</a:t>
                      </a: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115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年</a:t>
                      </a: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11-12</a:t>
                      </a:r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月</a:t>
                      </a: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9332996"/>
                  </a:ext>
                </a:extLst>
              </a:tr>
              <a:tr h="1010366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了解虛擬網路架構和封包傳遞、分析及偵測方式</a:t>
                      </a: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DB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DB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25676576"/>
                  </a:ext>
                </a:extLst>
              </a:tr>
              <a:tr h="774368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了解情資整合與資安自動化回應</a:t>
                      </a: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DB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DB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11029501"/>
                  </a:ext>
                </a:extLst>
              </a:tr>
              <a:tr h="302372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虛擬環境建置</a:t>
                      </a: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DB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DB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6509967"/>
                  </a:ext>
                </a:extLst>
              </a:tr>
              <a:tr h="53837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資料生成與特徵工程</a:t>
                      </a: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DB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DB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DB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6164657"/>
                  </a:ext>
                </a:extLst>
              </a:tr>
              <a:tr h="53837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監督式模型建構</a:t>
                      </a: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DB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DB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DB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DB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45532419"/>
                  </a:ext>
                </a:extLst>
              </a:tr>
              <a:tr h="53837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情資整合與自動化回應</a:t>
                      </a: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DB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DB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DB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82783767"/>
                  </a:ext>
                </a:extLst>
              </a:tr>
              <a:tr h="53837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系統整合測試與評估</a:t>
                      </a: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DB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DB3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2204387"/>
                  </a:ext>
                </a:extLst>
              </a:tr>
              <a:tr h="53837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dirty="0">
                          <a:solidFill>
                            <a:schemeClr val="tx1"/>
                          </a:solidFill>
                        </a:rPr>
                        <a:t>研究成果報告撰寫</a:t>
                      </a: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DB3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4117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7247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BA9E2D-C94E-7AE6-AB84-C3D5D1068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1559" y="1585608"/>
            <a:ext cx="3833813" cy="571096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 </a:t>
            </a:r>
            <a:r>
              <a:rPr lang="zh-TW" altLang="en-US" sz="3600" dirty="0"/>
              <a:t>參與人員分工與時數分配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948FF86-B9BC-F381-5C53-42F82E422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altLang="zh-TW" noProof="0" smtClean="0"/>
              <a:pPr/>
              <a:t>10</a:t>
            </a:fld>
            <a:endParaRPr lang="zh-TW" altLang="en-US" noProof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7AEBDD59-ADBE-157B-C2A8-8ADB136BEF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4703671"/>
              </p:ext>
            </p:extLst>
          </p:nvPr>
        </p:nvGraphicFramePr>
        <p:xfrm>
          <a:off x="537760" y="3193509"/>
          <a:ext cx="5444751" cy="1507788"/>
        </p:xfrm>
        <a:graphic>
          <a:graphicData uri="http://schemas.openxmlformats.org/drawingml/2006/table">
            <a:tbl>
              <a:tblPr>
                <a:tableStyleId>{22838BEF-8BB2-4498-84A7-C5851F593DF1}</a:tableStyleId>
              </a:tblPr>
              <a:tblGrid>
                <a:gridCol w="1339678">
                  <a:extLst>
                    <a:ext uri="{9D8B030D-6E8A-4147-A177-3AD203B41FA5}">
                      <a16:colId xmlns:a16="http://schemas.microsoft.com/office/drawing/2014/main" val="2787415378"/>
                    </a:ext>
                  </a:extLst>
                </a:gridCol>
                <a:gridCol w="2704290">
                  <a:extLst>
                    <a:ext uri="{9D8B030D-6E8A-4147-A177-3AD203B41FA5}">
                      <a16:colId xmlns:a16="http://schemas.microsoft.com/office/drawing/2014/main" val="4126416573"/>
                    </a:ext>
                  </a:extLst>
                </a:gridCol>
                <a:gridCol w="1400783">
                  <a:extLst>
                    <a:ext uri="{9D8B030D-6E8A-4147-A177-3AD203B41FA5}">
                      <a16:colId xmlns:a16="http://schemas.microsoft.com/office/drawing/2014/main" val="1709548441"/>
                    </a:ext>
                  </a:extLst>
                </a:gridCol>
              </a:tblGrid>
              <a:tr h="753894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/>
                        <a:t>莊博宇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/>
                        <a:t>模型生成與系統整合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/>
                        <a:t>50%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5665932"/>
                  </a:ext>
                </a:extLst>
              </a:tr>
              <a:tr h="753894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/>
                        <a:t>闕帝軒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/>
                        <a:t>資料收集與數據採集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/>
                        <a:t>50%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93756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3761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BC859E-2107-805A-EBA4-01109CB8E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7764" y="1128408"/>
            <a:ext cx="2354580" cy="666784"/>
          </a:xfrm>
        </p:spPr>
        <p:txBody>
          <a:bodyPr>
            <a:normAutofit/>
          </a:bodyPr>
          <a:lstStyle/>
          <a:p>
            <a:pPr algn="ctr"/>
            <a:r>
              <a:rPr lang="zh-TW" altLang="en-US" sz="3600" dirty="0"/>
              <a:t>結論</a:t>
            </a:r>
          </a:p>
        </p:txBody>
      </p:sp>
      <p:sp>
        <p:nvSpPr>
          <p:cNvPr id="10" name="文字版面配置區 9">
            <a:extLst>
              <a:ext uri="{FF2B5EF4-FFF2-40B4-BE49-F238E27FC236}">
                <a16:creationId xmlns:a16="http://schemas.microsoft.com/office/drawing/2014/main" id="{8579C60B-2DDC-7E3E-98A7-8F940667A7B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672935" y="2134146"/>
            <a:ext cx="6525491" cy="3102872"/>
          </a:xfrm>
        </p:spPr>
        <p:txBody>
          <a:bodyPr>
            <a:noAutofit/>
          </a:bodyPr>
          <a:lstStyle/>
          <a:p>
            <a:pPr algn="just">
              <a:lnSpc>
                <a:spcPts val="3500"/>
              </a:lnSpc>
              <a:spcBef>
                <a:spcPts val="1000"/>
              </a:spcBef>
            </a:pPr>
            <a:r>
              <a:rPr lang="zh-TW" altLang="en-US" sz="2000" dirty="0">
                <a:latin typeface="+mn-ea"/>
                <a:ea typeface="+mn-ea"/>
              </a:rPr>
              <a:t>本計畫針對協定典範轉移帶來的防禦真空，提出了一套整合威脅情資、非監督式深度學習與資安事件自動化回應的混合式防禦架構。透過自建的高擬真攻防實驗場域，我們預期能有效驗證系統在面對對抗式攻擊時的強健性，並實現從偵測到阻斷的完全自動化，並將為後量子時代的加密網路安全提前部署，設計出具前瞻性且能實際落地應用於資安維運的解決方案。</a:t>
            </a:r>
          </a:p>
        </p:txBody>
      </p:sp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0BB4C944-D184-FD7A-6328-8B7CB32395E4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altLang="zh-TW" noProof="0" smtClean="0"/>
              <a:pPr/>
              <a:t>11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47097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50D08B-2225-6295-4A91-E6D23C68A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147" y="1084128"/>
            <a:ext cx="1635430" cy="430745"/>
          </a:xfrm>
        </p:spPr>
        <p:txBody>
          <a:bodyPr/>
          <a:lstStyle/>
          <a:p>
            <a:r>
              <a:rPr lang="zh-TW" altLang="en-US" dirty="0"/>
              <a:t>參考文獻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73EF51A-B562-A39C-9586-3488A2973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altLang="zh-TW" noProof="0" smtClean="0"/>
              <a:pPr/>
              <a:t>12</a:t>
            </a:fld>
            <a:endParaRPr lang="zh-TW" altLang="en-US" noProof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CE9AACE-F424-8AB3-FDAC-3679C5D5F065}"/>
              </a:ext>
            </a:extLst>
          </p:cNvPr>
          <p:cNvSpPr txBox="1"/>
          <p:nvPr/>
        </p:nvSpPr>
        <p:spPr>
          <a:xfrm>
            <a:off x="807147" y="1628507"/>
            <a:ext cx="7826027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[1]</a:t>
            </a:r>
            <a:r>
              <a:rPr lang="zh-TW" altLang="en-US" sz="1400" dirty="0"/>
              <a:t>    </a:t>
            </a:r>
            <a:r>
              <a:rPr lang="en-US" altLang="zh-TW" sz="1400" dirty="0"/>
              <a:t>M. Shen, K. Ye, X. Liu, L. Zhu, J. Kang, S. YU, “Machine Learning-Powered Encrypted Network Traffic Analysis: A Comprehensive Survey,” in IEEE Communications Surveys &amp; Tutorials, vol. 25, no. 1, pp. 791-824, </a:t>
            </a:r>
            <a:r>
              <a:rPr lang="en-US" altLang="zh-TW" sz="1400" dirty="0" err="1"/>
              <a:t>Firstquarter</a:t>
            </a:r>
            <a:r>
              <a:rPr lang="en-US" altLang="zh-TW" sz="1400" dirty="0"/>
              <a:t> 2023, </a:t>
            </a:r>
            <a:r>
              <a:rPr lang="en-US" altLang="zh-TW" sz="1400" dirty="0" err="1"/>
              <a:t>doi</a:t>
            </a:r>
            <a:r>
              <a:rPr lang="en-US" altLang="zh-TW" sz="1400" dirty="0"/>
              <a:t>: 10.1109/COMST.2022.3208196.</a:t>
            </a:r>
          </a:p>
          <a:p>
            <a:r>
              <a:rPr lang="en-US" altLang="zh-TW" sz="1400" dirty="0"/>
              <a:t>[2]</a:t>
            </a:r>
            <a:r>
              <a:rPr lang="zh-TW" altLang="en-US" sz="1400" dirty="0"/>
              <a:t>    </a:t>
            </a:r>
            <a:r>
              <a:rPr lang="en-US" altLang="zh-TW" sz="1400" dirty="0"/>
              <a:t>W. Lim, K. S. C. Yong, B. T. Lau, and C. C. L. Tan. “Future of Generative Adversarial Networks (GAN) for Anomaly Detection in Network Security: A Review,” Computers &amp; Security, vol. 139, Apr. 2024, Art. no. 103733. doi:10.1016/j.cose.2024.103733.</a:t>
            </a:r>
          </a:p>
          <a:p>
            <a:r>
              <a:rPr lang="en-US" altLang="zh-TW" sz="1400" dirty="0"/>
              <a:t>[3]</a:t>
            </a:r>
            <a:r>
              <a:rPr lang="zh-TW" altLang="en-US" sz="1400" dirty="0"/>
              <a:t>    </a:t>
            </a:r>
            <a:r>
              <a:rPr lang="en-US" altLang="zh-TW" sz="1400" dirty="0"/>
              <a:t>A. S. Iliyasu and H. Deng, “Semi-Supervised Encrypted Traffic Classification with Deep Convolutional Generative Adversarial Networks,” in IEEE Access, vol. 8, pp. 118-126, 2020, </a:t>
            </a:r>
            <a:r>
              <a:rPr lang="en-US" altLang="zh-TW" sz="1400" dirty="0" err="1"/>
              <a:t>doi</a:t>
            </a:r>
            <a:r>
              <a:rPr lang="en-US" altLang="zh-TW" sz="1400" dirty="0"/>
              <a:t>: 10.1109/ACCESS.2019.2962106.</a:t>
            </a:r>
          </a:p>
          <a:p>
            <a:r>
              <a:rPr lang="en-US" altLang="zh-TW" sz="1400" dirty="0"/>
              <a:t>[4]</a:t>
            </a:r>
            <a:r>
              <a:rPr lang="zh-TW" altLang="en-US" sz="1400" dirty="0"/>
              <a:t>    </a:t>
            </a:r>
            <a:r>
              <a:rPr lang="en-US" altLang="zh-TW" sz="1400" dirty="0"/>
              <a:t>J. Li, L. Zhou, H. Li, L. Yan and H. Zhu, “Dynamic Traffic Feature Camouflaging via Generative Adversarial Networks,” 2019 IEEE Conference on Communications and Network Security (CNS), Washington, DC, USA, 2019, pp. 268-276, </a:t>
            </a:r>
            <a:r>
              <a:rPr lang="en-US" altLang="zh-TW" sz="1400" dirty="0" err="1"/>
              <a:t>doi</a:t>
            </a:r>
            <a:r>
              <a:rPr lang="en-US" altLang="zh-TW" sz="1400" dirty="0"/>
              <a:t>: 10.1109/CNS.2019.8802772.</a:t>
            </a:r>
          </a:p>
          <a:p>
            <a:r>
              <a:rPr lang="en-US" altLang="zh-TW" sz="1400" dirty="0"/>
              <a:t>[5]</a:t>
            </a:r>
            <a:r>
              <a:rPr lang="zh-TW" altLang="en-US" sz="1400" dirty="0"/>
              <a:t>    </a:t>
            </a:r>
            <a:r>
              <a:rPr lang="en-US" altLang="zh-TW" sz="1400" dirty="0"/>
              <a:t>J. </a:t>
            </a:r>
            <a:r>
              <a:rPr lang="en-US" altLang="zh-TW" sz="1400" dirty="0" err="1"/>
              <a:t>Luxemburk</a:t>
            </a:r>
            <a:r>
              <a:rPr lang="en-US" altLang="zh-TW" sz="1400" dirty="0"/>
              <a:t>, K. Hynek and T. Čejka, “Encrypted Traffic Classification: The QUIC Case,” 2023 7th Network Traffic Measurement and Analysis Conference (TMA), Naples, Italy, 2023, pp. 1-10, </a:t>
            </a:r>
            <a:r>
              <a:rPr lang="en-US" altLang="zh-TW" sz="1400" dirty="0" err="1"/>
              <a:t>doi</a:t>
            </a:r>
            <a:r>
              <a:rPr lang="en-US" altLang="zh-TW" sz="1400" dirty="0"/>
              <a:t>: 10.23919/TMA58422.2023.10199052.</a:t>
            </a:r>
          </a:p>
          <a:p>
            <a:r>
              <a:rPr lang="en-US" altLang="zh-TW" sz="1400" dirty="0"/>
              <a:t>[6]</a:t>
            </a:r>
            <a:r>
              <a:rPr lang="zh-TW" altLang="en-US" sz="1400" dirty="0"/>
              <a:t>    </a:t>
            </a:r>
            <a:r>
              <a:rPr lang="en-US" altLang="zh-TW" sz="1400" dirty="0"/>
              <a:t>N. B. Kilaru, S. K. M. </a:t>
            </a:r>
            <a:r>
              <a:rPr lang="en-US" altLang="zh-TW" sz="1400" dirty="0" err="1"/>
              <a:t>Cheemakurthi</a:t>
            </a:r>
            <a:r>
              <a:rPr lang="en-US" altLang="zh-TW" sz="1400" dirty="0"/>
              <a:t> and V. Gunnam, “SOAR Solutions in PCI Compliance: Orchestrating Incident Response for Regulatory Security,” ESP Journal of Engineering &amp; Technology Advancements, vol. 1, Issue 2, pp. 78-84, 2021, doi:10.56472/25832646/JETA-V1I2P111.</a:t>
            </a:r>
          </a:p>
          <a:p>
            <a:r>
              <a:rPr lang="en-US" altLang="zh-TW" sz="1400" dirty="0"/>
              <a:t>[7]</a:t>
            </a:r>
            <a:r>
              <a:rPr lang="zh-TW" altLang="en-US" sz="1400" dirty="0"/>
              <a:t>    </a:t>
            </a:r>
            <a:r>
              <a:rPr lang="en-US" altLang="zh-TW" sz="1400" dirty="0"/>
              <a:t>S. Subudhi, “Effectiveness of AI/ML in SOAR (Security Automation and Orchestration) Platforms,” International Journal of Science and Research (IJSR), volume 13, issue 8, pp. 201-206, Aug. 2024, </a:t>
            </a:r>
            <a:r>
              <a:rPr lang="en-US" altLang="zh-TW" sz="1400" dirty="0" err="1"/>
              <a:t>doi</a:t>
            </a:r>
            <a:r>
              <a:rPr lang="en-US" altLang="zh-TW" sz="1400" dirty="0"/>
              <a:t>: 10.21275/MR24802085215.</a:t>
            </a:r>
            <a:br>
              <a:rPr lang="en-US" altLang="zh-TW" sz="1400" dirty="0"/>
            </a:br>
            <a:r>
              <a:rPr lang="en-US" altLang="zh-TW" sz="1400" dirty="0"/>
              <a:t>[9]     J. Iyengar, M. Thomson, “QUIC: A UDP-Based Multiplexed and Secure Transport,” IETF, https://datatracker.ietf.org/doc/rfc9000/, FEB. 2022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6529993"/>
      </p:ext>
    </p:extLst>
  </p:cSld>
  <p:clrMapOvr>
    <a:masterClrMapping/>
  </p:clrMapOvr>
</p:sld>
</file>

<file path=ppt/theme/theme1.xml><?xml version="1.0" encoding="utf-8"?>
<a:theme xmlns:a="http://schemas.openxmlformats.org/drawingml/2006/main" name="單線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3328869_TF22318419_Win32" id="{484791FE-B89A-4873-A14B-ACF71875DAAB}" vid="{F8EC1E10-9DF0-490B-83D2-9448824E2826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Custom 149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E9E6DF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5BA3906-9696-4247-AC0D-DD5C26B2A70A}">
  <ds:schemaRefs>
    <ds:schemaRef ds:uri="http://www.w3.org/XML/1998/namespace"/>
    <ds:schemaRef ds:uri="http://schemas.microsoft.com/office/2006/documentManagement/types"/>
    <ds:schemaRef ds:uri="http://purl.org/dc/terms/"/>
    <ds:schemaRef ds:uri="71af3243-3dd4-4a8d-8c0d-dd76da1f02a5"/>
    <ds:schemaRef ds:uri="http://purl.org/dc/dcmitype/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01E84A1C-2814-43A7-9448-348326113A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D446390-8521-40A2-A462-EA068123BED9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2055</TotalTime>
  <Words>1636</Words>
  <Application>Microsoft Office PowerPoint</Application>
  <PresentationFormat>如螢幕大小 (4:3)</PresentationFormat>
  <Paragraphs>106</Paragraphs>
  <Slides>12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5" baseType="lpstr">
      <vt:lpstr>Microsoft JhengHei UI</vt:lpstr>
      <vt:lpstr>Arial</vt:lpstr>
      <vt:lpstr>單線</vt:lpstr>
      <vt:lpstr>基於對抗式攻擊與情資平台之 HTTP/3 加密流量自動化安全防禦框架</vt:lpstr>
      <vt:lpstr>研究動機</vt:lpstr>
      <vt:lpstr>文獻/既有系統服務探討 </vt:lpstr>
      <vt:lpstr>預計提出的方法與系統開發的相關技術</vt:lpstr>
      <vt:lpstr>預計提出的方法與系統開發的相關技術</vt:lpstr>
      <vt:lpstr>SWOT 分析</vt:lpstr>
      <vt:lpstr> 預計產出的成果</vt:lpstr>
      <vt:lpstr>預計參加的比賽項目</vt:lpstr>
      <vt:lpstr>規劃時程 </vt:lpstr>
      <vt:lpstr> 參與人員分工與時數分配</vt:lpstr>
      <vt:lpstr>結論</vt:lpstr>
      <vt:lpstr>參考文獻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博宇 莊</dc:creator>
  <cp:lastModifiedBy>博宇 莊</cp:lastModifiedBy>
  <cp:revision>6</cp:revision>
  <dcterms:created xsi:type="dcterms:W3CDTF">2026-03-30T05:57:29Z</dcterms:created>
  <dcterms:modified xsi:type="dcterms:W3CDTF">2026-04-01T12:15:41Z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