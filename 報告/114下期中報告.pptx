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6" r:id="rId4"/>
  </p:sldMasterIdLst>
  <p:notesMasterIdLst>
    <p:notesMasterId r:id="rId20"/>
  </p:notesMasterIdLst>
  <p:handoutMasterIdLst>
    <p:handoutMasterId r:id="rId21"/>
  </p:handoutMasterIdLst>
  <p:sldIdLst>
    <p:sldId id="256" r:id="rId5"/>
    <p:sldId id="277" r:id="rId6"/>
    <p:sldId id="281" r:id="rId7"/>
    <p:sldId id="288" r:id="rId8"/>
    <p:sldId id="289" r:id="rId9"/>
    <p:sldId id="282" r:id="rId10"/>
    <p:sldId id="283" r:id="rId11"/>
    <p:sldId id="284" r:id="rId12"/>
    <p:sldId id="285" r:id="rId13"/>
    <p:sldId id="286" r:id="rId14"/>
    <p:sldId id="279" r:id="rId15"/>
    <p:sldId id="280" r:id="rId16"/>
    <p:sldId id="287" r:id="rId17"/>
    <p:sldId id="278" r:id="rId18"/>
    <p:sldId id="290" r:id="rId19"/>
  </p:sldIdLst>
  <p:sldSz cx="9144000" cy="6858000" type="screen4x3"/>
  <p:notesSz cx="9144000" cy="6858000"/>
  <p:defaultTextStyle>
    <a:defPPr rtl="0">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作者"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DB3E2"/>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7292A2E-F333-43FB-9621-5CBBE7FDCDCB}" styleName="淺色樣式 2 - 輔色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22838BEF-8BB2-4498-84A7-C5851F593DF1}" styleName="中等深淺樣式 4 - 輔色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39" autoAdjust="0"/>
    <p:restoredTop sz="96242" autoAdjust="0"/>
  </p:normalViewPr>
  <p:slideViewPr>
    <p:cSldViewPr snapToGrid="0">
      <p:cViewPr varScale="1">
        <p:scale>
          <a:sx n="102" d="100"/>
          <a:sy n="102" d="100"/>
        </p:scale>
        <p:origin x="1146" y="318"/>
      </p:cViewPr>
      <p:guideLst>
        <p:guide orient="horz" pos="33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80" d="100"/>
          <a:sy n="80" d="100"/>
        </p:scale>
        <p:origin x="3432" y="78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 Id="rId27" Type="http://schemas.microsoft.com/office/2018/10/relationships/authors" Targe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_rels/data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image" Target="../media/image1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image" Target="../media/image1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image" Target="../media/image17.svg"/></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8D31A49-B68D-48FE-89CE-68829666A70B}" type="doc">
      <dgm:prSet loTypeId="urn:microsoft.com/office/officeart/2018/2/layout/IconVerticalSolidList" loCatId="icon" qsTypeId="urn:microsoft.com/office/officeart/2005/8/quickstyle/simple1" qsCatId="simple" csTypeId="urn:microsoft.com/office/officeart/2005/8/colors/accent3_2" csCatId="accent3" phldr="1"/>
      <dgm:spPr/>
      <dgm:t>
        <a:bodyPr/>
        <a:lstStyle/>
        <a:p>
          <a:endParaRPr lang="en-US"/>
        </a:p>
      </dgm:t>
    </dgm:pt>
    <dgm:pt modelId="{65139AB7-EF38-480E-AD6D-417E10A074BB}">
      <dgm:prSet custT="1"/>
      <dgm:spPr/>
      <dgm:t>
        <a:bodyPr/>
        <a:lstStyle/>
        <a:p>
          <a:pPr algn="just"/>
          <a:r>
            <a:rPr lang="zh-TW" sz="2000" b="1" i="0" baseline="0" dirty="0"/>
            <a:t>HTTP/3 帶來的防禦真空</a:t>
          </a:r>
          <a:r>
            <a:rPr lang="zh-TW" sz="2000" b="0" i="0" baseline="0" dirty="0"/>
            <a:t>：HTTP/3</a:t>
          </a:r>
          <a:r>
            <a:rPr lang="zh-TW" altLang="en-US" sz="2000" b="0" i="0" baseline="0" dirty="0"/>
            <a:t> </a:t>
          </a:r>
          <a:r>
            <a:rPr lang="en-US" altLang="zh-TW" sz="2000" b="0" i="0" baseline="0" dirty="0"/>
            <a:t>(</a:t>
          </a:r>
          <a:r>
            <a:rPr lang="zh-TW" sz="2000" b="0" i="0" baseline="0" dirty="0"/>
            <a:t>基於 QUIC 協定</a:t>
          </a:r>
          <a:r>
            <a:rPr lang="en-US" altLang="zh-TW" sz="2000" b="0" i="0" baseline="0" dirty="0"/>
            <a:t>)</a:t>
          </a:r>
          <a:r>
            <a:rPr lang="zh-TW" altLang="en-US" sz="2000" b="0" i="0" baseline="0" dirty="0"/>
            <a:t> </a:t>
          </a:r>
          <a:r>
            <a:rPr lang="zh-TW" sz="2000" b="0" i="0" baseline="0" dirty="0"/>
            <a:t>已成為新世代傳輸標準，但其基於 UDP 且強制 TLS 1.3 加密的特性，導致傳統基於特徵碼 (Signature-based) 與深度封包檢測 (DPI) 的防火牆完全失效。</a:t>
          </a:r>
          <a:endParaRPr lang="en-US" sz="2000" dirty="0"/>
        </a:p>
      </dgm:t>
    </dgm:pt>
    <dgm:pt modelId="{D3CC8A80-B0CD-46AC-918F-2B011B28507F}" type="parTrans" cxnId="{86D9CAA0-DF90-43BE-B1C8-D92D762095F1}">
      <dgm:prSet/>
      <dgm:spPr/>
      <dgm:t>
        <a:bodyPr/>
        <a:lstStyle/>
        <a:p>
          <a:endParaRPr lang="en-US"/>
        </a:p>
      </dgm:t>
    </dgm:pt>
    <dgm:pt modelId="{A5301E28-E2C8-4258-A247-2A86B6A14354}" type="sibTrans" cxnId="{86D9CAA0-DF90-43BE-B1C8-D92D762095F1}">
      <dgm:prSet/>
      <dgm:spPr/>
      <dgm:t>
        <a:bodyPr/>
        <a:lstStyle/>
        <a:p>
          <a:endParaRPr lang="en-US"/>
        </a:p>
      </dgm:t>
    </dgm:pt>
    <dgm:pt modelId="{E6C69D53-B051-4F44-B0AE-284F59F42B99}">
      <dgm:prSet custT="1"/>
      <dgm:spPr/>
      <dgm:t>
        <a:bodyPr/>
        <a:lstStyle/>
        <a:p>
          <a:pPr algn="just"/>
          <a:r>
            <a:rPr lang="zh-TW" sz="2000" b="1" i="0" baseline="0" dirty="0"/>
            <a:t>對抗式規避技術 (Adversarial Evasion)</a:t>
          </a:r>
          <a:r>
            <a:rPr lang="zh-TW" sz="2000" b="0" i="0" baseline="0" dirty="0"/>
            <a:t>：惡意攻擊者透過封包切割、時序干擾等手法偽裝成正常流量，改變統計特徵以騙過傳統模型。</a:t>
          </a:r>
          <a:endParaRPr lang="en-US" sz="2000" dirty="0"/>
        </a:p>
      </dgm:t>
    </dgm:pt>
    <dgm:pt modelId="{27B8BEB2-71C9-4622-95DD-82313CB26C29}" type="parTrans" cxnId="{92E23C44-0BCA-4226-A055-97D9BC83C846}">
      <dgm:prSet/>
      <dgm:spPr/>
      <dgm:t>
        <a:bodyPr/>
        <a:lstStyle/>
        <a:p>
          <a:endParaRPr lang="en-US"/>
        </a:p>
      </dgm:t>
    </dgm:pt>
    <dgm:pt modelId="{0090C12E-3A41-44F9-AFBF-023C3EA317DE}" type="sibTrans" cxnId="{92E23C44-0BCA-4226-A055-97D9BC83C846}">
      <dgm:prSet/>
      <dgm:spPr/>
      <dgm:t>
        <a:bodyPr/>
        <a:lstStyle/>
        <a:p>
          <a:endParaRPr lang="en-US"/>
        </a:p>
      </dgm:t>
    </dgm:pt>
    <dgm:pt modelId="{EDF977B0-CF6A-42B3-A596-42236107D972}">
      <dgm:prSet custT="1"/>
      <dgm:spPr/>
      <dgm:t>
        <a:bodyPr/>
        <a:lstStyle/>
        <a:p>
          <a:pPr algn="just"/>
          <a:r>
            <a:rPr lang="zh-TW" sz="2000" b="1" i="0" baseline="0" dirty="0"/>
            <a:t>標記成本與告警疲勞</a:t>
          </a:r>
          <a:r>
            <a:rPr lang="zh-TW" sz="2000" b="0" i="0" baseline="0" dirty="0"/>
            <a:t>：真實網路環境中攻擊手法變幻莫測，要蒐集並標記大量的最新攻擊樣本是不切實際的。面對層出不窮的警告，資安人員往往面臨告警疲勞。</a:t>
          </a:r>
          <a:endParaRPr lang="en-US" sz="2000" dirty="0"/>
        </a:p>
      </dgm:t>
    </dgm:pt>
    <dgm:pt modelId="{5B55CBBB-005F-4A9F-9A38-B0AAEF4E860E}" type="parTrans" cxnId="{FBD1DE8C-EA49-4065-99CC-9856B45782D9}">
      <dgm:prSet/>
      <dgm:spPr/>
      <dgm:t>
        <a:bodyPr/>
        <a:lstStyle/>
        <a:p>
          <a:endParaRPr lang="en-US"/>
        </a:p>
      </dgm:t>
    </dgm:pt>
    <dgm:pt modelId="{54CEBD1C-B3F0-4DBF-9211-5487270C4A2A}" type="sibTrans" cxnId="{FBD1DE8C-EA49-4065-99CC-9856B45782D9}">
      <dgm:prSet/>
      <dgm:spPr/>
      <dgm:t>
        <a:bodyPr/>
        <a:lstStyle/>
        <a:p>
          <a:endParaRPr lang="en-US"/>
        </a:p>
      </dgm:t>
    </dgm:pt>
    <dgm:pt modelId="{E050C78D-CB9A-46FE-8A5A-A74772D27AE2}" type="pres">
      <dgm:prSet presAssocID="{B8D31A49-B68D-48FE-89CE-68829666A70B}" presName="root" presStyleCnt="0">
        <dgm:presLayoutVars>
          <dgm:dir/>
          <dgm:resizeHandles val="exact"/>
        </dgm:presLayoutVars>
      </dgm:prSet>
      <dgm:spPr/>
    </dgm:pt>
    <dgm:pt modelId="{37BDBB96-D327-4935-8070-8E3D11DE30AF}" type="pres">
      <dgm:prSet presAssocID="{65139AB7-EF38-480E-AD6D-417E10A074BB}" presName="compNode" presStyleCnt="0"/>
      <dgm:spPr/>
    </dgm:pt>
    <dgm:pt modelId="{0256C400-4925-48C1-9840-DCF43C150F09}" type="pres">
      <dgm:prSet presAssocID="{65139AB7-EF38-480E-AD6D-417E10A074BB}" presName="bgRect" presStyleLbl="bgShp" presStyleIdx="0" presStyleCnt="3"/>
      <dgm:spPr/>
    </dgm:pt>
    <dgm:pt modelId="{4C76697F-96B5-4565-ACCA-EB872D912BE0}" type="pres">
      <dgm:prSet presAssocID="{65139AB7-EF38-480E-AD6D-417E10A074BB}"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處理器"/>
        </a:ext>
      </dgm:extLst>
    </dgm:pt>
    <dgm:pt modelId="{C5714518-4FBA-4BF0-BBDC-309547E4853A}" type="pres">
      <dgm:prSet presAssocID="{65139AB7-EF38-480E-AD6D-417E10A074BB}" presName="spaceRect" presStyleCnt="0"/>
      <dgm:spPr/>
    </dgm:pt>
    <dgm:pt modelId="{D255D1D9-382F-4CB4-AF9F-A0CF6E492613}" type="pres">
      <dgm:prSet presAssocID="{65139AB7-EF38-480E-AD6D-417E10A074BB}" presName="parTx" presStyleLbl="revTx" presStyleIdx="0" presStyleCnt="3">
        <dgm:presLayoutVars>
          <dgm:chMax val="0"/>
          <dgm:chPref val="0"/>
        </dgm:presLayoutVars>
      </dgm:prSet>
      <dgm:spPr/>
    </dgm:pt>
    <dgm:pt modelId="{B54B0F3F-07E2-4D9B-AA0D-FACFA7EAE1FD}" type="pres">
      <dgm:prSet presAssocID="{A5301E28-E2C8-4258-A247-2A86B6A14354}" presName="sibTrans" presStyleCnt="0"/>
      <dgm:spPr/>
    </dgm:pt>
    <dgm:pt modelId="{862D1D76-C57B-4720-A42D-C771C1F55691}" type="pres">
      <dgm:prSet presAssocID="{E6C69D53-B051-4F44-B0AE-284F59F42B99}" presName="compNode" presStyleCnt="0"/>
      <dgm:spPr/>
    </dgm:pt>
    <dgm:pt modelId="{099F117A-EFF2-47E2-B118-157F252005C8}" type="pres">
      <dgm:prSet presAssocID="{E6C69D53-B051-4F44-B0AE-284F59F42B99}" presName="bgRect" presStyleLbl="bgShp" presStyleIdx="1" presStyleCnt="3"/>
      <dgm:spPr/>
    </dgm:pt>
    <dgm:pt modelId="{DAEADB4B-EA05-463D-9A98-177504B06BC0}" type="pres">
      <dgm:prSet presAssocID="{E6C69D53-B051-4F44-B0AE-284F59F42B99}"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骰子"/>
        </a:ext>
      </dgm:extLst>
    </dgm:pt>
    <dgm:pt modelId="{DEAECF44-5442-4E6E-9C2E-10A1C79674DB}" type="pres">
      <dgm:prSet presAssocID="{E6C69D53-B051-4F44-B0AE-284F59F42B99}" presName="spaceRect" presStyleCnt="0"/>
      <dgm:spPr/>
    </dgm:pt>
    <dgm:pt modelId="{C76CB3C1-33E1-4A3C-9A98-2DFEE9160545}" type="pres">
      <dgm:prSet presAssocID="{E6C69D53-B051-4F44-B0AE-284F59F42B99}" presName="parTx" presStyleLbl="revTx" presStyleIdx="1" presStyleCnt="3">
        <dgm:presLayoutVars>
          <dgm:chMax val="0"/>
          <dgm:chPref val="0"/>
        </dgm:presLayoutVars>
      </dgm:prSet>
      <dgm:spPr/>
    </dgm:pt>
    <dgm:pt modelId="{51880A8B-86E8-4ACC-989F-E9C728E3BB8E}" type="pres">
      <dgm:prSet presAssocID="{0090C12E-3A41-44F9-AFBF-023C3EA317DE}" presName="sibTrans" presStyleCnt="0"/>
      <dgm:spPr/>
    </dgm:pt>
    <dgm:pt modelId="{CE92E8B7-C568-4F3D-A438-B87210DBFF4B}" type="pres">
      <dgm:prSet presAssocID="{EDF977B0-CF6A-42B3-A596-42236107D972}" presName="compNode" presStyleCnt="0"/>
      <dgm:spPr/>
    </dgm:pt>
    <dgm:pt modelId="{9830C586-1C1E-4837-9248-3C1172C75E59}" type="pres">
      <dgm:prSet presAssocID="{EDF977B0-CF6A-42B3-A596-42236107D972}" presName="bgRect" presStyleLbl="bgShp" presStyleIdx="2" presStyleCnt="3"/>
      <dgm:spPr/>
    </dgm:pt>
    <dgm:pt modelId="{B3E49C2E-C8DB-45F0-BEDC-44ECA06533AE}" type="pres">
      <dgm:prSet presAssocID="{EDF977B0-CF6A-42B3-A596-42236107D97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字幕"/>
        </a:ext>
      </dgm:extLst>
    </dgm:pt>
    <dgm:pt modelId="{33E7D865-07CB-46A5-B518-3DA5A7C60934}" type="pres">
      <dgm:prSet presAssocID="{EDF977B0-CF6A-42B3-A596-42236107D972}" presName="spaceRect" presStyleCnt="0"/>
      <dgm:spPr/>
    </dgm:pt>
    <dgm:pt modelId="{F8B1E1CB-63EC-4057-B345-3774A4530389}" type="pres">
      <dgm:prSet presAssocID="{EDF977B0-CF6A-42B3-A596-42236107D972}" presName="parTx" presStyleLbl="revTx" presStyleIdx="2" presStyleCnt="3">
        <dgm:presLayoutVars>
          <dgm:chMax val="0"/>
          <dgm:chPref val="0"/>
        </dgm:presLayoutVars>
      </dgm:prSet>
      <dgm:spPr/>
    </dgm:pt>
  </dgm:ptLst>
  <dgm:cxnLst>
    <dgm:cxn modelId="{22BF360A-499D-48EB-9D35-FE75C741A4DC}" type="presOf" srcId="{E6C69D53-B051-4F44-B0AE-284F59F42B99}" destId="{C76CB3C1-33E1-4A3C-9A98-2DFEE9160545}" srcOrd="0" destOrd="0" presId="urn:microsoft.com/office/officeart/2018/2/layout/IconVerticalSolidList"/>
    <dgm:cxn modelId="{92E23C44-0BCA-4226-A055-97D9BC83C846}" srcId="{B8D31A49-B68D-48FE-89CE-68829666A70B}" destId="{E6C69D53-B051-4F44-B0AE-284F59F42B99}" srcOrd="1" destOrd="0" parTransId="{27B8BEB2-71C9-4622-95DD-82313CB26C29}" sibTransId="{0090C12E-3A41-44F9-AFBF-023C3EA317DE}"/>
    <dgm:cxn modelId="{D0905751-5746-4CC0-BCF3-3DB33E4399F7}" type="presOf" srcId="{B8D31A49-B68D-48FE-89CE-68829666A70B}" destId="{E050C78D-CB9A-46FE-8A5A-A74772D27AE2}" srcOrd="0" destOrd="0" presId="urn:microsoft.com/office/officeart/2018/2/layout/IconVerticalSolidList"/>
    <dgm:cxn modelId="{FBD1DE8C-EA49-4065-99CC-9856B45782D9}" srcId="{B8D31A49-B68D-48FE-89CE-68829666A70B}" destId="{EDF977B0-CF6A-42B3-A596-42236107D972}" srcOrd="2" destOrd="0" parTransId="{5B55CBBB-005F-4A9F-9A38-B0AAEF4E860E}" sibTransId="{54CEBD1C-B3F0-4DBF-9211-5487270C4A2A}"/>
    <dgm:cxn modelId="{A12A929D-DDF3-4FAD-B636-FACE468C7298}" type="presOf" srcId="{EDF977B0-CF6A-42B3-A596-42236107D972}" destId="{F8B1E1CB-63EC-4057-B345-3774A4530389}" srcOrd="0" destOrd="0" presId="urn:microsoft.com/office/officeart/2018/2/layout/IconVerticalSolidList"/>
    <dgm:cxn modelId="{86D9CAA0-DF90-43BE-B1C8-D92D762095F1}" srcId="{B8D31A49-B68D-48FE-89CE-68829666A70B}" destId="{65139AB7-EF38-480E-AD6D-417E10A074BB}" srcOrd="0" destOrd="0" parTransId="{D3CC8A80-B0CD-46AC-918F-2B011B28507F}" sibTransId="{A5301E28-E2C8-4258-A247-2A86B6A14354}"/>
    <dgm:cxn modelId="{4C5060D8-E11F-459D-8F9B-9DBCE87AC956}" type="presOf" srcId="{65139AB7-EF38-480E-AD6D-417E10A074BB}" destId="{D255D1D9-382F-4CB4-AF9F-A0CF6E492613}" srcOrd="0" destOrd="0" presId="urn:microsoft.com/office/officeart/2018/2/layout/IconVerticalSolidList"/>
    <dgm:cxn modelId="{24615A76-F235-42D9-AD93-D1A59ED52492}" type="presParOf" srcId="{E050C78D-CB9A-46FE-8A5A-A74772D27AE2}" destId="{37BDBB96-D327-4935-8070-8E3D11DE30AF}" srcOrd="0" destOrd="0" presId="urn:microsoft.com/office/officeart/2018/2/layout/IconVerticalSolidList"/>
    <dgm:cxn modelId="{99C0792C-5C59-4A1F-A270-5050E8372029}" type="presParOf" srcId="{37BDBB96-D327-4935-8070-8E3D11DE30AF}" destId="{0256C400-4925-48C1-9840-DCF43C150F09}" srcOrd="0" destOrd="0" presId="urn:microsoft.com/office/officeart/2018/2/layout/IconVerticalSolidList"/>
    <dgm:cxn modelId="{36569850-ED2A-4368-A2F5-1C549D2C3867}" type="presParOf" srcId="{37BDBB96-D327-4935-8070-8E3D11DE30AF}" destId="{4C76697F-96B5-4565-ACCA-EB872D912BE0}" srcOrd="1" destOrd="0" presId="urn:microsoft.com/office/officeart/2018/2/layout/IconVerticalSolidList"/>
    <dgm:cxn modelId="{9D982440-929E-4065-8FB7-956D851D7636}" type="presParOf" srcId="{37BDBB96-D327-4935-8070-8E3D11DE30AF}" destId="{C5714518-4FBA-4BF0-BBDC-309547E4853A}" srcOrd="2" destOrd="0" presId="urn:microsoft.com/office/officeart/2018/2/layout/IconVerticalSolidList"/>
    <dgm:cxn modelId="{D02C85F6-A98D-4488-AD70-4F63F370B891}" type="presParOf" srcId="{37BDBB96-D327-4935-8070-8E3D11DE30AF}" destId="{D255D1D9-382F-4CB4-AF9F-A0CF6E492613}" srcOrd="3" destOrd="0" presId="urn:microsoft.com/office/officeart/2018/2/layout/IconVerticalSolidList"/>
    <dgm:cxn modelId="{0B7C3449-9D64-4946-B71D-2A2B837650AC}" type="presParOf" srcId="{E050C78D-CB9A-46FE-8A5A-A74772D27AE2}" destId="{B54B0F3F-07E2-4D9B-AA0D-FACFA7EAE1FD}" srcOrd="1" destOrd="0" presId="urn:microsoft.com/office/officeart/2018/2/layout/IconVerticalSolidList"/>
    <dgm:cxn modelId="{A2C83F67-E39C-4C46-BE19-C0E2D3CFCAD7}" type="presParOf" srcId="{E050C78D-CB9A-46FE-8A5A-A74772D27AE2}" destId="{862D1D76-C57B-4720-A42D-C771C1F55691}" srcOrd="2" destOrd="0" presId="urn:microsoft.com/office/officeart/2018/2/layout/IconVerticalSolidList"/>
    <dgm:cxn modelId="{567CFDD1-F621-4543-8080-2213C5BE3928}" type="presParOf" srcId="{862D1D76-C57B-4720-A42D-C771C1F55691}" destId="{099F117A-EFF2-47E2-B118-157F252005C8}" srcOrd="0" destOrd="0" presId="urn:microsoft.com/office/officeart/2018/2/layout/IconVerticalSolidList"/>
    <dgm:cxn modelId="{BCB1B3B5-8424-42B9-BFB2-7038364314F2}" type="presParOf" srcId="{862D1D76-C57B-4720-A42D-C771C1F55691}" destId="{DAEADB4B-EA05-463D-9A98-177504B06BC0}" srcOrd="1" destOrd="0" presId="urn:microsoft.com/office/officeart/2018/2/layout/IconVerticalSolidList"/>
    <dgm:cxn modelId="{C468D51F-F93D-438F-A1D7-75559BBFC40E}" type="presParOf" srcId="{862D1D76-C57B-4720-A42D-C771C1F55691}" destId="{DEAECF44-5442-4E6E-9C2E-10A1C79674DB}" srcOrd="2" destOrd="0" presId="urn:microsoft.com/office/officeart/2018/2/layout/IconVerticalSolidList"/>
    <dgm:cxn modelId="{915D7C8D-4B71-484B-ABB2-43A38CFA921C}" type="presParOf" srcId="{862D1D76-C57B-4720-A42D-C771C1F55691}" destId="{C76CB3C1-33E1-4A3C-9A98-2DFEE9160545}" srcOrd="3" destOrd="0" presId="urn:microsoft.com/office/officeart/2018/2/layout/IconVerticalSolidList"/>
    <dgm:cxn modelId="{96CDF5B4-DD3C-4FF3-B466-7C6E3E15C8B3}" type="presParOf" srcId="{E050C78D-CB9A-46FE-8A5A-A74772D27AE2}" destId="{51880A8B-86E8-4ACC-989F-E9C728E3BB8E}" srcOrd="3" destOrd="0" presId="urn:microsoft.com/office/officeart/2018/2/layout/IconVerticalSolidList"/>
    <dgm:cxn modelId="{A458D684-9CDD-4584-A64F-770E50FFCACF}" type="presParOf" srcId="{E050C78D-CB9A-46FE-8A5A-A74772D27AE2}" destId="{CE92E8B7-C568-4F3D-A438-B87210DBFF4B}" srcOrd="4" destOrd="0" presId="urn:microsoft.com/office/officeart/2018/2/layout/IconVerticalSolidList"/>
    <dgm:cxn modelId="{B557CA2F-8CFB-4A6C-919A-81AD673963E7}" type="presParOf" srcId="{CE92E8B7-C568-4F3D-A438-B87210DBFF4B}" destId="{9830C586-1C1E-4837-9248-3C1172C75E59}" srcOrd="0" destOrd="0" presId="urn:microsoft.com/office/officeart/2018/2/layout/IconVerticalSolidList"/>
    <dgm:cxn modelId="{FD31DAF4-AFC6-4C0E-BFA8-70C73CBCCBB3}" type="presParOf" srcId="{CE92E8B7-C568-4F3D-A438-B87210DBFF4B}" destId="{B3E49C2E-C8DB-45F0-BEDC-44ECA06533AE}" srcOrd="1" destOrd="0" presId="urn:microsoft.com/office/officeart/2018/2/layout/IconVerticalSolidList"/>
    <dgm:cxn modelId="{44993C60-04FE-4C93-B89F-AE8EAE3FFC27}" type="presParOf" srcId="{CE92E8B7-C568-4F3D-A438-B87210DBFF4B}" destId="{33E7D865-07CB-46A5-B518-3DA5A7C60934}" srcOrd="2" destOrd="0" presId="urn:microsoft.com/office/officeart/2018/2/layout/IconVerticalSolidList"/>
    <dgm:cxn modelId="{B9838A65-AAEF-4C66-90D1-AA16A9C75720}" type="presParOf" srcId="{CE92E8B7-C568-4F3D-A438-B87210DBFF4B}" destId="{F8B1E1CB-63EC-4057-B345-3774A4530389}"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7A652BD-D9CE-4D68-A397-945FED5E8385}"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4B43281E-93C2-46CD-B3B0-02056DC3C89C}">
      <dgm:prSet custT="1"/>
      <dgm:spPr/>
      <dgm:t>
        <a:bodyPr/>
        <a:lstStyle/>
        <a:p>
          <a:pPr algn="just"/>
          <a:r>
            <a:rPr lang="zh-TW" sz="2000" b="1" i="0" baseline="0" dirty="0"/>
            <a:t>提取有效指紋</a:t>
          </a:r>
          <a:r>
            <a:rPr lang="zh-TW" sz="2000" b="0" i="0" baseline="0" dirty="0"/>
            <a:t>：在不解密的情況下，提取 HTTP/3 加密流量的有效特徵</a:t>
          </a:r>
          <a:r>
            <a:rPr lang="zh-TW" altLang="en-US" sz="2000" b="0" i="0" baseline="0" dirty="0"/>
            <a:t> </a:t>
          </a:r>
          <a:r>
            <a:rPr lang="en-US" altLang="zh-TW" sz="2000" b="0" i="0" baseline="0" dirty="0"/>
            <a:t>(</a:t>
          </a:r>
          <a:r>
            <a:rPr lang="zh-TW" sz="2000" b="0" i="0" baseline="0" dirty="0"/>
            <a:t>如封包長度、到達時間間隔</a:t>
          </a:r>
          <a:r>
            <a:rPr lang="en-US" altLang="zh-TW" sz="2000" b="0" i="0" baseline="0" dirty="0"/>
            <a:t>)</a:t>
          </a:r>
          <a:r>
            <a:rPr lang="zh-TW" sz="2000" b="0" i="0" baseline="0" dirty="0"/>
            <a:t>。</a:t>
          </a:r>
          <a:endParaRPr lang="en-US" sz="2000" dirty="0"/>
        </a:p>
      </dgm:t>
    </dgm:pt>
    <dgm:pt modelId="{10F1FD50-69FC-4540-BF9C-0E599EDF68F8}" type="parTrans" cxnId="{4DA1BB81-7A13-429E-A532-6443EC805918}">
      <dgm:prSet/>
      <dgm:spPr/>
      <dgm:t>
        <a:bodyPr/>
        <a:lstStyle/>
        <a:p>
          <a:endParaRPr lang="en-US" sz="1400"/>
        </a:p>
      </dgm:t>
    </dgm:pt>
    <dgm:pt modelId="{1FEAECF5-6BBE-46D5-941B-47F72BE9B4E9}" type="sibTrans" cxnId="{4DA1BB81-7A13-429E-A532-6443EC805918}">
      <dgm:prSet/>
      <dgm:spPr/>
      <dgm:t>
        <a:bodyPr/>
        <a:lstStyle/>
        <a:p>
          <a:endParaRPr lang="en-US" sz="1400"/>
        </a:p>
      </dgm:t>
    </dgm:pt>
    <dgm:pt modelId="{D9F2950B-B199-4860-819B-564755821A80}">
      <dgm:prSet custT="1"/>
      <dgm:spPr/>
      <dgm:t>
        <a:bodyPr/>
        <a:lstStyle/>
        <a:p>
          <a:pPr algn="just"/>
          <a:r>
            <a:rPr lang="zh-TW" sz="2000" b="1" i="0" baseline="0" dirty="0"/>
            <a:t>非監督式學習防禦未知威脅</a:t>
          </a:r>
          <a:r>
            <a:rPr lang="zh-TW" sz="2000" b="0" i="0" baseline="0" dirty="0"/>
            <a:t>：在缺乏惡意標記數據的環境下，利用深度學習進行非監督式學習，實現對零時差攻擊的偵測。</a:t>
          </a:r>
          <a:endParaRPr lang="en-US" sz="2000" dirty="0"/>
        </a:p>
      </dgm:t>
    </dgm:pt>
    <dgm:pt modelId="{10254A03-DB04-4762-8365-A2DB3B819766}" type="parTrans" cxnId="{FF6561F0-3BFA-4CA8-B692-242F4985D1DC}">
      <dgm:prSet/>
      <dgm:spPr/>
      <dgm:t>
        <a:bodyPr/>
        <a:lstStyle/>
        <a:p>
          <a:endParaRPr lang="en-US" sz="1400"/>
        </a:p>
      </dgm:t>
    </dgm:pt>
    <dgm:pt modelId="{DF5F2C4D-0F3D-4B04-A94F-27A04F92A335}" type="sibTrans" cxnId="{FF6561F0-3BFA-4CA8-B692-242F4985D1DC}">
      <dgm:prSet/>
      <dgm:spPr/>
      <dgm:t>
        <a:bodyPr/>
        <a:lstStyle/>
        <a:p>
          <a:endParaRPr lang="en-US" sz="1400"/>
        </a:p>
      </dgm:t>
    </dgm:pt>
    <dgm:pt modelId="{6AF35E4E-7F75-44C8-AB89-517C38AF8DA7}">
      <dgm:prSet custT="1"/>
      <dgm:spPr/>
      <dgm:t>
        <a:bodyPr/>
        <a:lstStyle/>
        <a:p>
          <a:pPr algn="just"/>
          <a:r>
            <a:rPr lang="zh-TW" sz="2000" b="1" i="0" baseline="0" dirty="0"/>
            <a:t>情資與自動化閉環</a:t>
          </a:r>
          <a:r>
            <a:rPr lang="zh-TW" sz="2000" b="0" i="0" baseline="0" dirty="0"/>
            <a:t>：整合 MISP 威脅情資平台與</a:t>
          </a:r>
          <a:r>
            <a:rPr lang="zh-TW" sz="2000" dirty="0"/>
            <a:t>資安協作自動化應變</a:t>
          </a:r>
          <a:r>
            <a:rPr lang="en-US" sz="2000" dirty="0"/>
            <a:t> (SOAR)</a:t>
          </a:r>
          <a:r>
            <a:rPr lang="zh-TW" altLang="en-US" sz="2000" dirty="0"/>
            <a:t> </a:t>
          </a:r>
          <a:r>
            <a:rPr lang="zh-TW" sz="2000" b="0" i="0" baseline="0" dirty="0"/>
            <a:t>機制，實現異常自動化回應。</a:t>
          </a:r>
          <a:endParaRPr lang="en-US" sz="2000" dirty="0"/>
        </a:p>
      </dgm:t>
    </dgm:pt>
    <dgm:pt modelId="{EDEDEB85-2E9E-4353-86AD-BEEE0626CC99}" type="parTrans" cxnId="{53DCE50D-D08C-4456-A857-08B1F2287A97}">
      <dgm:prSet/>
      <dgm:spPr/>
      <dgm:t>
        <a:bodyPr/>
        <a:lstStyle/>
        <a:p>
          <a:endParaRPr lang="en-US" sz="1400"/>
        </a:p>
      </dgm:t>
    </dgm:pt>
    <dgm:pt modelId="{FD897446-1626-45AC-8F21-EE600AA43EC5}" type="sibTrans" cxnId="{53DCE50D-D08C-4456-A857-08B1F2287A97}">
      <dgm:prSet/>
      <dgm:spPr/>
      <dgm:t>
        <a:bodyPr/>
        <a:lstStyle/>
        <a:p>
          <a:endParaRPr lang="en-US" sz="1400"/>
        </a:p>
      </dgm:t>
    </dgm:pt>
    <dgm:pt modelId="{E81D440D-8AC7-42AB-B910-E5728A1694DF}" type="pres">
      <dgm:prSet presAssocID="{77A652BD-D9CE-4D68-A397-945FED5E8385}" presName="root" presStyleCnt="0">
        <dgm:presLayoutVars>
          <dgm:dir/>
          <dgm:resizeHandles val="exact"/>
        </dgm:presLayoutVars>
      </dgm:prSet>
      <dgm:spPr/>
    </dgm:pt>
    <dgm:pt modelId="{01D373F8-E253-43F9-BEC0-CBCD6FC930A4}" type="pres">
      <dgm:prSet presAssocID="{4B43281E-93C2-46CD-B3B0-02056DC3C89C}" presName="compNode" presStyleCnt="0"/>
      <dgm:spPr/>
    </dgm:pt>
    <dgm:pt modelId="{57722572-0515-4ACE-930E-426A0CEE5BC1}" type="pres">
      <dgm:prSet presAssocID="{4B43281E-93C2-46CD-B3B0-02056DC3C89C}" presName="bgRect" presStyleLbl="bgShp" presStyleIdx="0" presStyleCnt="3" custLinFactNeighborX="-2465" custLinFactNeighborY="-2766"/>
      <dgm:spPr/>
    </dgm:pt>
    <dgm:pt modelId="{734D1439-FEC6-4416-A5FD-0E72B6462510}" type="pres">
      <dgm:prSet presAssocID="{4B43281E-93C2-46CD-B3B0-02056DC3C89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程式設計師"/>
        </a:ext>
      </dgm:extLst>
    </dgm:pt>
    <dgm:pt modelId="{4F7F272C-5B60-4A4D-8D0B-532502BF85EC}" type="pres">
      <dgm:prSet presAssocID="{4B43281E-93C2-46CD-B3B0-02056DC3C89C}" presName="spaceRect" presStyleCnt="0"/>
      <dgm:spPr/>
    </dgm:pt>
    <dgm:pt modelId="{3C000D28-0CD0-4397-84EE-AD2CBC718708}" type="pres">
      <dgm:prSet presAssocID="{4B43281E-93C2-46CD-B3B0-02056DC3C89C}" presName="parTx" presStyleLbl="revTx" presStyleIdx="0" presStyleCnt="3">
        <dgm:presLayoutVars>
          <dgm:chMax val="0"/>
          <dgm:chPref val="0"/>
        </dgm:presLayoutVars>
      </dgm:prSet>
      <dgm:spPr/>
    </dgm:pt>
    <dgm:pt modelId="{D1EAC610-FF72-4F69-AFDD-02AE3A449F40}" type="pres">
      <dgm:prSet presAssocID="{1FEAECF5-6BBE-46D5-941B-47F72BE9B4E9}" presName="sibTrans" presStyleCnt="0"/>
      <dgm:spPr/>
    </dgm:pt>
    <dgm:pt modelId="{A187CB96-682B-423F-91AC-D3439029DDC0}" type="pres">
      <dgm:prSet presAssocID="{D9F2950B-B199-4860-819B-564755821A80}" presName="compNode" presStyleCnt="0"/>
      <dgm:spPr/>
    </dgm:pt>
    <dgm:pt modelId="{D14CADD4-4F0C-40FD-9285-627EA6018DB1}" type="pres">
      <dgm:prSet presAssocID="{D9F2950B-B199-4860-819B-564755821A80}" presName="bgRect" presStyleLbl="bgShp" presStyleIdx="1" presStyleCnt="3"/>
      <dgm:spPr/>
    </dgm:pt>
    <dgm:pt modelId="{5E0DBD9E-6085-4A5C-8524-72460981F7B4}" type="pres">
      <dgm:prSet presAssocID="{D9F2950B-B199-4860-819B-564755821A8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字幕"/>
        </a:ext>
      </dgm:extLst>
    </dgm:pt>
    <dgm:pt modelId="{E79950DC-18B5-48EA-A2B0-E9D71450D808}" type="pres">
      <dgm:prSet presAssocID="{D9F2950B-B199-4860-819B-564755821A80}" presName="spaceRect" presStyleCnt="0"/>
      <dgm:spPr/>
    </dgm:pt>
    <dgm:pt modelId="{59D70CC6-6BEC-477C-9E82-351F5C1EFB53}" type="pres">
      <dgm:prSet presAssocID="{D9F2950B-B199-4860-819B-564755821A80}" presName="parTx" presStyleLbl="revTx" presStyleIdx="1" presStyleCnt="3">
        <dgm:presLayoutVars>
          <dgm:chMax val="0"/>
          <dgm:chPref val="0"/>
        </dgm:presLayoutVars>
      </dgm:prSet>
      <dgm:spPr/>
    </dgm:pt>
    <dgm:pt modelId="{9A4F9EDE-405F-45BE-AA97-05BA2A72DA84}" type="pres">
      <dgm:prSet presAssocID="{DF5F2C4D-0F3D-4B04-A94F-27A04F92A335}" presName="sibTrans" presStyleCnt="0"/>
      <dgm:spPr/>
    </dgm:pt>
    <dgm:pt modelId="{BE74606C-F039-4A05-9FAB-28F882F3A363}" type="pres">
      <dgm:prSet presAssocID="{6AF35E4E-7F75-44C8-AB89-517C38AF8DA7}" presName="compNode" presStyleCnt="0"/>
      <dgm:spPr/>
    </dgm:pt>
    <dgm:pt modelId="{678C9336-E14E-4917-8E85-901F65361DB1}" type="pres">
      <dgm:prSet presAssocID="{6AF35E4E-7F75-44C8-AB89-517C38AF8DA7}" presName="bgRect" presStyleLbl="bgShp" presStyleIdx="2" presStyleCnt="3"/>
      <dgm:spPr/>
    </dgm:pt>
    <dgm:pt modelId="{D1B3EE23-A117-4A9F-A6E8-AD79A9A92118}" type="pres">
      <dgm:prSet presAssocID="{6AF35E4E-7F75-44C8-AB89-517C38AF8DA7}"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Arrow Circle"/>
        </a:ext>
      </dgm:extLst>
    </dgm:pt>
    <dgm:pt modelId="{EF0D1751-88BC-44D4-860F-DD4649EF34F9}" type="pres">
      <dgm:prSet presAssocID="{6AF35E4E-7F75-44C8-AB89-517C38AF8DA7}" presName="spaceRect" presStyleCnt="0"/>
      <dgm:spPr/>
    </dgm:pt>
    <dgm:pt modelId="{3352F786-B4B4-434D-B7DA-DC5C00BC76D7}" type="pres">
      <dgm:prSet presAssocID="{6AF35E4E-7F75-44C8-AB89-517C38AF8DA7}" presName="parTx" presStyleLbl="revTx" presStyleIdx="2" presStyleCnt="3">
        <dgm:presLayoutVars>
          <dgm:chMax val="0"/>
          <dgm:chPref val="0"/>
        </dgm:presLayoutVars>
      </dgm:prSet>
      <dgm:spPr/>
    </dgm:pt>
  </dgm:ptLst>
  <dgm:cxnLst>
    <dgm:cxn modelId="{53DCE50D-D08C-4456-A857-08B1F2287A97}" srcId="{77A652BD-D9CE-4D68-A397-945FED5E8385}" destId="{6AF35E4E-7F75-44C8-AB89-517C38AF8DA7}" srcOrd="2" destOrd="0" parTransId="{EDEDEB85-2E9E-4353-86AD-BEEE0626CC99}" sibTransId="{FD897446-1626-45AC-8F21-EE600AA43EC5}"/>
    <dgm:cxn modelId="{E59DA978-821A-4593-879D-C5F7C52076AF}" type="presOf" srcId="{4B43281E-93C2-46CD-B3B0-02056DC3C89C}" destId="{3C000D28-0CD0-4397-84EE-AD2CBC718708}" srcOrd="0" destOrd="0" presId="urn:microsoft.com/office/officeart/2018/2/layout/IconVerticalSolidList"/>
    <dgm:cxn modelId="{4DA1BB81-7A13-429E-A532-6443EC805918}" srcId="{77A652BD-D9CE-4D68-A397-945FED5E8385}" destId="{4B43281E-93C2-46CD-B3B0-02056DC3C89C}" srcOrd="0" destOrd="0" parTransId="{10F1FD50-69FC-4540-BF9C-0E599EDF68F8}" sibTransId="{1FEAECF5-6BBE-46D5-941B-47F72BE9B4E9}"/>
    <dgm:cxn modelId="{73F17CA2-8CCD-431F-B8F5-90CC23EDE878}" type="presOf" srcId="{6AF35E4E-7F75-44C8-AB89-517C38AF8DA7}" destId="{3352F786-B4B4-434D-B7DA-DC5C00BC76D7}" srcOrd="0" destOrd="0" presId="urn:microsoft.com/office/officeart/2018/2/layout/IconVerticalSolidList"/>
    <dgm:cxn modelId="{2A76D7D4-D2BE-4AFA-BCDA-5C37D0554862}" type="presOf" srcId="{77A652BD-D9CE-4D68-A397-945FED5E8385}" destId="{E81D440D-8AC7-42AB-B910-E5728A1694DF}" srcOrd="0" destOrd="0" presId="urn:microsoft.com/office/officeart/2018/2/layout/IconVerticalSolidList"/>
    <dgm:cxn modelId="{FF6561F0-3BFA-4CA8-B692-242F4985D1DC}" srcId="{77A652BD-D9CE-4D68-A397-945FED5E8385}" destId="{D9F2950B-B199-4860-819B-564755821A80}" srcOrd="1" destOrd="0" parTransId="{10254A03-DB04-4762-8365-A2DB3B819766}" sibTransId="{DF5F2C4D-0F3D-4B04-A94F-27A04F92A335}"/>
    <dgm:cxn modelId="{CD5592F8-2255-49DA-9DF4-50FE5A45F13C}" type="presOf" srcId="{D9F2950B-B199-4860-819B-564755821A80}" destId="{59D70CC6-6BEC-477C-9E82-351F5C1EFB53}" srcOrd="0" destOrd="0" presId="urn:microsoft.com/office/officeart/2018/2/layout/IconVerticalSolidList"/>
    <dgm:cxn modelId="{3BA2E7CE-34E0-4E44-85BC-B738350953CC}" type="presParOf" srcId="{E81D440D-8AC7-42AB-B910-E5728A1694DF}" destId="{01D373F8-E253-43F9-BEC0-CBCD6FC930A4}" srcOrd="0" destOrd="0" presId="urn:microsoft.com/office/officeart/2018/2/layout/IconVerticalSolidList"/>
    <dgm:cxn modelId="{1A310553-D5E2-4BC1-99CA-4FEBA3E6D8F2}" type="presParOf" srcId="{01D373F8-E253-43F9-BEC0-CBCD6FC930A4}" destId="{57722572-0515-4ACE-930E-426A0CEE5BC1}" srcOrd="0" destOrd="0" presId="urn:microsoft.com/office/officeart/2018/2/layout/IconVerticalSolidList"/>
    <dgm:cxn modelId="{A01CA80C-DB37-4E09-93E4-21036A7ADC9C}" type="presParOf" srcId="{01D373F8-E253-43F9-BEC0-CBCD6FC930A4}" destId="{734D1439-FEC6-4416-A5FD-0E72B6462510}" srcOrd="1" destOrd="0" presId="urn:microsoft.com/office/officeart/2018/2/layout/IconVerticalSolidList"/>
    <dgm:cxn modelId="{C427170F-21A4-48B9-8D77-5156092B771F}" type="presParOf" srcId="{01D373F8-E253-43F9-BEC0-CBCD6FC930A4}" destId="{4F7F272C-5B60-4A4D-8D0B-532502BF85EC}" srcOrd="2" destOrd="0" presId="urn:microsoft.com/office/officeart/2018/2/layout/IconVerticalSolidList"/>
    <dgm:cxn modelId="{8520D1CA-CB6A-4587-AA0E-027818E5AA70}" type="presParOf" srcId="{01D373F8-E253-43F9-BEC0-CBCD6FC930A4}" destId="{3C000D28-0CD0-4397-84EE-AD2CBC718708}" srcOrd="3" destOrd="0" presId="urn:microsoft.com/office/officeart/2018/2/layout/IconVerticalSolidList"/>
    <dgm:cxn modelId="{D89E7BA1-D382-453D-982C-FC25F6E07CCE}" type="presParOf" srcId="{E81D440D-8AC7-42AB-B910-E5728A1694DF}" destId="{D1EAC610-FF72-4F69-AFDD-02AE3A449F40}" srcOrd="1" destOrd="0" presId="urn:microsoft.com/office/officeart/2018/2/layout/IconVerticalSolidList"/>
    <dgm:cxn modelId="{888F9B3D-2689-405B-A21D-869C6468D8C3}" type="presParOf" srcId="{E81D440D-8AC7-42AB-B910-E5728A1694DF}" destId="{A187CB96-682B-423F-91AC-D3439029DDC0}" srcOrd="2" destOrd="0" presId="urn:microsoft.com/office/officeart/2018/2/layout/IconVerticalSolidList"/>
    <dgm:cxn modelId="{10D84220-8D10-4EB6-A491-0828C125E12C}" type="presParOf" srcId="{A187CB96-682B-423F-91AC-D3439029DDC0}" destId="{D14CADD4-4F0C-40FD-9285-627EA6018DB1}" srcOrd="0" destOrd="0" presId="urn:microsoft.com/office/officeart/2018/2/layout/IconVerticalSolidList"/>
    <dgm:cxn modelId="{86F72331-BF2E-422A-98F8-56126E24076B}" type="presParOf" srcId="{A187CB96-682B-423F-91AC-D3439029DDC0}" destId="{5E0DBD9E-6085-4A5C-8524-72460981F7B4}" srcOrd="1" destOrd="0" presId="urn:microsoft.com/office/officeart/2018/2/layout/IconVerticalSolidList"/>
    <dgm:cxn modelId="{E345A762-F22C-463A-9B79-F51A80ADE07A}" type="presParOf" srcId="{A187CB96-682B-423F-91AC-D3439029DDC0}" destId="{E79950DC-18B5-48EA-A2B0-E9D71450D808}" srcOrd="2" destOrd="0" presId="urn:microsoft.com/office/officeart/2018/2/layout/IconVerticalSolidList"/>
    <dgm:cxn modelId="{399FCC9F-CC1F-48D3-A731-C2F5AAF32F4B}" type="presParOf" srcId="{A187CB96-682B-423F-91AC-D3439029DDC0}" destId="{59D70CC6-6BEC-477C-9E82-351F5C1EFB53}" srcOrd="3" destOrd="0" presId="urn:microsoft.com/office/officeart/2018/2/layout/IconVerticalSolidList"/>
    <dgm:cxn modelId="{E400E127-73C3-4E74-87BA-748193970185}" type="presParOf" srcId="{E81D440D-8AC7-42AB-B910-E5728A1694DF}" destId="{9A4F9EDE-405F-45BE-AA97-05BA2A72DA84}" srcOrd="3" destOrd="0" presId="urn:microsoft.com/office/officeart/2018/2/layout/IconVerticalSolidList"/>
    <dgm:cxn modelId="{E37FFA32-23C5-4452-8C2E-DF2F21CF4292}" type="presParOf" srcId="{E81D440D-8AC7-42AB-B910-E5728A1694DF}" destId="{BE74606C-F039-4A05-9FAB-28F882F3A363}" srcOrd="4" destOrd="0" presId="urn:microsoft.com/office/officeart/2018/2/layout/IconVerticalSolidList"/>
    <dgm:cxn modelId="{08DACA2F-410A-49D6-8861-95A0673A661B}" type="presParOf" srcId="{BE74606C-F039-4A05-9FAB-28F882F3A363}" destId="{678C9336-E14E-4917-8E85-901F65361DB1}" srcOrd="0" destOrd="0" presId="urn:microsoft.com/office/officeart/2018/2/layout/IconVerticalSolidList"/>
    <dgm:cxn modelId="{2BE0806A-37A3-4F4D-808F-4401C280E61C}" type="presParOf" srcId="{BE74606C-F039-4A05-9FAB-28F882F3A363}" destId="{D1B3EE23-A117-4A9F-A6E8-AD79A9A92118}" srcOrd="1" destOrd="0" presId="urn:microsoft.com/office/officeart/2018/2/layout/IconVerticalSolidList"/>
    <dgm:cxn modelId="{26EAD535-021B-4701-A32D-D82A71675A27}" type="presParOf" srcId="{BE74606C-F039-4A05-9FAB-28F882F3A363}" destId="{EF0D1751-88BC-44D4-860F-DD4649EF34F9}" srcOrd="2" destOrd="0" presId="urn:microsoft.com/office/officeart/2018/2/layout/IconVerticalSolidList"/>
    <dgm:cxn modelId="{13AE684E-51ED-4996-BED8-DAAC3B7A6B34}" type="presParOf" srcId="{BE74606C-F039-4A05-9FAB-28F882F3A363}" destId="{3352F786-B4B4-434D-B7DA-DC5C00BC76D7}"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56C400-4925-48C1-9840-DCF43C150F09}">
      <dsp:nvSpPr>
        <dsp:cNvPr id="0" name=""/>
        <dsp:cNvSpPr/>
      </dsp:nvSpPr>
      <dsp:spPr>
        <a:xfrm>
          <a:off x="0" y="2296"/>
          <a:ext cx="7886700" cy="1287194"/>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C76697F-96B5-4565-ACCA-EB872D912BE0}">
      <dsp:nvSpPr>
        <dsp:cNvPr id="0" name=""/>
        <dsp:cNvSpPr/>
      </dsp:nvSpPr>
      <dsp:spPr>
        <a:xfrm>
          <a:off x="389376" y="291915"/>
          <a:ext cx="708649" cy="7079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255D1D9-382F-4CB4-AF9F-A0CF6E492613}">
      <dsp:nvSpPr>
        <dsp:cNvPr id="0" name=""/>
        <dsp:cNvSpPr/>
      </dsp:nvSpPr>
      <dsp:spPr>
        <a:xfrm>
          <a:off x="1487401" y="2296"/>
          <a:ext cx="6261812" cy="1288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6361" tIns="136361" rIns="136361" bIns="136361"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HTTP/3 帶來的防禦真空</a:t>
          </a:r>
          <a:r>
            <a:rPr lang="zh-TW" sz="2000" b="0" i="0" kern="1200" baseline="0" dirty="0"/>
            <a:t>：HTTP/3</a:t>
          </a:r>
          <a:r>
            <a:rPr lang="zh-TW" altLang="en-US" sz="2000" b="0" i="0" kern="1200" baseline="0" dirty="0"/>
            <a:t> </a:t>
          </a:r>
          <a:r>
            <a:rPr lang="en-US" altLang="zh-TW" sz="2000" b="0" i="0" kern="1200" baseline="0" dirty="0"/>
            <a:t>(</a:t>
          </a:r>
          <a:r>
            <a:rPr lang="zh-TW" sz="2000" b="0" i="0" kern="1200" baseline="0" dirty="0"/>
            <a:t>基於 QUIC 協定</a:t>
          </a:r>
          <a:r>
            <a:rPr lang="en-US" altLang="zh-TW" sz="2000" b="0" i="0" kern="1200" baseline="0" dirty="0"/>
            <a:t>)</a:t>
          </a:r>
          <a:r>
            <a:rPr lang="zh-TW" altLang="en-US" sz="2000" b="0" i="0" kern="1200" baseline="0" dirty="0"/>
            <a:t> </a:t>
          </a:r>
          <a:r>
            <a:rPr lang="zh-TW" sz="2000" b="0" i="0" kern="1200" baseline="0" dirty="0"/>
            <a:t>已成為新世代傳輸標準，但其基於 UDP 且強制 TLS 1.3 加密的特性，導致傳統基於特徵碼 (Signature-based) 與深度封包檢測 (DPI) 的防火牆完全失效。</a:t>
          </a:r>
          <a:endParaRPr lang="en-US" sz="2000" kern="1200" dirty="0"/>
        </a:p>
      </dsp:txBody>
      <dsp:txXfrm>
        <a:off x="1487401" y="2296"/>
        <a:ext cx="6261812" cy="1288452"/>
      </dsp:txXfrm>
    </dsp:sp>
    <dsp:sp modelId="{099F117A-EFF2-47E2-B118-157F252005C8}">
      <dsp:nvSpPr>
        <dsp:cNvPr id="0" name=""/>
        <dsp:cNvSpPr/>
      </dsp:nvSpPr>
      <dsp:spPr>
        <a:xfrm>
          <a:off x="0" y="1569334"/>
          <a:ext cx="7886700" cy="1287194"/>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AEADB4B-EA05-463D-9A98-177504B06BC0}">
      <dsp:nvSpPr>
        <dsp:cNvPr id="0" name=""/>
        <dsp:cNvSpPr/>
      </dsp:nvSpPr>
      <dsp:spPr>
        <a:xfrm>
          <a:off x="389376" y="1858952"/>
          <a:ext cx="708649" cy="7079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76CB3C1-33E1-4A3C-9A98-2DFEE9160545}">
      <dsp:nvSpPr>
        <dsp:cNvPr id="0" name=""/>
        <dsp:cNvSpPr/>
      </dsp:nvSpPr>
      <dsp:spPr>
        <a:xfrm>
          <a:off x="1487401" y="1569334"/>
          <a:ext cx="6261812" cy="1288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6361" tIns="136361" rIns="136361" bIns="136361"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對抗式規避技術 (Adversarial Evasion)</a:t>
          </a:r>
          <a:r>
            <a:rPr lang="zh-TW" sz="2000" b="0" i="0" kern="1200" baseline="0" dirty="0"/>
            <a:t>：惡意攻擊者透過封包切割、時序干擾等手法偽裝成正常流量，改變統計特徵以騙過傳統模型。</a:t>
          </a:r>
          <a:endParaRPr lang="en-US" sz="2000" kern="1200" dirty="0"/>
        </a:p>
      </dsp:txBody>
      <dsp:txXfrm>
        <a:off x="1487401" y="1569334"/>
        <a:ext cx="6261812" cy="1288452"/>
      </dsp:txXfrm>
    </dsp:sp>
    <dsp:sp modelId="{9830C586-1C1E-4837-9248-3C1172C75E59}">
      <dsp:nvSpPr>
        <dsp:cNvPr id="0" name=""/>
        <dsp:cNvSpPr/>
      </dsp:nvSpPr>
      <dsp:spPr>
        <a:xfrm>
          <a:off x="0" y="3136371"/>
          <a:ext cx="7886700" cy="1287194"/>
        </a:xfrm>
        <a:prstGeom prst="roundRect">
          <a:avLst>
            <a:gd name="adj" fmla="val 10000"/>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E49C2E-C8DB-45F0-BEDC-44ECA06533AE}">
      <dsp:nvSpPr>
        <dsp:cNvPr id="0" name=""/>
        <dsp:cNvSpPr/>
      </dsp:nvSpPr>
      <dsp:spPr>
        <a:xfrm>
          <a:off x="389376" y="3425990"/>
          <a:ext cx="708649" cy="7079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8B1E1CB-63EC-4057-B345-3774A4530389}">
      <dsp:nvSpPr>
        <dsp:cNvPr id="0" name=""/>
        <dsp:cNvSpPr/>
      </dsp:nvSpPr>
      <dsp:spPr>
        <a:xfrm>
          <a:off x="1487401" y="3136371"/>
          <a:ext cx="6261812" cy="12884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6361" tIns="136361" rIns="136361" bIns="136361"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標記成本與告警疲勞</a:t>
          </a:r>
          <a:r>
            <a:rPr lang="zh-TW" sz="2000" b="0" i="0" kern="1200" baseline="0" dirty="0"/>
            <a:t>：真實網路環境中攻擊手法變幻莫測，要蒐集並標記大量的最新攻擊樣本是不切實際的。面對層出不窮的警告，資安人員往往面臨告警疲勞。</a:t>
          </a:r>
          <a:endParaRPr lang="en-US" sz="2000" kern="1200" dirty="0"/>
        </a:p>
      </dsp:txBody>
      <dsp:txXfrm>
        <a:off x="1487401" y="3136371"/>
        <a:ext cx="6261812" cy="12884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7722572-0515-4ACE-930E-426A0CEE5BC1}">
      <dsp:nvSpPr>
        <dsp:cNvPr id="0" name=""/>
        <dsp:cNvSpPr/>
      </dsp:nvSpPr>
      <dsp:spPr>
        <a:xfrm>
          <a:off x="0" y="0"/>
          <a:ext cx="8219209" cy="892577"/>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34D1439-FEC6-4416-A5FD-0E72B6462510}">
      <dsp:nvSpPr>
        <dsp:cNvPr id="0" name=""/>
        <dsp:cNvSpPr/>
      </dsp:nvSpPr>
      <dsp:spPr>
        <a:xfrm>
          <a:off x="270004" y="201211"/>
          <a:ext cx="490917" cy="4909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C000D28-0CD0-4397-84EE-AD2CBC718708}">
      <dsp:nvSpPr>
        <dsp:cNvPr id="0" name=""/>
        <dsp:cNvSpPr/>
      </dsp:nvSpPr>
      <dsp:spPr>
        <a:xfrm>
          <a:off x="1030927" y="381"/>
          <a:ext cx="7188281" cy="8925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464" tIns="94464" rIns="94464" bIns="94464"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提取有效指紋</a:t>
          </a:r>
          <a:r>
            <a:rPr lang="zh-TW" sz="2000" b="0" i="0" kern="1200" baseline="0" dirty="0"/>
            <a:t>：在不解密的情況下，提取 HTTP/3 加密流量的有效特徵</a:t>
          </a:r>
          <a:r>
            <a:rPr lang="zh-TW" altLang="en-US" sz="2000" b="0" i="0" kern="1200" baseline="0" dirty="0"/>
            <a:t> </a:t>
          </a:r>
          <a:r>
            <a:rPr lang="en-US" altLang="zh-TW" sz="2000" b="0" i="0" kern="1200" baseline="0" dirty="0"/>
            <a:t>(</a:t>
          </a:r>
          <a:r>
            <a:rPr lang="zh-TW" sz="2000" b="0" i="0" kern="1200" baseline="0" dirty="0"/>
            <a:t>如封包長度、到達時間間隔</a:t>
          </a:r>
          <a:r>
            <a:rPr lang="en-US" altLang="zh-TW" sz="2000" b="0" i="0" kern="1200" baseline="0" dirty="0"/>
            <a:t>)</a:t>
          </a:r>
          <a:r>
            <a:rPr lang="zh-TW" sz="2000" b="0" i="0" kern="1200" baseline="0" dirty="0"/>
            <a:t>。</a:t>
          </a:r>
          <a:endParaRPr lang="en-US" sz="2000" kern="1200" dirty="0"/>
        </a:p>
      </dsp:txBody>
      <dsp:txXfrm>
        <a:off x="1030927" y="381"/>
        <a:ext cx="7188281" cy="892577"/>
      </dsp:txXfrm>
    </dsp:sp>
    <dsp:sp modelId="{D14CADD4-4F0C-40FD-9285-627EA6018DB1}">
      <dsp:nvSpPr>
        <dsp:cNvPr id="0" name=""/>
        <dsp:cNvSpPr/>
      </dsp:nvSpPr>
      <dsp:spPr>
        <a:xfrm>
          <a:off x="0" y="1116103"/>
          <a:ext cx="8219209" cy="892577"/>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E0DBD9E-6085-4A5C-8524-72460981F7B4}">
      <dsp:nvSpPr>
        <dsp:cNvPr id="0" name=""/>
        <dsp:cNvSpPr/>
      </dsp:nvSpPr>
      <dsp:spPr>
        <a:xfrm>
          <a:off x="270004" y="1316933"/>
          <a:ext cx="490917" cy="4909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9D70CC6-6BEC-477C-9E82-351F5C1EFB53}">
      <dsp:nvSpPr>
        <dsp:cNvPr id="0" name=""/>
        <dsp:cNvSpPr/>
      </dsp:nvSpPr>
      <dsp:spPr>
        <a:xfrm>
          <a:off x="1030927" y="1116103"/>
          <a:ext cx="7188281" cy="8925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464" tIns="94464" rIns="94464" bIns="94464"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非監督式學習防禦未知威脅</a:t>
          </a:r>
          <a:r>
            <a:rPr lang="zh-TW" sz="2000" b="0" i="0" kern="1200" baseline="0" dirty="0"/>
            <a:t>：在缺乏惡意標記數據的環境下，利用深度學習進行非監督式學習，實現對零時差攻擊的偵測。</a:t>
          </a:r>
          <a:endParaRPr lang="en-US" sz="2000" kern="1200" dirty="0"/>
        </a:p>
      </dsp:txBody>
      <dsp:txXfrm>
        <a:off x="1030927" y="1116103"/>
        <a:ext cx="7188281" cy="892577"/>
      </dsp:txXfrm>
    </dsp:sp>
    <dsp:sp modelId="{678C9336-E14E-4917-8E85-901F65361DB1}">
      <dsp:nvSpPr>
        <dsp:cNvPr id="0" name=""/>
        <dsp:cNvSpPr/>
      </dsp:nvSpPr>
      <dsp:spPr>
        <a:xfrm>
          <a:off x="0" y="2231825"/>
          <a:ext cx="8219209" cy="892577"/>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B3EE23-A117-4A9F-A6E8-AD79A9A92118}">
      <dsp:nvSpPr>
        <dsp:cNvPr id="0" name=""/>
        <dsp:cNvSpPr/>
      </dsp:nvSpPr>
      <dsp:spPr>
        <a:xfrm>
          <a:off x="270004" y="2432655"/>
          <a:ext cx="490917" cy="4909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352F786-B4B4-434D-B7DA-DC5C00BC76D7}">
      <dsp:nvSpPr>
        <dsp:cNvPr id="0" name=""/>
        <dsp:cNvSpPr/>
      </dsp:nvSpPr>
      <dsp:spPr>
        <a:xfrm>
          <a:off x="1030927" y="2231825"/>
          <a:ext cx="7188281" cy="8925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464" tIns="94464" rIns="94464" bIns="94464" numCol="1" spcCol="1270" anchor="ctr" anchorCtr="0">
          <a:noAutofit/>
        </a:bodyPr>
        <a:lstStyle/>
        <a:p>
          <a:pPr marL="0" lvl="0" indent="0" algn="just" defTabSz="889000">
            <a:lnSpc>
              <a:spcPct val="90000"/>
            </a:lnSpc>
            <a:spcBef>
              <a:spcPct val="0"/>
            </a:spcBef>
            <a:spcAft>
              <a:spcPct val="35000"/>
            </a:spcAft>
            <a:buNone/>
          </a:pPr>
          <a:r>
            <a:rPr lang="zh-TW" sz="2000" b="1" i="0" kern="1200" baseline="0" dirty="0"/>
            <a:t>情資與自動化閉環</a:t>
          </a:r>
          <a:r>
            <a:rPr lang="zh-TW" sz="2000" b="0" i="0" kern="1200" baseline="0" dirty="0"/>
            <a:t>：整合 MISP 威脅情資平台與</a:t>
          </a:r>
          <a:r>
            <a:rPr lang="zh-TW" sz="2000" kern="1200" dirty="0"/>
            <a:t>資安協作自動化應變</a:t>
          </a:r>
          <a:r>
            <a:rPr lang="en-US" sz="2000" kern="1200" dirty="0"/>
            <a:t> (SOAR)</a:t>
          </a:r>
          <a:r>
            <a:rPr lang="zh-TW" altLang="en-US" sz="2000" kern="1200" dirty="0"/>
            <a:t> </a:t>
          </a:r>
          <a:r>
            <a:rPr lang="zh-TW" sz="2000" b="0" i="0" kern="1200" baseline="0" dirty="0"/>
            <a:t>機制，實現異常自動化回應。</a:t>
          </a:r>
          <a:endParaRPr lang="en-US" sz="2000" kern="1200" dirty="0"/>
        </a:p>
      </dsp:txBody>
      <dsp:txXfrm>
        <a:off x="1030927" y="2231825"/>
        <a:ext cx="7188281" cy="89257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53F6ED8B-CF52-4A64-BACC-61D9C1041E04}"/>
              </a:ext>
            </a:extLst>
          </p:cNvPr>
          <p:cNvSpPr>
            <a:spLocks noGrp="1"/>
          </p:cNvSpPr>
          <p:nvPr>
            <p:ph type="hdr" sz="quarter"/>
          </p:nvPr>
        </p:nvSpPr>
        <p:spPr>
          <a:xfrm>
            <a:off x="0" y="2"/>
            <a:ext cx="3962400" cy="344091"/>
          </a:xfrm>
          <a:prstGeom prst="rect">
            <a:avLst/>
          </a:prstGeom>
        </p:spPr>
        <p:txBody>
          <a:bodyPr vert="horz" lIns="91440" tIns="45720" rIns="91440" bIns="45720" rtlCol="0"/>
          <a:lstStyle>
            <a:lvl1pPr algn="l">
              <a:defRPr sz="1200"/>
            </a:lvl1pPr>
          </a:lstStyle>
          <a:p>
            <a:pPr rtl="0"/>
            <a:endParaRPr lang="zh-TW" altLang="en-US">
              <a:latin typeface="Microsoft JhengHei UI" panose="020B0604030504040204" pitchFamily="34" charset="-120"/>
              <a:ea typeface="Microsoft JhengHei UI" panose="020B0604030504040204" pitchFamily="34" charset="-120"/>
            </a:endParaRPr>
          </a:p>
        </p:txBody>
      </p:sp>
      <p:sp>
        <p:nvSpPr>
          <p:cNvPr id="3" name="日期版面配置區 2">
            <a:extLst>
              <a:ext uri="{FF2B5EF4-FFF2-40B4-BE49-F238E27FC236}">
                <a16:creationId xmlns:a16="http://schemas.microsoft.com/office/drawing/2014/main" id="{0D7022B2-02C5-4E03-99BC-0BA3C57AC49B}"/>
              </a:ext>
            </a:extLst>
          </p:cNvPr>
          <p:cNvSpPr>
            <a:spLocks noGrp="1"/>
          </p:cNvSpPr>
          <p:nvPr>
            <p:ph type="dt" sz="quarter" idx="1"/>
          </p:nvPr>
        </p:nvSpPr>
        <p:spPr>
          <a:xfrm>
            <a:off x="5179484" y="2"/>
            <a:ext cx="3962400" cy="344091"/>
          </a:xfrm>
          <a:prstGeom prst="rect">
            <a:avLst/>
          </a:prstGeom>
        </p:spPr>
        <p:txBody>
          <a:bodyPr vert="horz" lIns="91440" tIns="45720" rIns="91440" bIns="45720" rtlCol="0"/>
          <a:lstStyle>
            <a:lvl1pPr algn="r">
              <a:defRPr sz="1200"/>
            </a:lvl1pPr>
          </a:lstStyle>
          <a:p>
            <a:pPr rtl="0"/>
            <a:fld id="{676FB3A4-D5D4-495C-AAA0-94A56026E627}" type="datetime1">
              <a:rPr lang="zh-TW" altLang="en-US" smtClean="0">
                <a:latin typeface="Microsoft JhengHei UI" panose="020B0604030504040204" pitchFamily="34" charset="-120"/>
                <a:ea typeface="Microsoft JhengHei UI" panose="020B0604030504040204" pitchFamily="34" charset="-120"/>
              </a:rPr>
              <a:t>2026/4/17</a:t>
            </a:fld>
            <a:endParaRPr lang="zh-TW" altLang="en-US">
              <a:latin typeface="Microsoft JhengHei UI" panose="020B0604030504040204" pitchFamily="34" charset="-120"/>
              <a:ea typeface="Microsoft JhengHei UI" panose="020B0604030504040204" pitchFamily="34" charset="-120"/>
            </a:endParaRPr>
          </a:p>
        </p:txBody>
      </p:sp>
      <p:sp>
        <p:nvSpPr>
          <p:cNvPr id="4" name="頁尾版面配置區 3">
            <a:extLst>
              <a:ext uri="{FF2B5EF4-FFF2-40B4-BE49-F238E27FC236}">
                <a16:creationId xmlns:a16="http://schemas.microsoft.com/office/drawing/2014/main" id="{BC3FEE8C-8D38-4F2A-950E-071C6823E271}"/>
              </a:ext>
            </a:extLst>
          </p:cNvPr>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pPr rtl="0"/>
            <a:endParaRPr lang="zh-TW" altLang="en-US">
              <a:latin typeface="Microsoft JhengHei UI" panose="020B0604030504040204" pitchFamily="34" charset="-120"/>
              <a:ea typeface="Microsoft JhengHei UI" panose="020B0604030504040204" pitchFamily="34" charset="-120"/>
            </a:endParaRPr>
          </a:p>
        </p:txBody>
      </p:sp>
      <p:sp>
        <p:nvSpPr>
          <p:cNvPr id="5" name="投影片編號版面配置區 4">
            <a:extLst>
              <a:ext uri="{FF2B5EF4-FFF2-40B4-BE49-F238E27FC236}">
                <a16:creationId xmlns:a16="http://schemas.microsoft.com/office/drawing/2014/main" id="{8C567A6D-959B-4552-AB8D-4CCA819CAA71}"/>
              </a:ext>
            </a:extLst>
          </p:cNvPr>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pPr rtl="0"/>
            <a:fld id="{4BF9A36D-7FAC-478F-9944-F324014F6FD1}" type="slidenum">
              <a:rPr lang="en-US" altLang="zh-TW" smtClean="0">
                <a:latin typeface="Microsoft JhengHei UI" panose="020B0604030504040204" pitchFamily="34" charset="-120"/>
                <a:ea typeface="Microsoft JhengHei UI" panose="020B0604030504040204" pitchFamily="34" charset="-120"/>
              </a:rPr>
              <a:t>‹#›</a:t>
            </a:fld>
            <a:endParaRPr lang="zh-TW" altLang="en-US">
              <a:latin typeface="Microsoft JhengHei UI" panose="020B0604030504040204" pitchFamily="34" charset="-120"/>
              <a:ea typeface="Microsoft JhengHei UI" panose="020B0604030504040204" pitchFamily="34" charset="-120"/>
            </a:endParaRPr>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2"/>
            <a:ext cx="3962400" cy="344091"/>
          </a:xfrm>
          <a:prstGeom prst="rect">
            <a:avLst/>
          </a:prstGeom>
        </p:spPr>
        <p:txBody>
          <a:bodyPr vert="horz" lIns="91440" tIns="45720" rIns="91440" bIns="45720" rtlCol="0"/>
          <a:lstStyle>
            <a:lvl1pPr algn="l">
              <a:defRPr sz="1200">
                <a:latin typeface="Microsoft JhengHei UI" panose="020B0604030504040204" pitchFamily="34" charset="-120"/>
                <a:ea typeface="Microsoft JhengHei UI" panose="020B0604030504040204" pitchFamily="34" charset="-120"/>
              </a:defRPr>
            </a:lvl1pPr>
          </a:lstStyle>
          <a:p>
            <a:endParaRPr lang="zh-TW" altLang="en-US" noProof="0"/>
          </a:p>
        </p:txBody>
      </p:sp>
      <p:sp>
        <p:nvSpPr>
          <p:cNvPr id="3" name="日期版面配置區 2"/>
          <p:cNvSpPr>
            <a:spLocks noGrp="1"/>
          </p:cNvSpPr>
          <p:nvPr>
            <p:ph type="dt" idx="1"/>
          </p:nvPr>
        </p:nvSpPr>
        <p:spPr>
          <a:xfrm>
            <a:off x="5179484" y="2"/>
            <a:ext cx="3962400" cy="344091"/>
          </a:xfrm>
          <a:prstGeom prst="rect">
            <a:avLst/>
          </a:prstGeom>
        </p:spPr>
        <p:txBody>
          <a:bodyPr vert="horz" lIns="91440" tIns="45720" rIns="91440" bIns="45720" rtlCol="0"/>
          <a:lstStyle>
            <a:lvl1pPr algn="r">
              <a:defRPr sz="1200">
                <a:latin typeface="Microsoft JhengHei UI" panose="020B0604030504040204" pitchFamily="34" charset="-120"/>
                <a:ea typeface="Microsoft JhengHei UI" panose="020B0604030504040204" pitchFamily="34" charset="-120"/>
              </a:defRPr>
            </a:lvl1pPr>
          </a:lstStyle>
          <a:p>
            <a:fld id="{106E7358-DB18-48DD-91BC-D4D36CB91577}" type="datetime1">
              <a:rPr lang="zh-TW" altLang="en-US" noProof="0" smtClean="0"/>
              <a:t>2026/4/17</a:t>
            </a:fld>
            <a:endParaRPr lang="zh-TW" altLang="en-US" noProof="0"/>
          </a:p>
        </p:txBody>
      </p:sp>
      <p:sp>
        <p:nvSpPr>
          <p:cNvPr id="4" name="投影片圖像版面配置區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pPr rtl="0"/>
            <a:endParaRPr lang="zh-TW" altLang="en-US" noProof="0"/>
          </a:p>
        </p:txBody>
      </p:sp>
      <p:sp>
        <p:nvSpPr>
          <p:cNvPr id="5" name="備忘稿版面配置區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6" name="頁尾版面配置區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atin typeface="Microsoft JhengHei UI" panose="020B0604030504040204" pitchFamily="34" charset="-120"/>
                <a:ea typeface="Microsoft JhengHei UI" panose="020B0604030504040204" pitchFamily="34" charset="-120"/>
              </a:defRPr>
            </a:lvl1pPr>
          </a:lstStyle>
          <a:p>
            <a:endParaRPr lang="zh-TW" altLang="en-US" noProof="0"/>
          </a:p>
        </p:txBody>
      </p:sp>
      <p:sp>
        <p:nvSpPr>
          <p:cNvPr id="7" name="投影片編號版面配置區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atin typeface="Microsoft JhengHei UI" panose="020B0604030504040204" pitchFamily="34" charset="-120"/>
                <a:ea typeface="Microsoft JhengHei UI" panose="020B0604030504040204" pitchFamily="34" charset="-120"/>
              </a:defRPr>
            </a:lvl1pPr>
          </a:lstStyle>
          <a:p>
            <a:fld id="{D4B9A9E5-4F7F-4A7D-9DE1-899232329269}" type="slidenum">
              <a:rPr lang="en-US" altLang="zh-TW" noProof="0" smtClean="0"/>
              <a:pPr/>
              <a:t>‹#›</a:t>
            </a:fld>
            <a:endParaRPr lang="zh-TW" altLang="en-US" noProof="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1pPr>
    <a:lvl2pPr marL="4572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2pPr>
    <a:lvl3pPr marL="9144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3pPr>
    <a:lvl4pPr marL="13716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4pPr>
    <a:lvl5pPr marL="1828800" algn="l" defTabSz="914400" rtl="0" eaLnBrk="1" latinLnBrk="0" hangingPunct="1">
      <a:defRPr sz="1200" kern="1200">
        <a:solidFill>
          <a:schemeClr val="tx1"/>
        </a:solidFill>
        <a:latin typeface="Microsoft JhengHei UI" panose="020B0604030504040204" pitchFamily="34" charset="-120"/>
        <a:ea typeface="Microsoft JhengHei UI" panose="020B0604030504040204" pitchFamily="34" charset="-12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3028950" y="857250"/>
            <a:ext cx="3086100" cy="2314575"/>
          </a:xfrm>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各位老師、同學們，大家好。我們這組的專題題目是 基於對抗式攻擊與情資平台之 </a:t>
            </a:r>
            <a:r>
              <a:rPr lang="en-US" altLang="zh-TW" dirty="0"/>
              <a:t>HTTP/3 </a:t>
            </a:r>
            <a:r>
              <a:rPr lang="zh-TW" altLang="en-US" dirty="0"/>
              <a:t>密流量自動化安全防禦框架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接下來我們將為各位說明我們的研究動機、系統架構以及預期的研究成果。</a:t>
            </a:r>
          </a:p>
        </p:txBody>
      </p:sp>
      <p:sp>
        <p:nvSpPr>
          <p:cNvPr id="4" name="投影片編號版面配置區 3"/>
          <p:cNvSpPr>
            <a:spLocks noGrp="1"/>
          </p:cNvSpPr>
          <p:nvPr>
            <p:ph type="sldNum" sz="quarter" idx="5"/>
          </p:nvPr>
        </p:nvSpPr>
        <p:spPr/>
        <p:txBody>
          <a:bodyPr/>
          <a:lstStyle/>
          <a:p>
            <a:pPr rtl="0"/>
            <a:fld id="{D4B9A9E5-4F7F-4A7D-9DE1-899232329269}" type="slidenum">
              <a:rPr lang="en-US" altLang="zh-TW" smtClean="0">
                <a:latin typeface="Microsoft JhengHei UI" panose="020B0604030504040204" pitchFamily="34" charset="-120"/>
                <a:ea typeface="Microsoft JhengHei UI" panose="020B0604030504040204" pitchFamily="34" charset="-120"/>
              </a:rPr>
              <a:t>1</a:t>
            </a:fld>
            <a:endParaRPr lang="zh-TW" altLang="en-US">
              <a:latin typeface="Microsoft JhengHei UI" panose="020B0604030504040204" pitchFamily="34" charset="-120"/>
              <a:ea typeface="Microsoft JhengHei UI" panose="020B0604030504040204" pitchFamily="34" charset="-120"/>
            </a:endParaRPr>
          </a:p>
        </p:txBody>
      </p:sp>
    </p:spTree>
    <p:extLst>
      <p:ext uri="{BB962C8B-B14F-4D97-AF65-F5344CB8AC3E}">
        <p14:creationId xmlns:p14="http://schemas.microsoft.com/office/powerpoint/2010/main" val="11983024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首先進入研究動機。</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 因為</a:t>
            </a:r>
            <a:r>
              <a:rPr lang="zh-TW" altLang="en-US" dirty="0"/>
              <a:t>目前的網路技術正經歷重大的</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典範轉移所帶來的防禦真空，網際網路從過去的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TCP/TLS (HTTP/1.1, HTTP/2)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轉向成 </a:t>
            </a:r>
            <a:r>
              <a:rPr lang="en-US" altLang="zh-TW" dirty="0"/>
              <a:t>UDP </a:t>
            </a:r>
            <a:r>
              <a:rPr lang="zh-TW" altLang="en-US" dirty="0"/>
              <a:t>基礎的 </a:t>
            </a:r>
            <a:r>
              <a:rPr lang="en-US" altLang="zh-TW" dirty="0"/>
              <a:t>QUIC </a:t>
            </a:r>
            <a:r>
              <a:rPr lang="zh-TW" altLang="en-US" dirty="0"/>
              <a:t>協定</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(HTTP/3)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QUIC</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協定雖然大幅提升了傳輸效能與降低延遲，但因其預設全加密與連線遷移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(Connection Migration)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特性，卻成為資訊安全的雙面刃。</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過去傳統的網路安全設備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如</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IDS/IPS</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WAF)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大多是針對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TCP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設計，然而面對封裝在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UDP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內的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QUIC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加密流量，往往陷入不知所措的困境。</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這使得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HTTP/3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極易成為惡意軟體、勒索病毒與殭屍網路進行命令控制與資料外洩的隱蔽通道。</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而對抗式攻擊與偽裝技術的泛濫，使得當前的資訊安全研究多集中於使用機器學習進行流量分類，但忽略了攻擊者也在演進的事實。駭客已開始採用對抗式機器學習概念，透過微調封包大小或故意延遲發送，改變流量的統計特徵。</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這種能輕易騙過訓練資料單一的傳統 </a:t>
            </a:r>
            <a:r>
              <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AI </a:t>
            </a:r>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模型。若防禦系統無法具備強健性將形同虛設。 </a:t>
            </a:r>
          </a:p>
          <a:p>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過去標記數據的稀缺與維護效率的挑戰在學術研究中已有長時間的探討。通常會假設系統擁有標記完美的「良性」與「惡意」資料集。</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然而在真實的企業資安維運中，攻擊手法變幻莫測，要蒐集並且標記大量的最新攻擊樣本是不切實際的</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此外面對層出不窮的警告，資安人員往往面臨告警疲勞，導致回應速度過慢。</a:t>
            </a:r>
            <a:endParaRPr lang="en-US" altLang="zh-TW"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endParaRPr>
          </a:p>
          <a:p>
            <a:r>
              <a:rPr lang="zh-TW" altLang="en-US" sz="1200" b="0" i="0" u="none" strike="noStrike" kern="1200" baseline="0" dirty="0">
                <a:solidFill>
                  <a:schemeClr val="tx1"/>
                </a:solidFill>
                <a:latin typeface="Microsoft JhengHei UI" panose="020B0604030504040204" pitchFamily="34" charset="-120"/>
                <a:ea typeface="Microsoft JhengHei UI" panose="020B0604030504040204" pitchFamily="34" charset="-120"/>
                <a:cs typeface="+mn-cs"/>
              </a:rPr>
              <a:t>因此，如何利用「非監督式學習」來偵測未知威脅，並結合自動化回應機制來實現防禦，是目前資安領域待解決的關鍵課題。 </a:t>
            </a: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2</a:t>
            </a:fld>
            <a:endParaRPr lang="zh-TW" altLang="en-US" noProof="0"/>
          </a:p>
        </p:txBody>
      </p:sp>
    </p:spTree>
    <p:extLst>
      <p:ext uri="{BB962C8B-B14F-4D97-AF65-F5344CB8AC3E}">
        <p14:creationId xmlns:p14="http://schemas.microsoft.com/office/powerpoint/2010/main" val="38962857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接下來要提到的是文獻探討，首先針對加密流量分析與</a:t>
            </a:r>
            <a:r>
              <a:rPr lang="en-US" altLang="zh-TW" dirty="0"/>
              <a:t>HTTP/3(QUIC)</a:t>
            </a:r>
            <a:r>
              <a:rPr lang="zh-TW" altLang="en-US" dirty="0"/>
              <a:t>的挑戰提出三點</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第一 </a:t>
            </a:r>
            <a:r>
              <a:rPr lang="en-US" altLang="zh-TW" dirty="0"/>
              <a:t>QUIC</a:t>
            </a:r>
            <a:r>
              <a:rPr kumimoji="0" lang="zh-TW" altLang="zh-TW" sz="1200" b="0" i="0" u="none" strike="noStrike" kern="1200" cap="none" normalizeH="0" baseline="0" dirty="0">
                <a:ln>
                  <a:noFill/>
                </a:ln>
                <a:solidFill>
                  <a:schemeClr val="tx1"/>
                </a:solidFill>
                <a:effectLst/>
                <a:latin typeface="+mn-ea"/>
                <a:ea typeface="Microsoft JhengHei UI" panose="020B0604030504040204" pitchFamily="34" charset="-120"/>
                <a:cs typeface="+mn-cs"/>
              </a:rPr>
              <a:t>協議不僅加密了Payload，還對連線握手 (Handshake) 封包進行了混淆，導致傳統依賴明文 (如 SNI) 的深度封包檢測失去效用。</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文獻指出，目前的技術雖然正從人工提取特徵轉向機器自動提取，但如果防禦模型過度依賴握手階段的特徵，在真實環境中很快就會失效。</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更嚴峻的是，在加密環境下，要獲取大規模且有精確標記的惡意數據，成本極度高昂且困難，這使得</a:t>
            </a:r>
            <a:r>
              <a:rPr lang="zh-TW" altLang="en-US" b="1" dirty="0"/>
              <a:t>傳統依賴完美標籤的「監督式學習」，已經難以直接應用於真實的資安維運中</a:t>
            </a:r>
            <a:r>
              <a:rPr lang="zh-TW" altLang="en-US" dirty="0"/>
              <a:t>。</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3</a:t>
            </a:fld>
            <a:endParaRPr lang="zh-TW" altLang="en-US" noProof="0"/>
          </a:p>
        </p:txBody>
      </p:sp>
    </p:spTree>
    <p:extLst>
      <p:ext uri="{BB962C8B-B14F-4D97-AF65-F5344CB8AC3E}">
        <p14:creationId xmlns:p14="http://schemas.microsoft.com/office/powerpoint/2010/main" val="16744091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191C3-7C02-433F-CA16-E77F23FF05D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1950E3F-DEBF-A39C-959C-4821DE9F4E96}"/>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04A4755F-754B-0055-F937-22E9B5CABFD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第二是針對「未知威脅」與「對抗式攻擊」。</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近期的研究顯示，</a:t>
            </a:r>
            <a:r>
              <a:rPr lang="zh-TW" altLang="en-US" b="1" dirty="0"/>
              <a:t>攻擊者已經開始利用生成對抗網路 </a:t>
            </a:r>
            <a:r>
              <a:rPr lang="en-US" altLang="zh-TW" b="1" dirty="0"/>
              <a:t>(</a:t>
            </a:r>
            <a:r>
              <a:rPr lang="zh-TW" altLang="en-US" b="1" dirty="0"/>
              <a:t>例如 </a:t>
            </a:r>
            <a:r>
              <a:rPr lang="en-US" altLang="zh-TW" b="1" dirty="0" err="1"/>
              <a:t>FlowGAN</a:t>
            </a:r>
            <a:r>
              <a:rPr lang="en-US" altLang="zh-TW" b="1" dirty="0"/>
              <a:t>)</a:t>
            </a:r>
            <a:r>
              <a:rPr lang="zh-TW" altLang="en-US" b="1" dirty="0"/>
              <a:t>，進行「動態流量特徵偽裝」</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攻擊者可以輕易改變封包大小、時間間隔等高維度統計分佈，來規避傳統的流量分析系統。</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傳統的異常檢測高度依賴「已知的攻擊特徵」，因此無法有效防禦零時差攻擊 </a:t>
            </a:r>
            <a:r>
              <a:rPr lang="en-US" altLang="zh-TW" dirty="0"/>
              <a:t>(Zero-day Attack)</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為了解決這個問題，本計畫決定導入非監督式深度學習</a:t>
            </a:r>
            <a:r>
              <a:rPr lang="zh-TW" altLang="en-US" b="1" dirty="0"/>
              <a:t>。我們的模型只需要學習正常流量的分佈狀態，當遭遇經過偽裝、行為偏離正常基準的對抗式攻擊流量時，模型就會產生極高的</a:t>
            </a:r>
            <a:r>
              <a:rPr lang="zh-TW" altLang="en-US" dirty="0"/>
              <a:t>重構誤差 </a:t>
            </a:r>
            <a:r>
              <a:rPr lang="en-US" altLang="zh-TW" dirty="0"/>
              <a:t>(Reconstruction Error)</a:t>
            </a:r>
            <a:r>
              <a:rPr lang="zh-TW" altLang="en-US" dirty="0"/>
              <a:t>，進而被成功捕捉為異常。</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這種架構不僅減少了對歷史特徵的依賴，更大幅縮短了模型的訓練時間。</a:t>
            </a:r>
          </a:p>
          <a:p>
            <a:pPr>
              <a:buNone/>
            </a:pPr>
            <a:endParaRPr lang="zh-TW" altLang="en-US" dirty="0"/>
          </a:p>
        </p:txBody>
      </p:sp>
      <p:sp>
        <p:nvSpPr>
          <p:cNvPr id="4" name="投影片編號版面配置區 3">
            <a:extLst>
              <a:ext uri="{FF2B5EF4-FFF2-40B4-BE49-F238E27FC236}">
                <a16:creationId xmlns:a16="http://schemas.microsoft.com/office/drawing/2014/main" id="{045E24D2-0293-356F-AD26-756943056BA1}"/>
              </a:ext>
            </a:extLst>
          </p:cNvPr>
          <p:cNvSpPr>
            <a:spLocks noGrp="1"/>
          </p:cNvSpPr>
          <p:nvPr>
            <p:ph type="sldNum" sz="quarter" idx="5"/>
          </p:nvPr>
        </p:nvSpPr>
        <p:spPr/>
        <p:txBody>
          <a:bodyPr/>
          <a:lstStyle/>
          <a:p>
            <a:fld id="{D4B9A9E5-4F7F-4A7D-9DE1-899232329269}" type="slidenum">
              <a:rPr lang="en-US" altLang="zh-TW" noProof="0" smtClean="0"/>
              <a:pPr/>
              <a:t>4</a:t>
            </a:fld>
            <a:endParaRPr lang="zh-TW" altLang="en-US" noProof="0"/>
          </a:p>
        </p:txBody>
      </p:sp>
    </p:spTree>
    <p:extLst>
      <p:ext uri="{BB962C8B-B14F-4D97-AF65-F5344CB8AC3E}">
        <p14:creationId xmlns:p14="http://schemas.microsoft.com/office/powerpoint/2010/main" val="24142661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BC944-E27E-4E1C-61BD-232EC2406DF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93D7DEE-2DDC-E574-14D6-4E45EA5C576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1650CD08-4DBC-29DA-A2DF-2E01C4D5AC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第三個著眼於資安實務面的痛點。目前的資安維運中心 </a:t>
            </a:r>
            <a:r>
              <a:rPr lang="en-US" altLang="zh-TW" dirty="0"/>
              <a:t>(SOC) </a:t>
            </a:r>
            <a:r>
              <a:rPr lang="zh-TW" altLang="en-US" dirty="0"/>
              <a:t>分析師經常面臨</a:t>
            </a:r>
            <a:r>
              <a:rPr lang="zh-TW" altLang="en-US" b="1" dirty="0"/>
              <a:t>資訊過載與告警疲勞</a:t>
            </a:r>
            <a:r>
              <a:rPr lang="zh-TW" altLang="en-US" dirty="0"/>
              <a:t>的問題。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為了解放分析師的時間，我們計畫將 </a:t>
            </a:r>
            <a:r>
              <a:rPr lang="en-US" altLang="zh-TW" dirty="0"/>
              <a:t>AI </a:t>
            </a:r>
            <a:r>
              <a:rPr lang="zh-TW" altLang="en-US" dirty="0"/>
              <a:t>模型與 </a:t>
            </a:r>
            <a:r>
              <a:rPr lang="en-US" altLang="zh-TW" b="1" dirty="0"/>
              <a:t>SOAR (</a:t>
            </a:r>
            <a:r>
              <a:rPr lang="zh-TW" altLang="en-US" b="1" dirty="0"/>
              <a:t>資安協作自動化應變</a:t>
            </a:r>
            <a:r>
              <a:rPr lang="en-US" altLang="zh-TW" b="1" dirty="0"/>
              <a:t>)</a:t>
            </a:r>
            <a:r>
              <a:rPr lang="zh-TW" altLang="en-US" dirty="0"/>
              <a:t> 進行深度整合。</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SOAR </a:t>
            </a:r>
            <a:r>
              <a:rPr lang="zh-TW" altLang="en-US" dirty="0"/>
              <a:t>能自動化收集日誌、標準化數據，並根據上下文對警報進行智慧排序以減少誤報。</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針對模型判定為惡意的行為，</a:t>
            </a:r>
            <a:r>
              <a:rPr lang="en-US" altLang="zh-TW" b="1" dirty="0"/>
              <a:t>AI </a:t>
            </a:r>
            <a:r>
              <a:rPr lang="zh-TW" altLang="en-US" b="1" dirty="0"/>
              <a:t>驅動的 </a:t>
            </a:r>
            <a:r>
              <a:rPr lang="en-US" altLang="zh-TW" b="1" dirty="0"/>
              <a:t>SOAR </a:t>
            </a:r>
            <a:r>
              <a:rPr lang="zh-TW" altLang="en-US" b="1" dirty="0"/>
              <a:t>可以自動發送防火牆阻斷規則並執行處置，這將顯著縮短平均回應時間 </a:t>
            </a:r>
            <a:r>
              <a:rPr lang="en-US" altLang="zh-TW" b="1" dirty="0"/>
              <a:t>(MTTR)</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同時，我們將結合 </a:t>
            </a:r>
            <a:r>
              <a:rPr lang="en-US" altLang="zh-TW" dirty="0"/>
              <a:t>MISP </a:t>
            </a:r>
            <a:r>
              <a:rPr lang="zh-TW" altLang="en-US" dirty="0"/>
              <a:t>情資平台，動態生成並記錄新的威脅指標 </a:t>
            </a:r>
            <a:r>
              <a:rPr lang="en-US" altLang="zh-TW" dirty="0"/>
              <a:t>(IoC)</a:t>
            </a:r>
            <a:r>
              <a:rPr lang="zh-TW" altLang="en-US" dirty="0"/>
              <a:t>，打造可持續學習能力的防禦生態圈。</a:t>
            </a:r>
          </a:p>
          <a:p>
            <a:pPr>
              <a:buNone/>
            </a:pPr>
            <a:endParaRPr lang="zh-TW" altLang="en-US" dirty="0"/>
          </a:p>
        </p:txBody>
      </p:sp>
      <p:sp>
        <p:nvSpPr>
          <p:cNvPr id="4" name="投影片編號版面配置區 3">
            <a:extLst>
              <a:ext uri="{FF2B5EF4-FFF2-40B4-BE49-F238E27FC236}">
                <a16:creationId xmlns:a16="http://schemas.microsoft.com/office/drawing/2014/main" id="{C5957ED7-8278-57E2-090F-CBBA0772DC68}"/>
              </a:ext>
            </a:extLst>
          </p:cNvPr>
          <p:cNvSpPr>
            <a:spLocks noGrp="1"/>
          </p:cNvSpPr>
          <p:nvPr>
            <p:ph type="sldNum" sz="quarter" idx="5"/>
          </p:nvPr>
        </p:nvSpPr>
        <p:spPr/>
        <p:txBody>
          <a:bodyPr/>
          <a:lstStyle/>
          <a:p>
            <a:fld id="{D4B9A9E5-4F7F-4A7D-9DE1-899232329269}" type="slidenum">
              <a:rPr lang="en-US" altLang="zh-TW" noProof="0" smtClean="0"/>
              <a:pPr/>
              <a:t>5</a:t>
            </a:fld>
            <a:endParaRPr lang="zh-TW" altLang="en-US" noProof="0"/>
          </a:p>
        </p:txBody>
      </p:sp>
    </p:spTree>
    <p:extLst>
      <p:ext uri="{BB962C8B-B14F-4D97-AF65-F5344CB8AC3E}">
        <p14:creationId xmlns:p14="http://schemas.microsoft.com/office/powerpoint/2010/main" val="23493115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綜合上述動機，接下來說明我們預計提出的系統架構與開發技術。 本系統將採用</a:t>
            </a:r>
            <a:r>
              <a:rPr lang="zh-TW" altLang="en-US" b="1" dirty="0"/>
              <a:t>混合式防禦架構，完美結合威脅情資、非監督式深度學習與 </a:t>
            </a:r>
            <a:r>
              <a:rPr lang="en-US" altLang="zh-TW" b="1" dirty="0"/>
              <a:t>SOAR </a:t>
            </a:r>
            <a:r>
              <a:rPr lang="zh-TW" altLang="en-US" b="1" dirty="0"/>
              <a:t>機制</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在開發環境上，我們使用 </a:t>
            </a:r>
            <a:r>
              <a:rPr lang="en-US" altLang="zh-TW" dirty="0"/>
              <a:t>Ubuntu </a:t>
            </a:r>
            <a:r>
              <a:rPr lang="zh-TW" altLang="en-US" dirty="0"/>
              <a:t>作為底層操作系統，並以 </a:t>
            </a:r>
            <a:r>
              <a:rPr lang="en-US" altLang="zh-TW" dirty="0"/>
              <a:t>Python </a:t>
            </a:r>
            <a:r>
              <a:rPr lang="zh-TW" altLang="en-US" dirty="0"/>
              <a:t>搭配 </a:t>
            </a:r>
            <a:r>
              <a:rPr lang="en-US" altLang="zh-TW" dirty="0" err="1"/>
              <a:t>aioquic</a:t>
            </a:r>
            <a:r>
              <a:rPr lang="en-US" altLang="zh-TW" dirty="0"/>
              <a:t> </a:t>
            </a:r>
            <a:r>
              <a:rPr lang="zh-TW" altLang="en-US" dirty="0"/>
              <a:t>與 </a:t>
            </a:r>
            <a:r>
              <a:rPr lang="en-US" altLang="zh-TW" dirty="0" err="1"/>
              <a:t>Scapy</a:t>
            </a:r>
            <a:r>
              <a:rPr lang="en-US" altLang="zh-TW" dirty="0"/>
              <a:t> </a:t>
            </a:r>
            <a:r>
              <a:rPr lang="zh-TW" altLang="en-US" dirty="0"/>
              <a:t>套件，在虛擬環境中進行封包的側錄與特徵收集。</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深度學習模型方面將採用 </a:t>
            </a:r>
            <a:r>
              <a:rPr lang="en-US" altLang="zh-TW" dirty="0" err="1"/>
              <a:t>PyTorch</a:t>
            </a:r>
            <a:r>
              <a:rPr lang="en-US" altLang="zh-TW" dirty="0"/>
              <a:t> </a:t>
            </a:r>
            <a:r>
              <a:rPr lang="zh-TW" altLang="en-US" dirty="0"/>
              <a:t>框架進行開發，而威脅情資平台則透過 </a:t>
            </a:r>
            <a:r>
              <a:rPr lang="en-US" altLang="zh-TW" dirty="0"/>
              <a:t>Docker </a:t>
            </a:r>
            <a:r>
              <a:rPr lang="zh-TW" altLang="en-US" dirty="0"/>
              <a:t>容器化技術來部署 </a:t>
            </a:r>
            <a:r>
              <a:rPr lang="en-US" altLang="zh-TW" dirty="0"/>
              <a:t>MISP </a:t>
            </a:r>
            <a:r>
              <a:rPr lang="zh-TW" altLang="en-US" dirty="0"/>
              <a:t>系統。</a:t>
            </a:r>
            <a:br>
              <a:rPr lang="zh-TW" altLang="en-US" dirty="0"/>
            </a:br>
            <a:r>
              <a:rPr lang="zh-TW" altLang="en-US" dirty="0"/>
              <a:t>我們的防禦架構需滿足下列三件：</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a:t>
            </a:r>
            <a:r>
              <a:rPr lang="zh-TW" altLang="zh-TW" sz="1200" b="1" i="0" baseline="0" dirty="0"/>
              <a:t>提取有效指紋</a:t>
            </a:r>
            <a:r>
              <a:rPr lang="zh-TW" altLang="zh-TW" sz="1200" b="0" i="0" baseline="0" dirty="0"/>
              <a:t>：在不解密的情況下，提取 HTTP/3 加密流量的有效特徵</a:t>
            </a:r>
            <a:r>
              <a:rPr lang="zh-TW" altLang="en-US" sz="1200" b="0" i="0" baseline="0" dirty="0"/>
              <a:t> </a:t>
            </a:r>
            <a:r>
              <a:rPr lang="en-US" altLang="zh-TW" sz="1200" b="0" i="0" baseline="0" dirty="0"/>
              <a:t>(</a:t>
            </a:r>
            <a:r>
              <a:rPr lang="zh-TW" altLang="zh-TW" sz="1200" b="0" i="0" baseline="0" dirty="0"/>
              <a:t>如封包長度、到達時間間隔</a:t>
            </a:r>
            <a:r>
              <a:rPr lang="en-US" altLang="zh-TW" sz="1200" b="0" i="0" baseline="0" dirty="0"/>
              <a:t>)</a:t>
            </a:r>
            <a:r>
              <a:rPr lang="zh-TW" altLang="zh-TW" sz="1200" b="0" i="0" baseline="0" dirty="0"/>
              <a:t>。</a:t>
            </a:r>
            <a:endParaRPr lang="en-US" altLang="zh-TW" sz="1200"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i="0" baseline="0" dirty="0"/>
              <a:t>2.</a:t>
            </a:r>
            <a:r>
              <a:rPr lang="zh-TW" altLang="zh-TW" sz="1200" b="1" i="0" baseline="0" dirty="0"/>
              <a:t>非監督式學習防禦未知威脅</a:t>
            </a:r>
            <a:r>
              <a:rPr lang="zh-TW" altLang="zh-TW" sz="1200" b="0" i="0" baseline="0" dirty="0"/>
              <a:t>：在缺乏惡意標記數據的環境下，利用深度學習進行非監督式學習，實現對零時差攻擊的偵測。</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3.</a:t>
            </a:r>
            <a:r>
              <a:rPr lang="zh-TW" altLang="zh-TW" sz="1200" b="1" i="0" baseline="0" dirty="0"/>
              <a:t>情資與自動化閉環</a:t>
            </a:r>
            <a:r>
              <a:rPr lang="zh-TW" altLang="zh-TW" sz="1200" b="0" i="0" baseline="0" dirty="0"/>
              <a:t>：整合 MISP 威脅情資平台與</a:t>
            </a:r>
            <a:r>
              <a:rPr lang="zh-TW" altLang="zh-TW" sz="1200" dirty="0"/>
              <a:t>資安協作自動化應變</a:t>
            </a:r>
            <a:r>
              <a:rPr lang="en-US" altLang="zh-TW" sz="1200" dirty="0"/>
              <a:t> (SOAR)</a:t>
            </a:r>
            <a:r>
              <a:rPr lang="zh-TW" altLang="en-US" sz="1200" dirty="0"/>
              <a:t> </a:t>
            </a:r>
            <a:r>
              <a:rPr lang="zh-TW" altLang="zh-TW" sz="1200" b="0" i="0" baseline="0" dirty="0"/>
              <a:t>機制，實現異常自動化回應。</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6</a:t>
            </a:fld>
            <a:endParaRPr lang="zh-TW" altLang="en-US" noProof="0"/>
          </a:p>
        </p:txBody>
      </p:sp>
    </p:spTree>
    <p:extLst>
      <p:ext uri="{BB962C8B-B14F-4D97-AF65-F5344CB8AC3E}">
        <p14:creationId xmlns:p14="http://schemas.microsoft.com/office/powerpoint/2010/main" val="33622140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我們的防禦架構分為三個核心模組：</a:t>
            </a:r>
            <a:br>
              <a:rPr lang="zh-TW" altLang="en-US" dirty="0"/>
            </a:br>
            <a:r>
              <a:rPr lang="en-US" altLang="zh-TW" dirty="0"/>
              <a:t>1. </a:t>
            </a:r>
            <a:r>
              <a:rPr lang="zh-TW" altLang="en-US" b="1" dirty="0"/>
              <a:t>預過濾模組</a:t>
            </a:r>
            <a:r>
              <a:rPr lang="zh-TW" altLang="en-US" dirty="0"/>
              <a:t>：即時提取來源 </a:t>
            </a:r>
            <a:r>
              <a:rPr lang="en-US" altLang="zh-TW" dirty="0"/>
              <a:t>IP</a:t>
            </a:r>
            <a:r>
              <a:rPr lang="zh-TW" altLang="en-US" dirty="0"/>
              <a:t>，並與自建的 </a:t>
            </a:r>
            <a:r>
              <a:rPr lang="en-US" altLang="zh-TW" dirty="0"/>
              <a:t>MISP </a:t>
            </a:r>
            <a:r>
              <a:rPr lang="zh-TW" altLang="en-US" dirty="0"/>
              <a:t>情資平台比對。只要命中黑名單就直接予以阻斷，此舉能大幅降低後端 </a:t>
            </a:r>
            <a:r>
              <a:rPr lang="en-US" altLang="zh-TW" dirty="0"/>
              <a:t>AI </a:t>
            </a:r>
            <a:r>
              <a:rPr lang="zh-TW" altLang="en-US" dirty="0"/>
              <a:t>的運算負載。</a:t>
            </a:r>
            <a:br>
              <a:rPr lang="zh-TW" altLang="en-US" dirty="0"/>
            </a:br>
            <a:r>
              <a:rPr lang="en-US" altLang="zh-TW" dirty="0"/>
              <a:t>2. </a:t>
            </a:r>
            <a:r>
              <a:rPr lang="zh-TW" altLang="en-US" b="1" dirty="0"/>
              <a:t>異常偵測模型</a:t>
            </a:r>
            <a:r>
              <a:rPr lang="zh-TW" altLang="en-US" dirty="0"/>
              <a:t>：針對通過過濾的未知流量，提取特徵並輸入非監督式模型中。正如前面所提，只要遭遇攻擊特徵，模型就會產生高重構誤差來判定為異常。</a:t>
            </a:r>
            <a:br>
              <a:rPr lang="zh-TW" altLang="en-US" dirty="0"/>
            </a:br>
            <a:r>
              <a:rPr lang="en-US" altLang="zh-TW" dirty="0"/>
              <a:t>3. </a:t>
            </a:r>
            <a:r>
              <a:rPr lang="zh-TW" altLang="en-US" b="1" dirty="0"/>
              <a:t>自動化回應模組</a:t>
            </a:r>
            <a:r>
              <a:rPr lang="zh-TW" altLang="en-US" dirty="0"/>
              <a:t>：當判定為惡意流量後，系統會自動觸發控制器，透過 </a:t>
            </a:r>
            <a:r>
              <a:rPr lang="en-US" altLang="zh-TW" dirty="0"/>
              <a:t>Linux iptables </a:t>
            </a:r>
            <a:r>
              <a:rPr lang="zh-TW" altLang="en-US" dirty="0"/>
              <a:t>發送阻斷規則，並將發現的新威脅指標回寫至 </a:t>
            </a:r>
            <a:r>
              <a:rPr lang="en-US" altLang="zh-TW" dirty="0"/>
              <a:t>MISP</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參考這張架構圖。 這張圖清楚展示了未知流量進入系統後的完整生命週期。</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流量從左側進入後，首先經過「預過濾模組」與下方的情資資料庫進行比對。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若 </a:t>
            </a:r>
            <a:r>
              <a:rPr lang="en-US" altLang="zh-TW" dirty="0"/>
              <a:t>pass </a:t>
            </a:r>
            <a:r>
              <a:rPr lang="zh-TW" altLang="en-US" dirty="0"/>
              <a:t>則進入「偵測模型」進行非監督式推論。</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一旦偵測出 </a:t>
            </a:r>
            <a:r>
              <a:rPr lang="en-US" altLang="zh-TW" dirty="0"/>
              <a:t>fail (</a:t>
            </a:r>
            <a:r>
              <a:rPr lang="zh-TW" altLang="en-US" dirty="0"/>
              <a:t>異常</a:t>
            </a:r>
            <a:r>
              <a:rPr lang="en-US" altLang="zh-TW" dirty="0"/>
              <a:t>)</a:t>
            </a:r>
            <a:r>
              <a:rPr lang="zh-TW" altLang="en-US" dirty="0"/>
              <a:t>，兩道防線都會匯集到下方的「自動化回應」節點。</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接著自動化機制不僅會即時阻斷流量，還會將新的威脅資訊循著左側的箭頭「新增」回報給情資庫，確保整個系統形成一個不斷自我進化的防禦閉環。</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7</a:t>
            </a:fld>
            <a:endParaRPr lang="zh-TW" altLang="en-US" noProof="0"/>
          </a:p>
        </p:txBody>
      </p:sp>
    </p:spTree>
    <p:extLst>
      <p:ext uri="{BB962C8B-B14F-4D97-AF65-F5344CB8AC3E}">
        <p14:creationId xmlns:p14="http://schemas.microsoft.com/office/powerpoint/2010/main" val="25504064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1. </a:t>
            </a:r>
            <a:r>
              <a:rPr lang="zh-TW" altLang="en-US" b="1" dirty="0"/>
              <a:t>優勢 </a:t>
            </a:r>
            <a:r>
              <a:rPr lang="en-US" altLang="zh-TW" b="1" dirty="0"/>
              <a:t>(Strengths)</a:t>
            </a:r>
            <a:r>
              <a:rPr lang="zh-TW" altLang="en-US" dirty="0"/>
              <a:t>：我們的系統能在</a:t>
            </a:r>
            <a:r>
              <a:rPr lang="zh-TW" altLang="en-US" b="1" dirty="0"/>
              <a:t>不完整解密封包的前提下，精準識別並阻斷隱蔽的惡意 </a:t>
            </a:r>
            <a:r>
              <a:rPr lang="en-US" altLang="zh-TW" b="1" dirty="0"/>
              <a:t>QUIC </a:t>
            </a:r>
            <a:r>
              <a:rPr lang="zh-TW" altLang="en-US" b="1" dirty="0"/>
              <a:t>流量</a:t>
            </a:r>
            <a:r>
              <a:rPr lang="zh-TW" altLang="en-US" dirty="0"/>
              <a:t>，同時整合 </a:t>
            </a:r>
            <a:r>
              <a:rPr lang="en-US" altLang="zh-TW" dirty="0"/>
              <a:t>SOAR </a:t>
            </a:r>
            <a:r>
              <a:rPr lang="zh-TW" altLang="en-US" dirty="0"/>
              <a:t>自動生成工單與處置，極大化釋放分析師的時間。</a:t>
            </a:r>
            <a:br>
              <a:rPr lang="zh-TW" altLang="en-US" dirty="0"/>
            </a:br>
            <a:r>
              <a:rPr lang="en-US" altLang="zh-TW" dirty="0"/>
              <a:t>2. </a:t>
            </a:r>
            <a:r>
              <a:rPr lang="zh-TW" altLang="en-US" b="1" dirty="0"/>
              <a:t>劣勢 </a:t>
            </a:r>
            <a:r>
              <a:rPr lang="en-US" altLang="zh-TW" b="1" dirty="0"/>
              <a:t>(Weaknesses)</a:t>
            </a:r>
            <a:r>
              <a:rPr lang="zh-TW" altLang="en-US" dirty="0"/>
              <a:t>：深度學習模型在處理高維度網絡數據時，無可避免地會有較大的運算量，可能會面臨偵測延遲的挑戰，這是我們後續需要進行效能最佳化的部分。</a:t>
            </a:r>
            <a:br>
              <a:rPr lang="zh-TW" altLang="en-US" dirty="0"/>
            </a:br>
            <a:r>
              <a:rPr lang="en-US" altLang="zh-TW" dirty="0"/>
              <a:t>3. </a:t>
            </a:r>
            <a:r>
              <a:rPr lang="zh-TW" altLang="en-US" b="1" dirty="0"/>
              <a:t>機會 </a:t>
            </a:r>
            <a:r>
              <a:rPr lang="en-US" altLang="zh-TW" b="1" dirty="0"/>
              <a:t>(Opportunities)</a:t>
            </a:r>
            <a:r>
              <a:rPr lang="zh-TW" altLang="en-US" dirty="0"/>
              <a:t>：當前全球網路基礎設施正經歷從 </a:t>
            </a:r>
            <a:r>
              <a:rPr lang="en-US" altLang="zh-TW" dirty="0"/>
              <a:t>TCP/TLS </a:t>
            </a:r>
            <a:r>
              <a:rPr lang="zh-TW" altLang="en-US" dirty="0"/>
              <a:t>轉向 </a:t>
            </a:r>
            <a:r>
              <a:rPr lang="en-US" altLang="zh-TW" dirty="0"/>
              <a:t>UDP/QUIC </a:t>
            </a:r>
            <a:r>
              <a:rPr lang="zh-TW" altLang="en-US" dirty="0"/>
              <a:t>的巨大變革，市場對於新一代加密流量分析的需求可說是急遽上升。</a:t>
            </a:r>
            <a:br>
              <a:rPr lang="zh-TW" altLang="en-US" dirty="0"/>
            </a:br>
            <a:r>
              <a:rPr lang="en-US" altLang="zh-TW" dirty="0"/>
              <a:t>4. </a:t>
            </a:r>
            <a:r>
              <a:rPr lang="zh-TW" altLang="en-US" b="1" dirty="0"/>
              <a:t>威脅 </a:t>
            </a:r>
            <a:r>
              <a:rPr lang="en-US" altLang="zh-TW" b="1" dirty="0"/>
              <a:t>(Threats)</a:t>
            </a:r>
            <a:r>
              <a:rPr lang="zh-TW" altLang="en-US" dirty="0"/>
              <a:t>：我們面臨的最大威脅在於駭客正持續演進</a:t>
            </a:r>
            <a:r>
              <a:rPr lang="zh-TW" altLang="en-US" b="1" dirty="0"/>
              <a:t>對抗式機器學習</a:t>
            </a:r>
            <a:r>
              <a:rPr lang="zh-TW" altLang="en-US" dirty="0"/>
              <a:t>概念，如果我們的防禦系統缺乏強健性將形同虛設。</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8</a:t>
            </a:fld>
            <a:endParaRPr lang="zh-TW" altLang="en-US" noProof="0"/>
          </a:p>
        </p:txBody>
      </p:sp>
    </p:spTree>
    <p:extLst>
      <p:ext uri="{BB962C8B-B14F-4D97-AF65-F5344CB8AC3E}">
        <p14:creationId xmlns:p14="http://schemas.microsoft.com/office/powerpoint/2010/main" val="61934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綜合以上的架構與分析，我們對本計畫有以下幾點具體的預期產出成果：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第一，我們將</a:t>
            </a:r>
            <a:r>
              <a:rPr lang="zh-TW" altLang="en-US" b="1" dirty="0"/>
              <a:t>建置出一套高擬真的攻防實驗場域</a:t>
            </a:r>
            <a:r>
              <a:rPr lang="zh-TW" altLang="en-US" dirty="0"/>
              <a:t>，用以嚴格驗證本系統在面對各類變形攻擊與對抗式攻擊時的韌性。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第二，完成從流量偵測到阻斷回應的</a:t>
            </a:r>
            <a:r>
              <a:rPr lang="zh-TW" altLang="en-US" b="1" dirty="0"/>
              <a:t>完全自動化防禦系統</a:t>
            </a:r>
            <a:r>
              <a:rPr lang="zh-TW" altLang="en-US" dirty="0"/>
              <a:t>。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第三，我們設定的效能目標是：當模型偵測到異常時，能在</a:t>
            </a:r>
            <a:r>
              <a:rPr lang="zh-TW" altLang="en-US" b="1" dirty="0"/>
              <a:t>無人工介入的情況下，於數秒內自動發送防火牆阻斷規則</a:t>
            </a:r>
            <a:r>
              <a:rPr lang="zh-TW" altLang="en-US" dirty="0"/>
              <a:t>。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第四，成功透過 </a:t>
            </a:r>
            <a:r>
              <a:rPr lang="en-US" altLang="zh-TW" dirty="0"/>
              <a:t>API </a:t>
            </a:r>
            <a:r>
              <a:rPr lang="zh-TW" altLang="en-US" dirty="0"/>
              <a:t>將威脅指標 </a:t>
            </a:r>
            <a:r>
              <a:rPr lang="en-US" altLang="zh-TW" dirty="0"/>
              <a:t>(IoC) </a:t>
            </a:r>
            <a:r>
              <a:rPr lang="zh-TW" altLang="en-US" dirty="0"/>
              <a:t>回寫至自建的 </a:t>
            </a:r>
            <a:r>
              <a:rPr lang="en-US" altLang="zh-TW" dirty="0"/>
              <a:t>MISP </a:t>
            </a:r>
            <a:r>
              <a:rPr lang="zh-TW" altLang="en-US" dirty="0"/>
              <a:t>情資平台，實現情資的動態更新。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最終，希望能為後量子時代的加密網路安全提前部署，提出具備前瞻性的資安解決方案。</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9</a:t>
            </a:fld>
            <a:endParaRPr lang="zh-TW" altLang="en-US" noProof="0"/>
          </a:p>
        </p:txBody>
      </p:sp>
    </p:spTree>
    <p:extLst>
      <p:ext uri="{BB962C8B-B14F-4D97-AF65-F5344CB8AC3E}">
        <p14:creationId xmlns:p14="http://schemas.microsoft.com/office/powerpoint/2010/main" val="42645017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為了驗證系統的實用性並爭取外界的檢驗，本計畫預計將產出成果投入以下三個指標性競賽： 分別是「</a:t>
            </a:r>
            <a:r>
              <a:rPr lang="en-US" altLang="zh-TW" dirty="0"/>
              <a:t>115 </a:t>
            </a:r>
            <a:r>
              <a:rPr lang="zh-TW" altLang="en-US" dirty="0"/>
              <a:t>資工系計算機專題競賽」、「全國創意與智慧科技競賽的</a:t>
            </a:r>
            <a:r>
              <a:rPr lang="en-US" altLang="zh-TW" dirty="0"/>
              <a:t>『</a:t>
            </a:r>
            <a:r>
              <a:rPr lang="zh-TW" altLang="en-US" dirty="0"/>
              <a:t>人工智慧組</a:t>
            </a:r>
            <a:r>
              <a:rPr lang="en-US" altLang="zh-TW" dirty="0"/>
              <a:t>』</a:t>
            </a:r>
            <a:r>
              <a:rPr lang="zh-TW" altLang="en-US" dirty="0"/>
              <a:t>」，以及「大專校院資訊應用服務創新競賽」。</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10</a:t>
            </a:fld>
            <a:endParaRPr lang="zh-TW" altLang="en-US" noProof="0"/>
          </a:p>
        </p:txBody>
      </p:sp>
    </p:spTree>
    <p:extLst>
      <p:ext uri="{BB962C8B-B14F-4D97-AF65-F5344CB8AC3E}">
        <p14:creationId xmlns:p14="http://schemas.microsoft.com/office/powerpoint/2010/main" val="14533879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3028950" y="857250"/>
            <a:ext cx="3086100" cy="2314575"/>
          </a:xfrm>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這是我們的計畫時程表，期程為 </a:t>
            </a:r>
            <a:r>
              <a:rPr lang="en-US" altLang="zh-TW" dirty="0"/>
              <a:t>115 </a:t>
            </a:r>
            <a:r>
              <a:rPr lang="zh-TW" altLang="en-US" dirty="0"/>
              <a:t>年 </a:t>
            </a:r>
            <a:r>
              <a:rPr lang="en-US" altLang="zh-TW" dirty="0"/>
              <a:t>3 </a:t>
            </a:r>
            <a:r>
              <a:rPr lang="zh-TW" altLang="en-US" dirty="0"/>
              <a:t>月至 </a:t>
            </a:r>
            <a:r>
              <a:rPr lang="en-US" altLang="zh-TW" dirty="0"/>
              <a:t>12 </a:t>
            </a:r>
            <a:r>
              <a:rPr lang="zh-TW" altLang="en-US" dirty="0"/>
              <a:t>月底。 在 </a:t>
            </a:r>
            <a:r>
              <a:rPr lang="en-US" altLang="zh-TW" dirty="0"/>
              <a:t>3 </a:t>
            </a:r>
            <a:r>
              <a:rPr lang="zh-TW" altLang="en-US" dirty="0"/>
              <a:t>到 </a:t>
            </a:r>
            <a:r>
              <a:rPr lang="en-US" altLang="zh-TW" dirty="0"/>
              <a:t>5 </a:t>
            </a:r>
            <a:r>
              <a:rPr lang="zh-TW" altLang="en-US" dirty="0"/>
              <a:t>月的初期階段，我們將集中於虛擬網路架構的了解、情資整合機制的研讀以及虛擬環境的建置。 在 </a:t>
            </a:r>
            <a:r>
              <a:rPr lang="en-US" altLang="zh-TW" dirty="0"/>
              <a:t>6 </a:t>
            </a:r>
            <a:r>
              <a:rPr lang="zh-TW" altLang="en-US" dirty="0"/>
              <a:t>到 </a:t>
            </a:r>
            <a:r>
              <a:rPr lang="en-US" altLang="zh-TW" dirty="0"/>
              <a:t>8 </a:t>
            </a:r>
            <a:r>
              <a:rPr lang="zh-TW" altLang="en-US" dirty="0"/>
              <a:t>月的中期階段，重心將轉移到實際的資料生成、特徵工程，以及核心的「非監督式模型建構」。 最後在 </a:t>
            </a:r>
            <a:r>
              <a:rPr lang="en-US" altLang="zh-TW" dirty="0"/>
              <a:t>9 </a:t>
            </a:r>
            <a:r>
              <a:rPr lang="zh-TW" altLang="en-US" dirty="0"/>
              <a:t>到 </a:t>
            </a:r>
            <a:r>
              <a:rPr lang="en-US" altLang="zh-TW" dirty="0"/>
              <a:t>12 </a:t>
            </a:r>
            <a:r>
              <a:rPr lang="zh-TW" altLang="en-US" dirty="0"/>
              <a:t>月，我們將進行情資平台與自動化回應的串接、整體系統的整合測試與評估，並完成最終的研究成果報告撰寫。</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11</a:t>
            </a:fld>
            <a:endParaRPr lang="zh-TW" altLang="en-US" noProof="0"/>
          </a:p>
        </p:txBody>
      </p:sp>
    </p:spTree>
    <p:extLst>
      <p:ext uri="{BB962C8B-B14F-4D97-AF65-F5344CB8AC3E}">
        <p14:creationId xmlns:p14="http://schemas.microsoft.com/office/powerpoint/2010/main" val="38289618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在人員分工方面，我將負責</a:t>
            </a:r>
            <a:r>
              <a:rPr lang="zh-TW" altLang="en-US" b="1" dirty="0"/>
              <a:t>模型生成與系統整合</a:t>
            </a:r>
            <a:r>
              <a:rPr lang="zh-TW" altLang="en-US" dirty="0"/>
              <a:t>。 闕帝軒將負責</a:t>
            </a:r>
            <a:r>
              <a:rPr lang="zh-TW" altLang="en-US" b="1" dirty="0"/>
              <a:t>資料收集與數據採集</a:t>
            </a:r>
            <a:r>
              <a:rPr lang="zh-TW" altLang="en-US" dirty="0"/>
              <a:t>，提供 </a:t>
            </a:r>
            <a:r>
              <a:rPr lang="en-US" altLang="zh-TW" dirty="0"/>
              <a:t>AI </a:t>
            </a:r>
            <a:r>
              <a:rPr lang="zh-TW" altLang="en-US" dirty="0"/>
              <a:t>訓練所需的</a:t>
            </a:r>
            <a:r>
              <a:rPr lang="en-US" altLang="zh-TW" dirty="0"/>
              <a:t>data</a:t>
            </a: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12</a:t>
            </a:fld>
            <a:endParaRPr lang="zh-TW" altLang="en-US" noProof="0"/>
          </a:p>
        </p:txBody>
      </p:sp>
    </p:spTree>
    <p:extLst>
      <p:ext uri="{BB962C8B-B14F-4D97-AF65-F5344CB8AC3E}">
        <p14:creationId xmlns:p14="http://schemas.microsoft.com/office/powerpoint/2010/main" val="38352846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最後來到我們的結論。 本計畫明確針對了網路協定典範轉移 </a:t>
            </a:r>
            <a:r>
              <a:rPr lang="en-US" altLang="zh-TW" dirty="0"/>
              <a:t>(HTTP/3) </a:t>
            </a:r>
            <a:r>
              <a:rPr lang="zh-TW" altLang="en-US" dirty="0"/>
              <a:t>所帶來的防禦真空，提出了一套</a:t>
            </a:r>
            <a:r>
              <a:rPr lang="zh-TW" altLang="en-US" b="1" dirty="0"/>
              <a:t>高度整合威脅情資、非監督式深度學習，以及資安事件自動化回應的「混合式防禦架構」</a:t>
            </a:r>
            <a:r>
              <a:rPr lang="zh-TW" altLang="en-US" dirty="0"/>
              <a:t>。</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並且透過自建的高擬真攻防實驗場域，我們預期能有效驗證這套系統面對對抗式攻擊時的強健性，並完美實現從偵測到阻斷的「完全自動化」防禦閉環。</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本系統將為未來的加密網路安全提前部署，是一套具前瞻性且能實際落地應用於資安維運的優質解決方案。</a:t>
            </a:r>
          </a:p>
          <a:p>
            <a:pPr>
              <a:buNone/>
            </a:pPr>
            <a:endParaRPr lang="zh-TW" altLang="en-US" dirty="0"/>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13</a:t>
            </a:fld>
            <a:endParaRPr lang="zh-TW" altLang="en-US" noProof="0"/>
          </a:p>
        </p:txBody>
      </p:sp>
    </p:spTree>
    <p:extLst>
      <p:ext uri="{BB962C8B-B14F-4D97-AF65-F5344CB8AC3E}">
        <p14:creationId xmlns:p14="http://schemas.microsoft.com/office/powerpoint/2010/main" val="31380181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這是我們在構思與設計此計畫時，所參考的國內外重要學術文獻，包含許多 </a:t>
            </a:r>
            <a:r>
              <a:rPr lang="en-US" altLang="zh-TW" dirty="0"/>
              <a:t>IEEE </a:t>
            </a:r>
            <a:r>
              <a:rPr lang="zh-TW" altLang="en-US" dirty="0"/>
              <a:t>期刊中有關加密流量與 </a:t>
            </a:r>
            <a:r>
              <a:rPr lang="en-US" altLang="zh-TW" dirty="0"/>
              <a:t>GAN </a:t>
            </a:r>
            <a:r>
              <a:rPr lang="zh-TW" altLang="en-US" dirty="0"/>
              <a:t>模型在資安上應用的前沿研究。</a:t>
            </a:r>
            <a:br>
              <a:rPr lang="zh-TW" altLang="en-US" dirty="0"/>
            </a:br>
            <a:r>
              <a:rPr lang="zh-TW" altLang="en-US" dirty="0"/>
              <a:t>我們的期中報告到此結束，感謝各位的聆聽，謝謝</a:t>
            </a:r>
          </a:p>
        </p:txBody>
      </p:sp>
      <p:sp>
        <p:nvSpPr>
          <p:cNvPr id="4" name="投影片編號版面配置區 3"/>
          <p:cNvSpPr>
            <a:spLocks noGrp="1"/>
          </p:cNvSpPr>
          <p:nvPr>
            <p:ph type="sldNum" sz="quarter" idx="5"/>
          </p:nvPr>
        </p:nvSpPr>
        <p:spPr/>
        <p:txBody>
          <a:bodyPr/>
          <a:lstStyle/>
          <a:p>
            <a:fld id="{D4B9A9E5-4F7F-4A7D-9DE1-899232329269}" type="slidenum">
              <a:rPr lang="en-US" altLang="zh-TW" noProof="0" smtClean="0"/>
              <a:pPr/>
              <a:t>14</a:t>
            </a:fld>
            <a:endParaRPr lang="zh-TW" altLang="en-US" noProof="0"/>
          </a:p>
        </p:txBody>
      </p:sp>
    </p:spTree>
    <p:extLst>
      <p:ext uri="{BB962C8B-B14F-4D97-AF65-F5344CB8AC3E}">
        <p14:creationId xmlns:p14="http://schemas.microsoft.com/office/powerpoint/2010/main" val="90251883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15B3628-62D7-4A6D-A79F-34DE91DBA31E}"/>
              </a:ext>
            </a:extLst>
          </p:cNvPr>
          <p:cNvSpPr>
            <a:spLocks noGrp="1"/>
          </p:cNvSpPr>
          <p:nvPr>
            <p:ph type="ctrTitle"/>
          </p:nvPr>
        </p:nvSpPr>
        <p:spPr>
          <a:xfrm>
            <a:off x="4812031" y="4434840"/>
            <a:ext cx="3706328" cy="1122202"/>
          </a:xfrm>
        </p:spPr>
        <p:txBody>
          <a:bodyPr rtlCol="0" anchor="b">
            <a:noAutofit/>
          </a:bodyPr>
          <a:lstStyle>
            <a:lvl1pPr algn="l">
              <a:defRPr sz="2700" cap="all" spc="113" baseline="0">
                <a:latin typeface="Microsoft JhengHei UI" panose="020B0604030504040204" pitchFamily="34" charset="-120"/>
                <a:ea typeface="Microsoft JhengHei UI" panose="020B0604030504040204" pitchFamily="34" charset="-120"/>
              </a:defRPr>
            </a:lvl1pPr>
          </a:lstStyle>
          <a:p>
            <a:pPr rtl="0"/>
            <a:r>
              <a:rPr lang="zh-TW" altLang="en-US" noProof="0"/>
              <a:t>按一下以編輯母片標題樣式</a:t>
            </a:r>
          </a:p>
        </p:txBody>
      </p:sp>
      <p:sp>
        <p:nvSpPr>
          <p:cNvPr id="3" name="副標題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4812031" y="5586890"/>
            <a:ext cx="3706328" cy="396660"/>
          </a:xfrm>
        </p:spPr>
        <p:txBody>
          <a:bodyPr rtlCol="0">
            <a:normAutofit/>
          </a:bodyPr>
          <a:lstStyle>
            <a:lvl1pPr marL="0" indent="0" algn="l">
              <a:lnSpc>
                <a:spcPct val="100000"/>
              </a:lnSpc>
              <a:buNone/>
              <a:defRPr sz="1200">
                <a:latin typeface="Microsoft JhengHei UI" panose="020B0604030504040204" pitchFamily="34" charset="-120"/>
                <a:ea typeface="Microsoft JhengHei UI" panose="020B0604030504040204" pitchFamily="34" charset="-12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rtl="0"/>
            <a:r>
              <a:rPr lang="zh-TW" altLang="en-US" noProof="0"/>
              <a:t>按一下以編輯母片副標題樣式</a:t>
            </a:r>
          </a:p>
        </p:txBody>
      </p:sp>
      <p:pic>
        <p:nvPicPr>
          <p:cNvPr id="8" name="圖形 7">
            <a:extLst>
              <a:ext uri="{FF2B5EF4-FFF2-40B4-BE49-F238E27FC236}">
                <a16:creationId xmlns:a16="http://schemas.microsoft.com/office/drawing/2014/main" id="{A04F1E16-9A84-4D0E-9706-79C396AF6AE6}"/>
              </a:ext>
            </a:extLst>
          </p:cNvPr>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7"/>
            <a:ext cx="7116234"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議程">
    <p:bg>
      <p:bgPr>
        <a:solidFill>
          <a:schemeClr val="tx1"/>
        </a:solidFill>
        <a:effectLst/>
      </p:bgPr>
    </p:bg>
    <p:spTree>
      <p:nvGrpSpPr>
        <p:cNvPr id="1" name=""/>
        <p:cNvGrpSpPr/>
        <p:nvPr/>
      </p:nvGrpSpPr>
      <p:grpSpPr>
        <a:xfrm>
          <a:off x="0" y="0"/>
          <a:ext cx="0" cy="0"/>
          <a:chOff x="0" y="0"/>
          <a:chExt cx="0" cy="0"/>
        </a:xfrm>
      </p:grpSpPr>
      <p:pic>
        <p:nvPicPr>
          <p:cNvPr id="8" name="圖形 7">
            <a:extLst>
              <a:ext uri="{FF2B5EF4-FFF2-40B4-BE49-F238E27FC236}">
                <a16:creationId xmlns:a16="http://schemas.microsoft.com/office/drawing/2014/main" id="{D514C6BF-376E-43E8-881D-2E767426990A}"/>
              </a:ext>
            </a:extLst>
          </p:cNvPr>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4116615" y="0"/>
            <a:ext cx="5027389" cy="6858000"/>
          </a:xfrm>
          <a:prstGeom prst="rect">
            <a:avLst/>
          </a:prstGeom>
        </p:spPr>
      </p:pic>
      <p:sp>
        <p:nvSpPr>
          <p:cNvPr id="2" name="標題 1">
            <a:extLst>
              <a:ext uri="{FF2B5EF4-FFF2-40B4-BE49-F238E27FC236}">
                <a16:creationId xmlns:a16="http://schemas.microsoft.com/office/drawing/2014/main" id="{3F0A9B92-C2D0-466A-A680-A35832C452B3}"/>
              </a:ext>
            </a:extLst>
          </p:cNvPr>
          <p:cNvSpPr>
            <a:spLocks noGrp="1"/>
          </p:cNvSpPr>
          <p:nvPr>
            <p:ph type="title"/>
          </p:nvPr>
        </p:nvSpPr>
        <p:spPr>
          <a:xfrm>
            <a:off x="1000128" y="1020452"/>
            <a:ext cx="2378869" cy="1325563"/>
          </a:xfrm>
        </p:spPr>
        <p:txBody>
          <a:bodyPr rtlCol="0" anchor="b">
            <a:normAutofit/>
          </a:bodyPr>
          <a:lstStyle>
            <a:lvl1pPr>
              <a:defRPr sz="2100" spc="113" baseline="0">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按一下以編輯母片標題樣式</a:t>
            </a:r>
          </a:p>
        </p:txBody>
      </p:sp>
      <p:sp>
        <p:nvSpPr>
          <p:cNvPr id="3" name="內容版面配置區 2">
            <a:extLst>
              <a:ext uri="{FF2B5EF4-FFF2-40B4-BE49-F238E27FC236}">
                <a16:creationId xmlns:a16="http://schemas.microsoft.com/office/drawing/2014/main" id="{2DA41CE6-5A88-4C5C-B2A4-6A5D2153B16F}"/>
              </a:ext>
            </a:extLst>
          </p:cNvPr>
          <p:cNvSpPr>
            <a:spLocks noGrp="1"/>
          </p:cNvSpPr>
          <p:nvPr>
            <p:ph idx="1"/>
          </p:nvPr>
        </p:nvSpPr>
        <p:spPr>
          <a:xfrm>
            <a:off x="1000128" y="2924182"/>
            <a:ext cx="2378869" cy="2519363"/>
          </a:xfrm>
        </p:spPr>
        <p:txBody>
          <a:bodyPr rtlCol="0">
            <a:normAutofit/>
          </a:bodyPr>
          <a:lstStyle>
            <a:lvl1pPr marL="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2pPr>
            <a:lvl3pPr marL="68580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3pPr>
            <a:lvl4pPr marL="102870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4pPr>
            <a:lvl5pPr marL="1371600" indent="0">
              <a:lnSpc>
                <a:spcPct val="120000"/>
              </a:lnSpc>
              <a:spcBef>
                <a:spcPts val="750"/>
              </a:spcBef>
              <a:buNone/>
              <a:defRPr sz="1050" baseline="0">
                <a:solidFill>
                  <a:schemeClr val="bg1"/>
                </a:solidFill>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4" name="日期版面配置區 3">
            <a:extLst>
              <a:ext uri="{FF2B5EF4-FFF2-40B4-BE49-F238E27FC236}">
                <a16:creationId xmlns:a16="http://schemas.microsoft.com/office/drawing/2014/main" id="{A39F5093-3C53-4152-B8FE-0522E0795269}"/>
              </a:ext>
            </a:extLst>
          </p:cNvPr>
          <p:cNvSpPr>
            <a:spLocks noGrp="1"/>
          </p:cNvSpPr>
          <p:nvPr>
            <p:ph type="dt" sz="half" idx="10"/>
          </p:nvPr>
        </p:nvSpPr>
        <p:spPr>
          <a:xfrm>
            <a:off x="1000125" y="6356357"/>
            <a:ext cx="738868"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5" name="頁尾版面配置區 4">
            <a:extLst>
              <a:ext uri="{FF2B5EF4-FFF2-40B4-BE49-F238E27FC236}">
                <a16:creationId xmlns:a16="http://schemas.microsoft.com/office/drawing/2014/main" id="{7727F11D-8AF8-44D6-A48B-D8C7779B8B08}"/>
              </a:ext>
            </a:extLst>
          </p:cNvPr>
          <p:cNvSpPr>
            <a:spLocks noGrp="1"/>
          </p:cNvSpPr>
          <p:nvPr>
            <p:ph type="ftr" sz="quarter" idx="11"/>
          </p:nvPr>
        </p:nvSpPr>
        <p:spPr>
          <a:xfrm>
            <a:off x="2002414" y="6356356"/>
            <a:ext cx="1862132"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6" name="投影片編號版面配置區 5">
            <a:extLst>
              <a:ext uri="{FF2B5EF4-FFF2-40B4-BE49-F238E27FC236}">
                <a16:creationId xmlns:a16="http://schemas.microsoft.com/office/drawing/2014/main" id="{658C0879-6B0F-4AF6-A997-EC61DA8964AE}"/>
              </a:ext>
            </a:extLst>
          </p:cNvPr>
          <p:cNvSpPr>
            <a:spLocks noGrp="1"/>
          </p:cNvSpPr>
          <p:nvPr>
            <p:ph type="sldNum" sz="quarter" idx="12"/>
          </p:nvPr>
        </p:nvSpPr>
        <p:spPr>
          <a:xfrm>
            <a:off x="4152229" y="6356357"/>
            <a:ext cx="740664"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時間表">
    <p:spTree>
      <p:nvGrpSpPr>
        <p:cNvPr id="1" name=""/>
        <p:cNvGrpSpPr/>
        <p:nvPr/>
      </p:nvGrpSpPr>
      <p:grpSpPr>
        <a:xfrm>
          <a:off x="0" y="0"/>
          <a:ext cx="0" cy="0"/>
          <a:chOff x="0" y="0"/>
          <a:chExt cx="0" cy="0"/>
        </a:xfrm>
      </p:grpSpPr>
      <p:sp>
        <p:nvSpPr>
          <p:cNvPr id="12" name="圖形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1585415" y="0"/>
            <a:ext cx="7558587"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pPr rtl="0"/>
            <a:endParaRPr lang="zh-TW" altLang="en-US" sz="1350"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6E3987A5-99A6-4B33-BAAF-53159635382E}"/>
              </a:ext>
            </a:extLst>
          </p:cNvPr>
          <p:cNvSpPr>
            <a:spLocks noGrp="1"/>
          </p:cNvSpPr>
          <p:nvPr>
            <p:ph type="title" hasCustomPrompt="1"/>
          </p:nvPr>
        </p:nvSpPr>
        <p:spPr>
          <a:xfrm>
            <a:off x="628653" y="5509419"/>
            <a:ext cx="3061607" cy="585788"/>
          </a:xfrm>
        </p:spPr>
        <p:txBody>
          <a:bodyPr rtlCol="0">
            <a:normAutofit/>
          </a:bodyPr>
          <a:lstStyle>
            <a:lvl1pP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按一下以編輯標題</a:t>
            </a:r>
          </a:p>
        </p:txBody>
      </p:sp>
      <p:sp>
        <p:nvSpPr>
          <p:cNvPr id="16" name="文字版面配置區 15">
            <a:extLst>
              <a:ext uri="{FF2B5EF4-FFF2-40B4-BE49-F238E27FC236}">
                <a16:creationId xmlns:a16="http://schemas.microsoft.com/office/drawing/2014/main" id="{3BABF6CA-407C-4BF0-8234-1321A676E756}"/>
              </a:ext>
            </a:extLst>
          </p:cNvPr>
          <p:cNvSpPr>
            <a:spLocks noGrp="1"/>
          </p:cNvSpPr>
          <p:nvPr>
            <p:ph type="body" sz="quarter" idx="13"/>
          </p:nvPr>
        </p:nvSpPr>
        <p:spPr>
          <a:xfrm>
            <a:off x="111239" y="1481138"/>
            <a:ext cx="1606323" cy="514350"/>
          </a:xfrm>
        </p:spPr>
        <p:txBody>
          <a:bodyPr rtlCol="0" anchor="ctr">
            <a:noAutofit/>
          </a:bodyPr>
          <a:lstStyle>
            <a:lvl1pPr marL="0" indent="0" algn="r">
              <a:buNone/>
              <a:defRPr sz="1200" cap="all" spc="113"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17" name="文字版面配置區 15">
            <a:extLst>
              <a:ext uri="{FF2B5EF4-FFF2-40B4-BE49-F238E27FC236}">
                <a16:creationId xmlns:a16="http://schemas.microsoft.com/office/drawing/2014/main" id="{76D8129B-5B68-421C-968C-3663C86EFC7C}"/>
              </a:ext>
            </a:extLst>
          </p:cNvPr>
          <p:cNvSpPr>
            <a:spLocks noGrp="1"/>
          </p:cNvSpPr>
          <p:nvPr>
            <p:ph type="body" sz="quarter" idx="14"/>
          </p:nvPr>
        </p:nvSpPr>
        <p:spPr>
          <a:xfrm>
            <a:off x="535781" y="2557463"/>
            <a:ext cx="1606323" cy="514350"/>
          </a:xfrm>
        </p:spPr>
        <p:txBody>
          <a:bodyPr rtlCol="0" anchor="ctr">
            <a:noAutofit/>
          </a:bodyPr>
          <a:lstStyle>
            <a:lvl1pPr marL="0" indent="0" algn="r">
              <a:buNone/>
              <a:defRPr sz="1200" cap="all" spc="113"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18" name="文字版面配置區 15">
            <a:extLst>
              <a:ext uri="{FF2B5EF4-FFF2-40B4-BE49-F238E27FC236}">
                <a16:creationId xmlns:a16="http://schemas.microsoft.com/office/drawing/2014/main" id="{6C741DCA-8EBD-44F5-9D38-E938A628ADCD}"/>
              </a:ext>
            </a:extLst>
          </p:cNvPr>
          <p:cNvSpPr>
            <a:spLocks noGrp="1"/>
          </p:cNvSpPr>
          <p:nvPr>
            <p:ph type="body" sz="quarter" idx="15"/>
          </p:nvPr>
        </p:nvSpPr>
        <p:spPr>
          <a:xfrm>
            <a:off x="990602" y="3633788"/>
            <a:ext cx="1606323" cy="514350"/>
          </a:xfrm>
        </p:spPr>
        <p:txBody>
          <a:bodyPr rtlCol="0" anchor="ctr">
            <a:noAutofit/>
          </a:bodyPr>
          <a:lstStyle>
            <a:lvl1pPr marL="0" indent="0" algn="r">
              <a:buNone/>
              <a:defRPr sz="1200" cap="all" spc="113"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19" name="文字版面配置區 15">
            <a:extLst>
              <a:ext uri="{FF2B5EF4-FFF2-40B4-BE49-F238E27FC236}">
                <a16:creationId xmlns:a16="http://schemas.microsoft.com/office/drawing/2014/main" id="{5C43C6B1-A1BD-4A90-8B4B-F361C1BEDD26}"/>
              </a:ext>
            </a:extLst>
          </p:cNvPr>
          <p:cNvSpPr>
            <a:spLocks noGrp="1"/>
          </p:cNvSpPr>
          <p:nvPr>
            <p:ph type="body" sz="quarter" idx="16"/>
          </p:nvPr>
        </p:nvSpPr>
        <p:spPr>
          <a:xfrm>
            <a:off x="1428752" y="4710114"/>
            <a:ext cx="1606323" cy="514350"/>
          </a:xfrm>
        </p:spPr>
        <p:txBody>
          <a:bodyPr rtlCol="0" anchor="ctr">
            <a:noAutofit/>
          </a:bodyPr>
          <a:lstStyle>
            <a:lvl1pPr marL="0" indent="0" algn="r">
              <a:buNone/>
              <a:defRPr sz="1200" cap="all" spc="113"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34" name="文字版面配置區 15">
            <a:extLst>
              <a:ext uri="{FF2B5EF4-FFF2-40B4-BE49-F238E27FC236}">
                <a16:creationId xmlns:a16="http://schemas.microsoft.com/office/drawing/2014/main" id="{0C66E1BD-33F0-4B94-BF94-CD4698F85C3D}"/>
              </a:ext>
            </a:extLst>
          </p:cNvPr>
          <p:cNvSpPr>
            <a:spLocks noGrp="1"/>
          </p:cNvSpPr>
          <p:nvPr>
            <p:ph type="body" sz="quarter" idx="17"/>
          </p:nvPr>
        </p:nvSpPr>
        <p:spPr>
          <a:xfrm>
            <a:off x="3301155" y="1594478"/>
            <a:ext cx="4154321" cy="1010842"/>
          </a:xfrm>
        </p:spPr>
        <p:txBody>
          <a:bodyPr rtlCol="0" anchor="t">
            <a:normAutofit/>
          </a:bodyPr>
          <a:lstStyle>
            <a:lvl1pPr marL="0" indent="0" algn="l">
              <a:lnSpc>
                <a:spcPct val="100000"/>
              </a:lnSpc>
              <a:buNone/>
              <a:defRPr sz="1050" spc="38"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35" name="文字版面配置區 15">
            <a:extLst>
              <a:ext uri="{FF2B5EF4-FFF2-40B4-BE49-F238E27FC236}">
                <a16:creationId xmlns:a16="http://schemas.microsoft.com/office/drawing/2014/main" id="{2D4661B1-6559-407A-9AEC-A46A0570AE8F}"/>
              </a:ext>
            </a:extLst>
          </p:cNvPr>
          <p:cNvSpPr>
            <a:spLocks noGrp="1"/>
          </p:cNvSpPr>
          <p:nvPr>
            <p:ph type="body" sz="quarter" idx="18"/>
          </p:nvPr>
        </p:nvSpPr>
        <p:spPr>
          <a:xfrm>
            <a:off x="3739525" y="2673328"/>
            <a:ext cx="4154321" cy="1010842"/>
          </a:xfrm>
        </p:spPr>
        <p:txBody>
          <a:bodyPr rtlCol="0" anchor="t">
            <a:normAutofit/>
          </a:bodyPr>
          <a:lstStyle>
            <a:lvl1pPr marL="0" indent="0" algn="l">
              <a:lnSpc>
                <a:spcPct val="100000"/>
              </a:lnSpc>
              <a:buNone/>
              <a:defRPr sz="1050" spc="38"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36" name="文字版面配置區 15">
            <a:extLst>
              <a:ext uri="{FF2B5EF4-FFF2-40B4-BE49-F238E27FC236}">
                <a16:creationId xmlns:a16="http://schemas.microsoft.com/office/drawing/2014/main" id="{DCC983F7-6A25-42C0-811C-EA32138C5B80}"/>
              </a:ext>
            </a:extLst>
          </p:cNvPr>
          <p:cNvSpPr>
            <a:spLocks noGrp="1"/>
          </p:cNvSpPr>
          <p:nvPr>
            <p:ph type="body" sz="quarter" idx="19"/>
          </p:nvPr>
        </p:nvSpPr>
        <p:spPr>
          <a:xfrm>
            <a:off x="4182706" y="3755394"/>
            <a:ext cx="4154321" cy="1010842"/>
          </a:xfrm>
        </p:spPr>
        <p:txBody>
          <a:bodyPr rtlCol="0" anchor="t">
            <a:normAutofit/>
          </a:bodyPr>
          <a:lstStyle>
            <a:lvl1pPr marL="0" indent="0" algn="l">
              <a:lnSpc>
                <a:spcPct val="100000"/>
              </a:lnSpc>
              <a:buNone/>
              <a:defRPr sz="1050" spc="38"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sp>
        <p:nvSpPr>
          <p:cNvPr id="37" name="文字版面配置區 15">
            <a:extLst>
              <a:ext uri="{FF2B5EF4-FFF2-40B4-BE49-F238E27FC236}">
                <a16:creationId xmlns:a16="http://schemas.microsoft.com/office/drawing/2014/main" id="{E83DA0EB-27DD-416A-8DA5-4AFDC8587E5C}"/>
              </a:ext>
            </a:extLst>
          </p:cNvPr>
          <p:cNvSpPr>
            <a:spLocks noGrp="1"/>
          </p:cNvSpPr>
          <p:nvPr>
            <p:ph type="body" sz="quarter" idx="20"/>
          </p:nvPr>
        </p:nvSpPr>
        <p:spPr>
          <a:xfrm>
            <a:off x="4631463" y="4824430"/>
            <a:ext cx="4154321" cy="1010842"/>
          </a:xfrm>
        </p:spPr>
        <p:txBody>
          <a:bodyPr rtlCol="0" anchor="t">
            <a:normAutofit/>
          </a:bodyPr>
          <a:lstStyle>
            <a:lvl1pPr marL="0" indent="0" algn="l">
              <a:lnSpc>
                <a:spcPct val="100000"/>
              </a:lnSpc>
              <a:buNone/>
              <a:defRPr sz="1050" spc="38" baseline="0">
                <a:latin typeface="Microsoft JhengHei UI" panose="020B0604030504040204" pitchFamily="34" charset="-120"/>
                <a:ea typeface="Microsoft JhengHei UI" panose="020B0604030504040204" pitchFamily="34" charset="-120"/>
              </a:defRPr>
            </a:lvl1pPr>
          </a:lstStyle>
          <a:p>
            <a:pPr lvl="0" rtl="0"/>
            <a:r>
              <a:rPr lang="zh-TW" altLang="en-US" noProof="0"/>
              <a:t>按一下以編輯母片文字樣式</a:t>
            </a:r>
          </a:p>
        </p:txBody>
      </p:sp>
      <p:cxnSp>
        <p:nvCxnSpPr>
          <p:cNvPr id="3" name="直線接點​​(S)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3265138" y="5023933"/>
            <a:ext cx="1134908"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cxnSp>
        <p:nvCxnSpPr>
          <p:cNvPr id="4" name="直線接點​​(S)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2819938" y="3948451"/>
            <a:ext cx="1134908"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cxnSp>
        <p:nvCxnSpPr>
          <p:cNvPr id="8" name="直線接點​​(S)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2380090" y="2872686"/>
            <a:ext cx="1134908"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cxnSp>
        <p:nvCxnSpPr>
          <p:cNvPr id="9" name="直線接點​​(S)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1939699" y="1796083"/>
            <a:ext cx="1134908"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cxnSp>
      <p:sp>
        <p:nvSpPr>
          <p:cNvPr id="5" name="日期版面配置區 4">
            <a:extLst>
              <a:ext uri="{FF2B5EF4-FFF2-40B4-BE49-F238E27FC236}">
                <a16:creationId xmlns:a16="http://schemas.microsoft.com/office/drawing/2014/main" id="{874DC36F-5D3E-439D-80B5-32633FC34434}"/>
              </a:ext>
            </a:extLst>
          </p:cNvPr>
          <p:cNvSpPr>
            <a:spLocks noGrp="1"/>
          </p:cNvSpPr>
          <p:nvPr>
            <p:ph type="dt" sz="half" idx="10"/>
          </p:nvPr>
        </p:nvSpPr>
        <p:spPr/>
        <p:txBody>
          <a:bodyPr rtlCol="0"/>
          <a:lstStyle>
            <a:lvl1pPr>
              <a:defRPr sz="675">
                <a:solidFill>
                  <a:srgbClr val="898989"/>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6" name="頁尾版面配置區 5">
            <a:extLst>
              <a:ext uri="{FF2B5EF4-FFF2-40B4-BE49-F238E27FC236}">
                <a16:creationId xmlns:a16="http://schemas.microsoft.com/office/drawing/2014/main" id="{6C710A8A-CEC9-4787-A745-C28DD965F7DD}"/>
              </a:ext>
            </a:extLst>
          </p:cNvPr>
          <p:cNvSpPr>
            <a:spLocks noGrp="1"/>
          </p:cNvSpPr>
          <p:nvPr>
            <p:ph type="ftr" sz="quarter" idx="11"/>
          </p:nvPr>
        </p:nvSpPr>
        <p:spPr>
          <a:xfrm>
            <a:off x="4631459" y="6356357"/>
            <a:ext cx="1356534"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pPr algn="l"/>
            <a:r>
              <a:rPr lang="zh-TW" altLang="en-US" noProof="0"/>
              <a:t>募資簡報</a:t>
            </a:r>
          </a:p>
        </p:txBody>
      </p:sp>
      <p:sp>
        <p:nvSpPr>
          <p:cNvPr id="7" name="投影片編號版面配置區 6">
            <a:extLst>
              <a:ext uri="{FF2B5EF4-FFF2-40B4-BE49-F238E27FC236}">
                <a16:creationId xmlns:a16="http://schemas.microsoft.com/office/drawing/2014/main" id="{4162BD04-8F01-472A-9456-4702A2218BB5}"/>
              </a:ext>
            </a:extLst>
          </p:cNvPr>
          <p:cNvSpPr>
            <a:spLocks noGrp="1"/>
          </p:cNvSpPr>
          <p:nvPr>
            <p:ph type="sldNum" sz="quarter" idx="12"/>
          </p:nvPr>
        </p:nvSpPr>
        <p:spPr>
          <a:xfrm>
            <a:off x="8108157" y="6356357"/>
            <a:ext cx="407194"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內容 2 欄位">
    <p:bg>
      <p:bgPr>
        <a:solidFill>
          <a:schemeClr val="tx1"/>
        </a:solidFill>
        <a:effectLst/>
      </p:bgPr>
    </p:bg>
    <p:spTree>
      <p:nvGrpSpPr>
        <p:cNvPr id="1" name=""/>
        <p:cNvGrpSpPr/>
        <p:nvPr/>
      </p:nvGrpSpPr>
      <p:grpSpPr>
        <a:xfrm>
          <a:off x="0" y="0"/>
          <a:ext cx="0" cy="0"/>
          <a:chOff x="0" y="0"/>
          <a:chExt cx="0" cy="0"/>
        </a:xfrm>
      </p:grpSpPr>
      <p:sp>
        <p:nvSpPr>
          <p:cNvPr id="14" name="標題 1">
            <a:extLst>
              <a:ext uri="{FF2B5EF4-FFF2-40B4-BE49-F238E27FC236}">
                <a16:creationId xmlns:a16="http://schemas.microsoft.com/office/drawing/2014/main" id="{42ACEF30-0520-40B3-A1F1-F3D2530563D6}"/>
              </a:ext>
            </a:extLst>
          </p:cNvPr>
          <p:cNvSpPr>
            <a:spLocks noGrp="1"/>
          </p:cNvSpPr>
          <p:nvPr>
            <p:ph type="title"/>
          </p:nvPr>
        </p:nvSpPr>
        <p:spPr>
          <a:xfrm>
            <a:off x="1413867" y="892184"/>
            <a:ext cx="6316266" cy="1325563"/>
          </a:xfrm>
        </p:spPr>
        <p:txBody>
          <a:bodyPr rtlCol="0">
            <a:normAutofit/>
          </a:bodyPr>
          <a:lstStyle>
            <a:lvl1pPr algn="ctr">
              <a:defRPr lang="en-US" sz="21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5" name="文字版面配置區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114428" y="2563130"/>
            <a:ext cx="3023959" cy="365125"/>
          </a:xfrm>
        </p:spPr>
        <p:txBody>
          <a:bodyPr rtlCol="0">
            <a:normAutofit/>
          </a:bodyPr>
          <a:lstStyle>
            <a:lvl1pPr marL="0" indent="0" algn="ctr">
              <a:buNone/>
              <a:defRPr lang="en-US" sz="15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7" name="文字版面配置區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114251" y="3070348"/>
            <a:ext cx="3023273" cy="1057308"/>
          </a:xfrm>
        </p:spPr>
        <p:txBody>
          <a:bodyPr rtlCol="0">
            <a:normAutofit/>
          </a:bodyPr>
          <a:lstStyle>
            <a:lvl1pPr marL="0" indent="0" algn="ctr">
              <a:lnSpc>
                <a:spcPct val="100000"/>
              </a:lnSpc>
              <a:buFont typeface="Arial" panose="020B0604020202020204" pitchFamily="34" charset="0"/>
              <a:buNone/>
              <a:defRPr sz="105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1" name="文字版面配置區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5004756" y="2563130"/>
            <a:ext cx="3023959" cy="365125"/>
          </a:xfrm>
        </p:spPr>
        <p:txBody>
          <a:bodyPr rtlCol="0">
            <a:normAutofit/>
          </a:bodyPr>
          <a:lstStyle>
            <a:lvl1pPr marL="0" indent="0" algn="ctr">
              <a:buNone/>
              <a:defRPr lang="en-US" sz="15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按一下以新增副標題</a:t>
            </a:r>
          </a:p>
        </p:txBody>
      </p:sp>
      <p:sp>
        <p:nvSpPr>
          <p:cNvPr id="32" name="文字版面配置區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5004860" y="3070348"/>
            <a:ext cx="3023273" cy="1057308"/>
          </a:xfrm>
        </p:spPr>
        <p:txBody>
          <a:bodyPr rtlCol="0">
            <a:normAutofit/>
          </a:bodyPr>
          <a:lstStyle>
            <a:lvl1pPr marL="0" indent="0" algn="ctr">
              <a:lnSpc>
                <a:spcPct val="100000"/>
              </a:lnSpc>
              <a:buFont typeface="Arial" panose="020B0604020202020204" pitchFamily="34" charset="0"/>
              <a:buNone/>
              <a:defRPr sz="105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3" name="文字版面配置區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114428" y="4319438"/>
            <a:ext cx="3023959" cy="365125"/>
          </a:xfrm>
        </p:spPr>
        <p:txBody>
          <a:bodyPr rtlCol="0">
            <a:normAutofit/>
          </a:bodyPr>
          <a:lstStyle>
            <a:lvl1pPr marL="0" indent="0" algn="ctr">
              <a:buNone/>
              <a:defRPr lang="en-US" sz="15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按一下以新增副標題</a:t>
            </a:r>
          </a:p>
        </p:txBody>
      </p:sp>
      <p:sp>
        <p:nvSpPr>
          <p:cNvPr id="34" name="文字版面配置區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114812" y="4826656"/>
            <a:ext cx="3023273" cy="1057308"/>
          </a:xfrm>
        </p:spPr>
        <p:txBody>
          <a:bodyPr rtlCol="0">
            <a:normAutofit/>
          </a:bodyPr>
          <a:lstStyle>
            <a:lvl1pPr marL="0" indent="0" algn="ctr">
              <a:lnSpc>
                <a:spcPct val="100000"/>
              </a:lnSpc>
              <a:buFont typeface="Arial" panose="020B0604020202020204" pitchFamily="34" charset="0"/>
              <a:buNone/>
              <a:defRPr sz="105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2" name="文字版面配置區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5004476" y="4319438"/>
            <a:ext cx="3023959" cy="365125"/>
          </a:xfrm>
        </p:spPr>
        <p:txBody>
          <a:bodyPr rtlCol="0">
            <a:normAutofit/>
          </a:bodyPr>
          <a:lstStyle>
            <a:lvl1pPr marL="0" indent="0" algn="ctr">
              <a:buNone/>
              <a:defRPr lang="en-US" sz="1500" kern="1200"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按一下以新增副標題</a:t>
            </a:r>
          </a:p>
        </p:txBody>
      </p:sp>
      <p:sp>
        <p:nvSpPr>
          <p:cNvPr id="13" name="文字版面配置區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5004860" y="4826656"/>
            <a:ext cx="3023273" cy="1057308"/>
          </a:xfrm>
        </p:spPr>
        <p:txBody>
          <a:bodyPr rtlCol="0">
            <a:normAutofit/>
          </a:bodyPr>
          <a:lstStyle>
            <a:lvl1pPr marL="0" indent="0" algn="ctr">
              <a:lnSpc>
                <a:spcPct val="100000"/>
              </a:lnSpc>
              <a:buFont typeface="Arial" panose="020B0604020202020204" pitchFamily="34" charset="0"/>
              <a:buNone/>
              <a:defRPr sz="1050">
                <a:solidFill>
                  <a:schemeClr val="bg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 name="日期版面配置區 2">
            <a:extLst>
              <a:ext uri="{FF2B5EF4-FFF2-40B4-BE49-F238E27FC236}">
                <a16:creationId xmlns:a16="http://schemas.microsoft.com/office/drawing/2014/main" id="{98EC90C5-A811-4E5C-ADD1-A89DB4E94DAA}"/>
              </a:ext>
            </a:extLst>
          </p:cNvPr>
          <p:cNvSpPr>
            <a:spLocks noGrp="1"/>
          </p:cNvSpPr>
          <p:nvPr>
            <p:ph type="dt" sz="half" idx="20"/>
          </p:nvPr>
        </p:nvSpPr>
        <p:spPr/>
        <p:txBody>
          <a:bodyPr rtlCol="0"/>
          <a:lstStyle>
            <a:lvl1pPr>
              <a:defRPr>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3356B621-AE19-45D3-B25F-23256C242DDD}"/>
              </a:ext>
            </a:extLst>
          </p:cNvPr>
          <p:cNvSpPr>
            <a:spLocks noGrp="1"/>
          </p:cNvSpPr>
          <p:nvPr>
            <p:ph type="ftr" sz="quarter" idx="21"/>
          </p:nvPr>
        </p:nvSpPr>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rtlCol="0"/>
          <a:lstStyle>
            <a:lvl1pPr>
              <a:defRPr>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cxnSp>
        <p:nvCxnSpPr>
          <p:cNvPr id="2" name="直線接點​​(S)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6516293" y="7"/>
            <a:ext cx="2627709" cy="235295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 name="直線接點​​(S)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7290711" y="0"/>
            <a:ext cx="1853293" cy="2699032"/>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內容 3 欄位">
    <p:bg>
      <p:bgPr>
        <a:solidFill>
          <a:schemeClr val="bg1"/>
        </a:solidFill>
        <a:effectLst/>
      </p:bgPr>
    </p:bg>
    <p:spTree>
      <p:nvGrpSpPr>
        <p:cNvPr id="1" name=""/>
        <p:cNvGrpSpPr/>
        <p:nvPr/>
      </p:nvGrpSpPr>
      <p:grpSpPr>
        <a:xfrm>
          <a:off x="0" y="0"/>
          <a:ext cx="0" cy="0"/>
          <a:chOff x="0" y="0"/>
          <a:chExt cx="0" cy="0"/>
        </a:xfrm>
      </p:grpSpPr>
      <p:sp>
        <p:nvSpPr>
          <p:cNvPr id="14" name="標題 1">
            <a:extLst>
              <a:ext uri="{FF2B5EF4-FFF2-40B4-BE49-F238E27FC236}">
                <a16:creationId xmlns:a16="http://schemas.microsoft.com/office/drawing/2014/main" id="{42ACEF30-0520-40B3-A1F1-F3D2530563D6}"/>
              </a:ext>
            </a:extLst>
          </p:cNvPr>
          <p:cNvSpPr>
            <a:spLocks noGrp="1"/>
          </p:cNvSpPr>
          <p:nvPr>
            <p:ph type="title"/>
          </p:nvPr>
        </p:nvSpPr>
        <p:spPr>
          <a:xfrm>
            <a:off x="1131570" y="4156412"/>
            <a:ext cx="2354580" cy="1325563"/>
          </a:xfrm>
        </p:spPr>
        <p:txBody>
          <a:bodyPr rtlCol="0" anchor="b">
            <a:normAutofit/>
          </a:bodyPr>
          <a:lstStyle>
            <a:lvl1pPr algn="l">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5" name="文字版面配置區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4441691" y="1530642"/>
            <a:ext cx="4074903" cy="365125"/>
          </a:xfrm>
        </p:spPr>
        <p:txBody>
          <a:bodyPr rtlCol="0">
            <a:normAutofit/>
          </a:bodyPr>
          <a:lstStyle>
            <a:lvl1pPr marL="0" indent="0">
              <a:buNone/>
              <a:defRPr lang="en-US" sz="15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7" name="文字版面配置區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4441372" y="1860060"/>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6" name="文字版面配置區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4441691" y="2630438"/>
            <a:ext cx="4074903" cy="365125"/>
          </a:xfrm>
        </p:spPr>
        <p:txBody>
          <a:bodyPr rtlCol="0">
            <a:normAutofit/>
          </a:bodyPr>
          <a:lstStyle>
            <a:lvl1pPr marL="0" indent="0">
              <a:buNone/>
              <a:defRPr lang="en-US" sz="15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8" name="文字版面配置區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4441372" y="2959856"/>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9" name="文字版面配置區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4441691" y="3730234"/>
            <a:ext cx="4074903" cy="365125"/>
          </a:xfrm>
        </p:spPr>
        <p:txBody>
          <a:bodyPr rtlCol="0">
            <a:normAutofit/>
          </a:bodyPr>
          <a:lstStyle>
            <a:lvl1pPr marL="0" indent="0">
              <a:buNone/>
              <a:defRPr lang="en-US" sz="15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0" name="文字版面配置區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4441372" y="4059652"/>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3" name="文字版面配置區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4440080" y="4830031"/>
            <a:ext cx="4074903" cy="365125"/>
          </a:xfrm>
        </p:spPr>
        <p:txBody>
          <a:bodyPr rtlCol="0">
            <a:normAutofit/>
          </a:bodyPr>
          <a:lstStyle>
            <a:lvl1pPr marL="0" indent="0">
              <a:buNone/>
              <a:defRPr lang="en-US" sz="15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4" name="文字版面配置區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4439761" y="5159449"/>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3" name="日期版面配置區 2">
            <a:extLst>
              <a:ext uri="{FF2B5EF4-FFF2-40B4-BE49-F238E27FC236}">
                <a16:creationId xmlns:a16="http://schemas.microsoft.com/office/drawing/2014/main" id="{98EC90C5-A811-4E5C-ADD1-A89DB4E94DAA}"/>
              </a:ext>
            </a:extLst>
          </p:cNvPr>
          <p:cNvSpPr>
            <a:spLocks noGrp="1"/>
          </p:cNvSpPr>
          <p:nvPr>
            <p:ph type="dt" sz="half" idx="20"/>
          </p:nvPr>
        </p:nvSpPr>
        <p:spPr>
          <a:xfrm>
            <a:off x="4439762" y="6356357"/>
            <a:ext cx="71063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3356B621-AE19-45D3-B25F-23256C242DDD}"/>
              </a:ext>
            </a:extLst>
          </p:cNvPr>
          <p:cNvSpPr>
            <a:spLocks noGrp="1"/>
          </p:cNvSpPr>
          <p:nvPr>
            <p:ph type="ftr" sz="quarter" idx="21"/>
          </p:nvPr>
        </p:nvSpPr>
        <p:spPr>
          <a:xfrm>
            <a:off x="5371469" y="6356357"/>
            <a:ext cx="243295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158BDCB2-D8C3-4571-8154-76BEA9AE41A8}"/>
              </a:ext>
            </a:extLst>
          </p:cNvPr>
          <p:cNvSpPr>
            <a:spLocks noGrp="1"/>
          </p:cNvSpPr>
          <p:nvPr>
            <p:ph type="sldNum" sz="quarter" idx="22"/>
          </p:nvPr>
        </p:nvSpPr>
        <p:spPr>
          <a:xfrm>
            <a:off x="8025496" y="6356357"/>
            <a:ext cx="48985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pic>
        <p:nvPicPr>
          <p:cNvPr id="2" name="圖形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9434" t="20278" b="22673"/>
          <a:stretch/>
        </p:blipFill>
        <p:spPr>
          <a:xfrm>
            <a:off x="-3522" y="-1"/>
            <a:ext cx="3672551"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簡介">
    <p:bg>
      <p:bgPr>
        <a:solidFill>
          <a:schemeClr val="accent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3A3821F-4537-4AE7-8829-C2E3AE60F6E1}"/>
              </a:ext>
            </a:extLst>
          </p:cNvPr>
          <p:cNvSpPr>
            <a:spLocks noGrp="1"/>
          </p:cNvSpPr>
          <p:nvPr>
            <p:ph type="title"/>
          </p:nvPr>
        </p:nvSpPr>
        <p:spPr>
          <a:xfrm>
            <a:off x="1021559" y="1671639"/>
            <a:ext cx="3833813" cy="1204912"/>
          </a:xfrm>
        </p:spPr>
        <p:txBody>
          <a:bodyPr rtlCol="0" anchor="b">
            <a:normAutofit/>
          </a:bodyPr>
          <a:lstStyle>
            <a:lvl1pP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92FD4279-EA62-4397-878A-73F4948DB176}"/>
              </a:ext>
            </a:extLst>
          </p:cNvPr>
          <p:cNvSpPr>
            <a:spLocks noGrp="1"/>
          </p:cNvSpPr>
          <p:nvPr>
            <p:ph type="body" idx="1"/>
          </p:nvPr>
        </p:nvSpPr>
        <p:spPr>
          <a:xfrm>
            <a:off x="1021559" y="3660774"/>
            <a:ext cx="3833813" cy="1525588"/>
          </a:xfrm>
        </p:spPr>
        <p:txBody>
          <a:bodyPr rtlCol="0">
            <a:normAutofit/>
          </a:bodyPr>
          <a:lstStyle>
            <a:lvl1pPr marL="0" indent="0">
              <a:lnSpc>
                <a:spcPct val="100000"/>
              </a:lnSpc>
              <a:buNone/>
              <a:defRPr sz="1050" spc="38" baseline="0">
                <a:solidFill>
                  <a:schemeClr val="tx1"/>
                </a:solidFill>
                <a:latin typeface="Microsoft JhengHei UI" panose="020B0604030504040204" pitchFamily="34" charset="-120"/>
                <a:ea typeface="Microsoft JhengHei UI" panose="020B0604030504040204" pitchFamily="34" charset="-12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rtl="0"/>
            <a:r>
              <a:rPr lang="zh-TW" altLang="en-US" noProof="0"/>
              <a:t>按一下以編輯母片文字樣式</a:t>
            </a:r>
          </a:p>
        </p:txBody>
      </p:sp>
      <p:cxnSp>
        <p:nvCxnSpPr>
          <p:cNvPr id="14" name="直線接點​​(S) 13">
            <a:extLst>
              <a:ext uri="{FF2B5EF4-FFF2-40B4-BE49-F238E27FC236}">
                <a16:creationId xmlns:a16="http://schemas.microsoft.com/office/drawing/2014/main" id="{49FBD260-5143-4B12-B9F8-33E48D548909}"/>
              </a:ext>
            </a:extLst>
          </p:cNvPr>
          <p:cNvCxnSpPr/>
          <p:nvPr/>
        </p:nvCxnSpPr>
        <p:spPr>
          <a:xfrm>
            <a:off x="6822285" y="1497012"/>
            <a:ext cx="23217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接點​​(S) 22">
            <a:extLst>
              <a:ext uri="{FF2B5EF4-FFF2-40B4-BE49-F238E27FC236}">
                <a16:creationId xmlns:a16="http://schemas.microsoft.com/office/drawing/2014/main" id="{D87F08D6-2CA7-4A5A-BE34-07113DCA535D}"/>
              </a:ext>
            </a:extLst>
          </p:cNvPr>
          <p:cNvCxnSpPr/>
          <p:nvPr/>
        </p:nvCxnSpPr>
        <p:spPr>
          <a:xfrm flipH="1">
            <a:off x="5214940" y="-25401"/>
            <a:ext cx="2843213" cy="69024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日期版面配置區 6">
            <a:extLst>
              <a:ext uri="{FF2B5EF4-FFF2-40B4-BE49-F238E27FC236}">
                <a16:creationId xmlns:a16="http://schemas.microsoft.com/office/drawing/2014/main" id="{70146B66-4F07-44BE-8AAB-48EA5170DA81}"/>
              </a:ext>
            </a:extLst>
          </p:cNvPr>
          <p:cNvSpPr>
            <a:spLocks noGrp="1"/>
          </p:cNvSpPr>
          <p:nvPr>
            <p:ph type="dt" sz="half" idx="10"/>
          </p:nvPr>
        </p:nvSpPr>
        <p:spPr>
          <a:xfrm>
            <a:off x="6286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0" name="頁尾版面配置區 7">
            <a:extLst>
              <a:ext uri="{FF2B5EF4-FFF2-40B4-BE49-F238E27FC236}">
                <a16:creationId xmlns:a16="http://schemas.microsoft.com/office/drawing/2014/main" id="{3A927BE5-2F4C-4EBD-9093-C4ED6E3025B1}"/>
              </a:ext>
            </a:extLst>
          </p:cNvPr>
          <p:cNvSpPr>
            <a:spLocks noGrp="1"/>
          </p:cNvSpPr>
          <p:nvPr>
            <p:ph type="ftr" sz="quarter" idx="11"/>
          </p:nvPr>
        </p:nvSpPr>
        <p:spPr>
          <a:xfrm>
            <a:off x="3918349" y="6356357"/>
            <a:ext cx="1307306"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1" name="投影片編號版面配置區 8">
            <a:extLst>
              <a:ext uri="{FF2B5EF4-FFF2-40B4-BE49-F238E27FC236}">
                <a16:creationId xmlns:a16="http://schemas.microsoft.com/office/drawing/2014/main" id="{C4C1336B-CF5E-42FF-80E8-7D33A2D64E17}"/>
              </a:ext>
            </a:extLst>
          </p:cNvPr>
          <p:cNvSpPr>
            <a:spLocks noGrp="1"/>
          </p:cNvSpPr>
          <p:nvPr>
            <p:ph type="sldNum" sz="quarter" idx="12"/>
          </p:nvPr>
        </p:nvSpPr>
        <p:spPr>
          <a:xfrm>
            <a:off x="64579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分節符號">
    <p:bg>
      <p:bgPr>
        <a:solidFill>
          <a:schemeClr val="tx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15B3628-62D7-4A6D-A79F-34DE91DBA31E}"/>
              </a:ext>
            </a:extLst>
          </p:cNvPr>
          <p:cNvSpPr>
            <a:spLocks noGrp="1"/>
          </p:cNvSpPr>
          <p:nvPr>
            <p:ph type="ctrTitle"/>
          </p:nvPr>
        </p:nvSpPr>
        <p:spPr>
          <a:xfrm>
            <a:off x="5243512" y="2571238"/>
            <a:ext cx="3134678" cy="1715531"/>
          </a:xfrm>
        </p:spPr>
        <p:txBody>
          <a:bodyPr rtlCol="0" anchor="ctr">
            <a:noAutofit/>
          </a:bodyPr>
          <a:lstStyle>
            <a:lvl1pPr algn="l">
              <a:defRPr sz="2700" spc="113" baseline="0">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按一下以編輯母片標題樣式</a:t>
            </a:r>
          </a:p>
        </p:txBody>
      </p:sp>
      <p:pic>
        <p:nvPicPr>
          <p:cNvPr id="5" name="圖形 4">
            <a:extLst>
              <a:ext uri="{FF2B5EF4-FFF2-40B4-BE49-F238E27FC236}">
                <a16:creationId xmlns:a16="http://schemas.microsoft.com/office/drawing/2014/main" id="{F05D2CCB-CCFC-4A8A-ADA9-C1E4D13B968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4407694"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引述">
    <p:spTree>
      <p:nvGrpSpPr>
        <p:cNvPr id="1" name=""/>
        <p:cNvGrpSpPr/>
        <p:nvPr/>
      </p:nvGrpSpPr>
      <p:grpSpPr>
        <a:xfrm>
          <a:off x="0" y="0"/>
          <a:ext cx="0" cy="0"/>
          <a:chOff x="0" y="0"/>
          <a:chExt cx="0" cy="0"/>
        </a:xfrm>
      </p:grpSpPr>
      <p:pic>
        <p:nvPicPr>
          <p:cNvPr id="7" name="圖形 6">
            <a:extLst>
              <a:ext uri="{FF2B5EF4-FFF2-40B4-BE49-F238E27FC236}">
                <a16:creationId xmlns:a16="http://schemas.microsoft.com/office/drawing/2014/main" id="{AEE644D4-F9A4-4237-BD5C-4B97ABA933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 y="0"/>
            <a:ext cx="4186238" cy="6858000"/>
          </a:xfrm>
          <a:prstGeom prst="rect">
            <a:avLst/>
          </a:prstGeom>
        </p:spPr>
      </p:pic>
      <p:sp>
        <p:nvSpPr>
          <p:cNvPr id="2" name="標題 1">
            <a:extLst>
              <a:ext uri="{FF2B5EF4-FFF2-40B4-BE49-F238E27FC236}">
                <a16:creationId xmlns:a16="http://schemas.microsoft.com/office/drawing/2014/main" id="{C2FF67A8-55FA-435D-A18C-96D63D22B53E}"/>
              </a:ext>
            </a:extLst>
          </p:cNvPr>
          <p:cNvSpPr>
            <a:spLocks noGrp="1"/>
          </p:cNvSpPr>
          <p:nvPr>
            <p:ph type="title"/>
          </p:nvPr>
        </p:nvSpPr>
        <p:spPr>
          <a:xfrm>
            <a:off x="4440127" y="1152778"/>
            <a:ext cx="4073978" cy="846301"/>
          </a:xfrm>
        </p:spPr>
        <p:txBody>
          <a:bodyPr rtlCol="0" anchor="t">
            <a:normAutofit/>
          </a:bodyPr>
          <a:lstStyle>
            <a:lvl1pP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cxnSp>
        <p:nvCxnSpPr>
          <p:cNvPr id="9" name="直線接點​​(S) 8">
            <a:extLst>
              <a:ext uri="{FF2B5EF4-FFF2-40B4-BE49-F238E27FC236}">
                <a16:creationId xmlns:a16="http://schemas.microsoft.com/office/drawing/2014/main" id="{BDAC7E4E-FE06-4E90-8107-6B543E5515ED}"/>
              </a:ext>
            </a:extLst>
          </p:cNvPr>
          <p:cNvCxnSpPr/>
          <p:nvPr/>
        </p:nvCxnSpPr>
        <p:spPr>
          <a:xfrm flipV="1">
            <a:off x="1657350" y="0"/>
            <a:ext cx="182880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字版面配置區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4441691" y="2469522"/>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2" name="文字版面配置區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4441372" y="2798940"/>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3" name="文字版面配置區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4441691" y="3569311"/>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4" name="文字版面配置區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4441372" y="3898736"/>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5" name="文字版面配置區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4441691" y="4669114"/>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16" name="文字版面配置區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4441372" y="4998532"/>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17" name="日期版面配置區 2">
            <a:extLst>
              <a:ext uri="{FF2B5EF4-FFF2-40B4-BE49-F238E27FC236}">
                <a16:creationId xmlns:a16="http://schemas.microsoft.com/office/drawing/2014/main" id="{1E25EFF1-65C7-4F93-8740-46885C6BEA57}"/>
              </a:ext>
            </a:extLst>
          </p:cNvPr>
          <p:cNvSpPr>
            <a:spLocks noGrp="1"/>
          </p:cNvSpPr>
          <p:nvPr>
            <p:ph type="dt" sz="half" idx="20"/>
          </p:nvPr>
        </p:nvSpPr>
        <p:spPr>
          <a:xfrm>
            <a:off x="4439762" y="6356357"/>
            <a:ext cx="71063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8" name="頁尾版面配置區 3">
            <a:extLst>
              <a:ext uri="{FF2B5EF4-FFF2-40B4-BE49-F238E27FC236}">
                <a16:creationId xmlns:a16="http://schemas.microsoft.com/office/drawing/2014/main" id="{C16D80BF-B599-4FC0-ABD5-98777872FE5F}"/>
              </a:ext>
            </a:extLst>
          </p:cNvPr>
          <p:cNvSpPr>
            <a:spLocks noGrp="1"/>
          </p:cNvSpPr>
          <p:nvPr>
            <p:ph type="ftr" sz="quarter" idx="21"/>
          </p:nvPr>
        </p:nvSpPr>
        <p:spPr>
          <a:xfrm>
            <a:off x="5371469" y="6356357"/>
            <a:ext cx="243295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9" name="投影片編號版面配置區 4">
            <a:extLst>
              <a:ext uri="{FF2B5EF4-FFF2-40B4-BE49-F238E27FC236}">
                <a16:creationId xmlns:a16="http://schemas.microsoft.com/office/drawing/2014/main" id="{F64421B1-FF90-4939-90BD-8206DE5036D0}"/>
              </a:ext>
            </a:extLst>
          </p:cNvPr>
          <p:cNvSpPr>
            <a:spLocks noGrp="1"/>
          </p:cNvSpPr>
          <p:nvPr>
            <p:ph type="sldNum" sz="quarter" idx="22"/>
          </p:nvPr>
        </p:nvSpPr>
        <p:spPr>
          <a:xfrm>
            <a:off x="8025496" y="6356357"/>
            <a:ext cx="489857"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三個內容">
    <p:bg>
      <p:bgRef idx="1001">
        <a:schemeClr val="bg1"/>
      </p:bgRef>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p:nvPr>
        </p:nvSpPr>
        <p:spPr>
          <a:xfrm>
            <a:off x="932329" y="2776936"/>
            <a:ext cx="2161856" cy="823912"/>
          </a:xfrm>
        </p:spPr>
        <p:txBody>
          <a:bodyPr rtlCol="0" anchor="b">
            <a:noAutofit/>
          </a:bodyPr>
          <a:lstStyle>
            <a:lvl1pPr marL="0" indent="0">
              <a:buNone/>
              <a:defRPr lang="en-US" sz="1500" kern="1200" cap="all"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4" name="內容版面配置區 3">
            <a:extLst>
              <a:ext uri="{FF2B5EF4-FFF2-40B4-BE49-F238E27FC236}">
                <a16:creationId xmlns:a16="http://schemas.microsoft.com/office/drawing/2014/main" id="{AC9B20CF-6B91-4562-B799-0ABDAEBC0D2A}"/>
              </a:ext>
            </a:extLst>
          </p:cNvPr>
          <p:cNvSpPr>
            <a:spLocks noGrp="1"/>
          </p:cNvSpPr>
          <p:nvPr>
            <p:ph sz="half" idx="2"/>
          </p:nvPr>
        </p:nvSpPr>
        <p:spPr>
          <a:xfrm>
            <a:off x="932329" y="3834613"/>
            <a:ext cx="2161856"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5" name="文字版面配置區 4">
            <a:extLst>
              <a:ext uri="{FF2B5EF4-FFF2-40B4-BE49-F238E27FC236}">
                <a16:creationId xmlns:a16="http://schemas.microsoft.com/office/drawing/2014/main" id="{B374FC39-67F6-42EA-BCD1-F69AE2F0F22D}"/>
              </a:ext>
            </a:extLst>
          </p:cNvPr>
          <p:cNvSpPr>
            <a:spLocks noGrp="1"/>
          </p:cNvSpPr>
          <p:nvPr>
            <p:ph type="body" sz="quarter" idx="3"/>
          </p:nvPr>
        </p:nvSpPr>
        <p:spPr>
          <a:xfrm>
            <a:off x="3485752" y="2776936"/>
            <a:ext cx="2172503" cy="823912"/>
          </a:xfrm>
        </p:spPr>
        <p:txBody>
          <a:bodyPr rtlCol="0" anchor="b">
            <a:noAutofit/>
          </a:bodyPr>
          <a:lstStyle>
            <a:lvl1pPr marL="0" indent="0">
              <a:buNone/>
              <a:defRPr lang="en-US" sz="1500" kern="1200" cap="all"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按一下以編輯母片文字樣式</a:t>
            </a:r>
          </a:p>
        </p:txBody>
      </p:sp>
      <p:sp>
        <p:nvSpPr>
          <p:cNvPr id="6" name="內容版面配置區 5">
            <a:extLst>
              <a:ext uri="{FF2B5EF4-FFF2-40B4-BE49-F238E27FC236}">
                <a16:creationId xmlns:a16="http://schemas.microsoft.com/office/drawing/2014/main" id="{B36EE64B-44BF-4634-97BC-5ED74C6DF280}"/>
              </a:ext>
            </a:extLst>
          </p:cNvPr>
          <p:cNvSpPr>
            <a:spLocks noGrp="1"/>
          </p:cNvSpPr>
          <p:nvPr>
            <p:ph sz="quarter" idx="4"/>
          </p:nvPr>
        </p:nvSpPr>
        <p:spPr>
          <a:xfrm>
            <a:off x="3485752" y="3834613"/>
            <a:ext cx="2172503"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cxnSp>
        <p:nvCxnSpPr>
          <p:cNvPr id="16" name="直線接點​​(S)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1" y="0"/>
            <a:ext cx="928688"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線接點​​(S)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1678782"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文字版面配置區 2">
            <a:extLst>
              <a:ext uri="{FF2B5EF4-FFF2-40B4-BE49-F238E27FC236}">
                <a16:creationId xmlns:a16="http://schemas.microsoft.com/office/drawing/2014/main" id="{1F60A771-8BBC-4565-AB09-402DA7CB2780}"/>
              </a:ext>
            </a:extLst>
          </p:cNvPr>
          <p:cNvSpPr>
            <a:spLocks noGrp="1"/>
          </p:cNvSpPr>
          <p:nvPr>
            <p:ph type="body" idx="13"/>
          </p:nvPr>
        </p:nvSpPr>
        <p:spPr>
          <a:xfrm>
            <a:off x="6049816" y="2776936"/>
            <a:ext cx="2161856" cy="823912"/>
          </a:xfrm>
        </p:spPr>
        <p:txBody>
          <a:bodyPr rtlCol="0" anchor="b">
            <a:noAutofit/>
          </a:bodyPr>
          <a:lstStyle>
            <a:lvl1pPr marL="0" indent="0">
              <a:buNone/>
              <a:defRPr lang="en-US" sz="1500" kern="1200" cap="all"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2" name="內容版面配置區 3">
            <a:extLst>
              <a:ext uri="{FF2B5EF4-FFF2-40B4-BE49-F238E27FC236}">
                <a16:creationId xmlns:a16="http://schemas.microsoft.com/office/drawing/2014/main" id="{C464A9BD-B815-4632-8F54-6EB70E48BAFF}"/>
              </a:ext>
            </a:extLst>
          </p:cNvPr>
          <p:cNvSpPr>
            <a:spLocks noGrp="1"/>
          </p:cNvSpPr>
          <p:nvPr>
            <p:ph sz="half" idx="14"/>
          </p:nvPr>
        </p:nvSpPr>
        <p:spPr>
          <a:xfrm>
            <a:off x="6049816" y="3834613"/>
            <a:ext cx="2161856"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 內容">
    <p:bg>
      <p:bgPr>
        <a:solidFill>
          <a:schemeClr val="tx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cap="all" spc="113" baseline="0" dirty="0">
                <a:solidFill>
                  <a:schemeClr val="bg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pic>
        <p:nvPicPr>
          <p:cNvPr id="11" name="圖形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98856" y="2358007"/>
            <a:ext cx="1828800" cy="2019300"/>
          </a:xfrm>
          <a:prstGeom prst="rect">
            <a:avLst/>
          </a:prstGeom>
        </p:spPr>
      </p:pic>
      <p:pic>
        <p:nvPicPr>
          <p:cNvPr id="13" name="圖形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750472" y="2531837"/>
            <a:ext cx="1643063" cy="1943100"/>
          </a:xfrm>
          <a:prstGeom prst="rect">
            <a:avLst/>
          </a:prstGeom>
        </p:spPr>
      </p:pic>
      <p:pic>
        <p:nvPicPr>
          <p:cNvPr id="15" name="圖形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6259208" y="2421056"/>
            <a:ext cx="1743075" cy="2057400"/>
          </a:xfrm>
          <a:prstGeom prst="rect">
            <a:avLst/>
          </a:prstGeom>
        </p:spPr>
      </p:pic>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47893" y="3064615"/>
            <a:ext cx="930728" cy="823912"/>
          </a:xfrm>
        </p:spPr>
        <p:txBody>
          <a:bodyPr rtlCol="0" anchor="ctr">
            <a:noAutofit/>
          </a:bodyPr>
          <a:lstStyle>
            <a:lvl1pPr marL="0" indent="0" algn="ctr">
              <a:buNone/>
              <a:defRPr lang="en-US" sz="3000" kern="1200" cap="all" spc="113" baseline="0" dirty="0" smtClean="0">
                <a:solidFill>
                  <a:schemeClr val="bg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23" name="文字版面配置區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4106638" y="3064615"/>
            <a:ext cx="930728" cy="823912"/>
          </a:xfrm>
        </p:spPr>
        <p:txBody>
          <a:bodyPr rtlCol="0" anchor="ctr">
            <a:noAutofit/>
          </a:bodyPr>
          <a:lstStyle>
            <a:lvl1pPr marL="0" indent="0" algn="ctr">
              <a:buNone/>
              <a:defRPr lang="en-US" sz="3000" kern="1200" cap="all" spc="113" baseline="0" dirty="0" smtClean="0">
                <a:solidFill>
                  <a:schemeClr val="bg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24" name="文字版面配置區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6665383" y="3064615"/>
            <a:ext cx="930728" cy="823912"/>
          </a:xfrm>
        </p:spPr>
        <p:txBody>
          <a:bodyPr rtlCol="0" anchor="ctr">
            <a:noAutofit/>
          </a:bodyPr>
          <a:lstStyle>
            <a:lvl1pPr marL="0" indent="0" algn="ctr">
              <a:buNone/>
              <a:defRPr lang="en-US" sz="3000" kern="1200" cap="all" spc="113" baseline="0" dirty="0" smtClean="0">
                <a:solidFill>
                  <a:schemeClr val="bg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4" name="內容版面配置區 3">
            <a:extLst>
              <a:ext uri="{FF2B5EF4-FFF2-40B4-BE49-F238E27FC236}">
                <a16:creationId xmlns:a16="http://schemas.microsoft.com/office/drawing/2014/main" id="{AC9B20CF-6B91-4562-B799-0ABDAEBC0D2A}"/>
              </a:ext>
            </a:extLst>
          </p:cNvPr>
          <p:cNvSpPr>
            <a:spLocks noGrp="1"/>
          </p:cNvSpPr>
          <p:nvPr>
            <p:ph sz="half" idx="2"/>
          </p:nvPr>
        </p:nvSpPr>
        <p:spPr>
          <a:xfrm>
            <a:off x="847275" y="4824195"/>
            <a:ext cx="2343070" cy="462927"/>
          </a:xfrm>
        </p:spPr>
        <p:txBody>
          <a:bodyPr rtlCol="0">
            <a:noAutofit/>
          </a:bodyPr>
          <a:lstStyle>
            <a:lvl1pPr marL="0" indent="0" algn="ctr">
              <a:lnSpc>
                <a:spcPct val="100000"/>
              </a:lnSpc>
              <a:buNone/>
              <a:defRPr sz="1500" cap="all"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25" name="內容版面配置區 3">
            <a:extLst>
              <a:ext uri="{FF2B5EF4-FFF2-40B4-BE49-F238E27FC236}">
                <a16:creationId xmlns:a16="http://schemas.microsoft.com/office/drawing/2014/main" id="{82D8880F-3EAC-45C9-91F2-19A193791A18}"/>
              </a:ext>
            </a:extLst>
          </p:cNvPr>
          <p:cNvSpPr>
            <a:spLocks noGrp="1"/>
          </p:cNvSpPr>
          <p:nvPr>
            <p:ph sz="half" idx="17"/>
          </p:nvPr>
        </p:nvSpPr>
        <p:spPr>
          <a:xfrm>
            <a:off x="847275" y="5280770"/>
            <a:ext cx="2343070" cy="462927"/>
          </a:xfrm>
        </p:spPr>
        <p:txBody>
          <a:bodyPr rtlCol="0">
            <a:normAutofit/>
          </a:bodyPr>
          <a:lstStyle>
            <a:lvl1pPr marL="0" indent="0" algn="ctr">
              <a:lnSpc>
                <a:spcPct val="100000"/>
              </a:lnSpc>
              <a:buNone/>
              <a:defRPr sz="1050" cap="none"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6" name="內容版面配置區 5">
            <a:extLst>
              <a:ext uri="{FF2B5EF4-FFF2-40B4-BE49-F238E27FC236}">
                <a16:creationId xmlns:a16="http://schemas.microsoft.com/office/drawing/2014/main" id="{B36EE64B-44BF-4634-97BC-5ED74C6DF280}"/>
              </a:ext>
            </a:extLst>
          </p:cNvPr>
          <p:cNvSpPr>
            <a:spLocks noGrp="1"/>
          </p:cNvSpPr>
          <p:nvPr>
            <p:ph sz="quarter" idx="4"/>
          </p:nvPr>
        </p:nvSpPr>
        <p:spPr>
          <a:xfrm>
            <a:off x="3394699" y="4824195"/>
            <a:ext cx="2354609" cy="462927"/>
          </a:xfrm>
        </p:spPr>
        <p:txBody>
          <a:bodyPr rtlCol="0">
            <a:normAutofit/>
          </a:bodyPr>
          <a:lstStyle>
            <a:lvl1pPr marL="0" indent="0" algn="ctr">
              <a:lnSpc>
                <a:spcPct val="100000"/>
              </a:lnSpc>
              <a:buNone/>
              <a:defRPr sz="1500" cap="all"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500" cap="all"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26" name="內容版面配置區 5">
            <a:extLst>
              <a:ext uri="{FF2B5EF4-FFF2-40B4-BE49-F238E27FC236}">
                <a16:creationId xmlns:a16="http://schemas.microsoft.com/office/drawing/2014/main" id="{9019518E-E850-403D-A5B5-4B53F8C4A56B}"/>
              </a:ext>
            </a:extLst>
          </p:cNvPr>
          <p:cNvSpPr>
            <a:spLocks noGrp="1"/>
          </p:cNvSpPr>
          <p:nvPr>
            <p:ph sz="quarter" idx="18"/>
          </p:nvPr>
        </p:nvSpPr>
        <p:spPr>
          <a:xfrm>
            <a:off x="3394699" y="5280770"/>
            <a:ext cx="2354609" cy="462927"/>
          </a:xfrm>
        </p:spPr>
        <p:txBody>
          <a:bodyPr rtlCol="0">
            <a:normAutofit/>
          </a:bodyPr>
          <a:lstStyle>
            <a:lvl1pPr marL="0" indent="0" algn="ctr">
              <a:lnSpc>
                <a:spcPct val="100000"/>
              </a:lnSpc>
              <a:buNone/>
              <a:defRPr sz="1050" cap="none" spc="38" baseline="0">
                <a:solidFill>
                  <a:schemeClr val="bg1"/>
                </a:solidFill>
                <a:latin typeface="Microsoft JhengHei UI" panose="020B0604030504040204" pitchFamily="34" charset="-120"/>
                <a:ea typeface="Microsoft JhengHei UI" panose="020B0604030504040204" pitchFamily="34" charset="-120"/>
              </a:defRPr>
            </a:lvl1pPr>
            <a:lvl2pPr marL="342900" indent="0" algn="ctr">
              <a:lnSpc>
                <a:spcPct val="100000"/>
              </a:lnSpc>
              <a:buNone/>
              <a:defRPr sz="1050" cap="none" spc="38" baseline="0">
                <a:solidFill>
                  <a:schemeClr val="bg1"/>
                </a:solidFill>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a:p>
            <a:pPr lvl="1" rtl="0"/>
            <a:r>
              <a:rPr lang="zh-TW" altLang="en-US" noProof="0"/>
              <a:t>第二層</a:t>
            </a:r>
          </a:p>
        </p:txBody>
      </p:sp>
      <p:sp>
        <p:nvSpPr>
          <p:cNvPr id="22" name="內容版面配置區 3">
            <a:extLst>
              <a:ext uri="{FF2B5EF4-FFF2-40B4-BE49-F238E27FC236}">
                <a16:creationId xmlns:a16="http://schemas.microsoft.com/office/drawing/2014/main" id="{C464A9BD-B815-4632-8F54-6EB70E48BAFF}"/>
              </a:ext>
            </a:extLst>
          </p:cNvPr>
          <p:cNvSpPr>
            <a:spLocks noGrp="1"/>
          </p:cNvSpPr>
          <p:nvPr>
            <p:ph sz="half" idx="14"/>
          </p:nvPr>
        </p:nvSpPr>
        <p:spPr>
          <a:xfrm>
            <a:off x="5953659" y="4824195"/>
            <a:ext cx="2343070" cy="462927"/>
          </a:xfrm>
        </p:spPr>
        <p:txBody>
          <a:bodyPr rtlCol="0">
            <a:noAutofit/>
          </a:bodyPr>
          <a:lstStyle>
            <a:lvl1pPr marL="0" indent="0" algn="ctr">
              <a:lnSpc>
                <a:spcPct val="100000"/>
              </a:lnSpc>
              <a:buNone/>
              <a:defRPr sz="1500" cap="all"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27" name="內容版面配置區 3">
            <a:extLst>
              <a:ext uri="{FF2B5EF4-FFF2-40B4-BE49-F238E27FC236}">
                <a16:creationId xmlns:a16="http://schemas.microsoft.com/office/drawing/2014/main" id="{A8058154-45E5-403E-B714-AC85774F391F}"/>
              </a:ext>
            </a:extLst>
          </p:cNvPr>
          <p:cNvSpPr>
            <a:spLocks noGrp="1"/>
          </p:cNvSpPr>
          <p:nvPr>
            <p:ph sz="half" idx="19"/>
          </p:nvPr>
        </p:nvSpPr>
        <p:spPr>
          <a:xfrm>
            <a:off x="5953659" y="5280770"/>
            <a:ext cx="2343070" cy="462927"/>
          </a:xfrm>
        </p:spPr>
        <p:txBody>
          <a:bodyPr rtlCol="0">
            <a:normAutofit/>
          </a:bodyPr>
          <a:lstStyle>
            <a:lvl1pPr marL="0" indent="0" algn="ctr">
              <a:lnSpc>
                <a:spcPct val="100000"/>
              </a:lnSpc>
              <a:buNone/>
              <a:defRPr sz="1050" cap="none" spc="38" baseline="0">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solidFill>
                  <a:schemeClr val="bg1"/>
                </a:solidFill>
              </a:defRPr>
            </a:lvl2pPr>
            <a:lvl3pPr marL="685800" indent="0">
              <a:lnSpc>
                <a:spcPct val="100000"/>
              </a:lnSpc>
              <a:buNone/>
              <a:defRPr sz="1050" spc="38" baseline="0">
                <a:solidFill>
                  <a:schemeClr val="bg1"/>
                </a:solidFill>
              </a:defRPr>
            </a:lvl3pPr>
            <a:lvl4pPr marL="1028700" indent="0">
              <a:lnSpc>
                <a:spcPct val="100000"/>
              </a:lnSpc>
              <a:buNone/>
              <a:defRPr sz="1050" spc="38" baseline="0">
                <a:solidFill>
                  <a:schemeClr val="bg1"/>
                </a:solidFill>
              </a:defRPr>
            </a:lvl4pPr>
            <a:lvl5pPr marL="1371600" indent="0">
              <a:lnSpc>
                <a:spcPct val="100000"/>
              </a:lnSpc>
              <a:buNone/>
              <a:defRPr sz="1050" spc="38" baseline="0">
                <a:solidFill>
                  <a:schemeClr val="bg1"/>
                </a:solidFill>
              </a:defRPr>
            </a:lvl5pPr>
          </a:lstStyle>
          <a:p>
            <a:pPr lvl="0" rtl="0"/>
            <a:r>
              <a:rPr lang="zh-TW" altLang="en-US" noProof="0"/>
              <a:t>按一下以編輯母片文字樣式</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兩項內容">
    <p:bg>
      <p:bgPr>
        <a:solidFill>
          <a:schemeClr val="accent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2200275" y="892184"/>
            <a:ext cx="6316266" cy="1325563"/>
          </a:xfrm>
        </p:spPr>
        <p:txBody>
          <a:bodyPr rtlCol="0">
            <a:normAutofit/>
          </a:bodyPr>
          <a:lstStyle>
            <a:lvl1pP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p:nvPr>
        </p:nvSpPr>
        <p:spPr>
          <a:xfrm>
            <a:off x="2200277" y="2776936"/>
            <a:ext cx="2943225" cy="823912"/>
          </a:xfrm>
        </p:spPr>
        <p:txBody>
          <a:bodyPr rtlCol="0" anchor="b">
            <a:noAutofit/>
          </a:bodyPr>
          <a:lstStyle>
            <a:lvl1pPr marL="0" indent="0">
              <a:buNone/>
              <a:defRPr lang="en-US" sz="15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4" name="內容版面配置區 3">
            <a:extLst>
              <a:ext uri="{FF2B5EF4-FFF2-40B4-BE49-F238E27FC236}">
                <a16:creationId xmlns:a16="http://schemas.microsoft.com/office/drawing/2014/main" id="{AC9B20CF-6B91-4562-B799-0ABDAEBC0D2A}"/>
              </a:ext>
            </a:extLst>
          </p:cNvPr>
          <p:cNvSpPr>
            <a:spLocks noGrp="1"/>
          </p:cNvSpPr>
          <p:nvPr>
            <p:ph sz="half" idx="2"/>
          </p:nvPr>
        </p:nvSpPr>
        <p:spPr>
          <a:xfrm>
            <a:off x="2200277" y="3834613"/>
            <a:ext cx="2943225"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5" name="文字版面配置區 4">
            <a:extLst>
              <a:ext uri="{FF2B5EF4-FFF2-40B4-BE49-F238E27FC236}">
                <a16:creationId xmlns:a16="http://schemas.microsoft.com/office/drawing/2014/main" id="{B374FC39-67F6-42EA-BCD1-F69AE2F0F22D}"/>
              </a:ext>
            </a:extLst>
          </p:cNvPr>
          <p:cNvSpPr>
            <a:spLocks noGrp="1"/>
          </p:cNvSpPr>
          <p:nvPr>
            <p:ph type="body" sz="quarter" idx="3"/>
          </p:nvPr>
        </p:nvSpPr>
        <p:spPr>
          <a:xfrm>
            <a:off x="5557630" y="2776936"/>
            <a:ext cx="2957720" cy="823912"/>
          </a:xfrm>
        </p:spPr>
        <p:txBody>
          <a:bodyPr rtlCol="0" anchor="b">
            <a:noAutofit/>
          </a:bodyPr>
          <a:lstStyle>
            <a:lvl1pPr marL="0" indent="0">
              <a:buNone/>
              <a:defRPr lang="en-US" sz="15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按一下以編輯母片文字樣式</a:t>
            </a:r>
          </a:p>
        </p:txBody>
      </p:sp>
      <p:sp>
        <p:nvSpPr>
          <p:cNvPr id="6" name="內容版面配置區 5">
            <a:extLst>
              <a:ext uri="{FF2B5EF4-FFF2-40B4-BE49-F238E27FC236}">
                <a16:creationId xmlns:a16="http://schemas.microsoft.com/office/drawing/2014/main" id="{B36EE64B-44BF-4634-97BC-5ED74C6DF280}"/>
              </a:ext>
            </a:extLst>
          </p:cNvPr>
          <p:cNvSpPr>
            <a:spLocks noGrp="1"/>
          </p:cNvSpPr>
          <p:nvPr>
            <p:ph sz="quarter" idx="4"/>
          </p:nvPr>
        </p:nvSpPr>
        <p:spPr>
          <a:xfrm>
            <a:off x="5557630" y="3834613"/>
            <a:ext cx="2957720" cy="1997867"/>
          </a:xfrm>
        </p:spPr>
        <p:txBody>
          <a:bodyPr rtlCol="0">
            <a:normAutofit/>
          </a:bodyPr>
          <a:lstStyle>
            <a:lvl1pPr marL="0" indent="0">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atin typeface="Microsoft JhengHei UI" panose="020B0604030504040204" pitchFamily="34" charset="-120"/>
                <a:ea typeface="Microsoft JhengHei UI" panose="020B0604030504040204" pitchFamily="34" charset="-120"/>
              </a:defRPr>
            </a:lvl2pPr>
            <a:lvl3pPr marL="685800" indent="0">
              <a:lnSpc>
                <a:spcPct val="100000"/>
              </a:lnSpc>
              <a:buNone/>
              <a:defRPr sz="1050" spc="38" baseline="0">
                <a:latin typeface="Microsoft JhengHei UI" panose="020B0604030504040204" pitchFamily="34" charset="-120"/>
                <a:ea typeface="Microsoft JhengHei UI" panose="020B0604030504040204" pitchFamily="34" charset="-120"/>
              </a:defRPr>
            </a:lvl3pPr>
            <a:lvl4pPr marL="1028700" indent="0">
              <a:lnSpc>
                <a:spcPct val="100000"/>
              </a:lnSpc>
              <a:buNone/>
              <a:defRPr sz="1050" spc="38" baseline="0">
                <a:latin typeface="Microsoft JhengHei UI" panose="020B0604030504040204" pitchFamily="34" charset="-120"/>
                <a:ea typeface="Microsoft JhengHei UI" panose="020B0604030504040204" pitchFamily="34" charset="-120"/>
              </a:defRPr>
            </a:lvl4pPr>
            <a:lvl5pPr marL="1371600" indent="0">
              <a:lnSpc>
                <a:spcPct val="100000"/>
              </a:lnSpc>
              <a:buNone/>
              <a:defRPr sz="1050" spc="38" baseline="0">
                <a:latin typeface="Microsoft JhengHei UI" panose="020B0604030504040204" pitchFamily="34" charset="-120"/>
                <a:ea typeface="Microsoft JhengHei UI" panose="020B0604030504040204" pitchFamily="34" charset="-120"/>
              </a:defRPr>
            </a:lvl5p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pic>
        <p:nvPicPr>
          <p:cNvPr id="11" name="圖形 10">
            <a:extLst>
              <a:ext uri="{FF2B5EF4-FFF2-40B4-BE49-F238E27FC236}">
                <a16:creationId xmlns:a16="http://schemas.microsoft.com/office/drawing/2014/main" id="{EE24E1DB-1F20-4C28-8069-D9219D1F8BBD}"/>
              </a:ext>
            </a:extLst>
          </p:cNvPr>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19342" y="0"/>
            <a:ext cx="3276023"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內容">
    <p:spTree>
      <p:nvGrpSpPr>
        <p:cNvPr id="1" name=""/>
        <p:cNvGrpSpPr/>
        <p:nvPr/>
      </p:nvGrpSpPr>
      <p:grpSpPr>
        <a:xfrm>
          <a:off x="0" y="0"/>
          <a:ext cx="0" cy="0"/>
          <a:chOff x="0" y="0"/>
          <a:chExt cx="0" cy="0"/>
        </a:xfrm>
      </p:grpSpPr>
      <p:pic>
        <p:nvPicPr>
          <p:cNvPr id="14" name="圖形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18301" r="41825" b="23071"/>
          <a:stretch/>
        </p:blipFill>
        <p:spPr>
          <a:xfrm flipH="1">
            <a:off x="0" y="0"/>
            <a:ext cx="4081416"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標題 1">
            <a:extLst>
              <a:ext uri="{FF2B5EF4-FFF2-40B4-BE49-F238E27FC236}">
                <a16:creationId xmlns:a16="http://schemas.microsoft.com/office/drawing/2014/main" id="{1E1C8C6D-0530-475B-A7F7-0E00C33ACFEB}"/>
              </a:ext>
            </a:extLst>
          </p:cNvPr>
          <p:cNvSpPr>
            <a:spLocks noGrp="1"/>
          </p:cNvSpPr>
          <p:nvPr>
            <p:ph type="title"/>
          </p:nvPr>
        </p:nvSpPr>
        <p:spPr>
          <a:xfrm>
            <a:off x="4440127" y="1152778"/>
            <a:ext cx="4073978" cy="846301"/>
          </a:xfrm>
        </p:spPr>
        <p:txBody>
          <a:bodyPr rtlCol="0" anchor="t">
            <a:normAutofit/>
          </a:bodyPr>
          <a:lstStyle>
            <a:lvl1pP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20" name="文字版面配置區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4441691" y="2469522"/>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5" name="文字版面配置區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4441372" y="2798940"/>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6" name="文字版面配置區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4441691" y="3569311"/>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7" name="文字版面配置區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4441372" y="3898736"/>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8" name="文字版面配置區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4441691" y="4669114"/>
            <a:ext cx="4074903" cy="365125"/>
          </a:xfrm>
        </p:spPr>
        <p:txBody>
          <a:bodyPr rtlCol="0">
            <a:normAutofit/>
          </a:bodyPr>
          <a:lstStyle>
            <a:lvl1pPr marL="0" indent="0">
              <a:buNone/>
              <a:defRPr lang="en-US" sz="15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lvl="0" rtl="0"/>
            <a:r>
              <a:rPr lang="zh-TW" altLang="en-US" noProof="0"/>
              <a:t>按一下以新增副標題</a:t>
            </a:r>
          </a:p>
        </p:txBody>
      </p:sp>
      <p:sp>
        <p:nvSpPr>
          <p:cNvPr id="29" name="文字版面配置區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4441372" y="4998532"/>
            <a:ext cx="4073978" cy="557950"/>
          </a:xfrm>
        </p:spPr>
        <p:txBody>
          <a:bodyPr rtlCol="0">
            <a:normAutofit/>
          </a:bodyPr>
          <a:lstStyle>
            <a:lvl1pPr marL="0" indent="0">
              <a:lnSpc>
                <a:spcPct val="100000"/>
              </a:lnSpc>
              <a:buFont typeface="Arial" panose="020B0604020202020204" pitchFamily="34" charset="0"/>
              <a:buNone/>
              <a:defRPr sz="1050">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按一下以新增文字</a:t>
            </a:r>
          </a:p>
        </p:txBody>
      </p:sp>
      <p:sp>
        <p:nvSpPr>
          <p:cNvPr id="21" name="日期版面配置區 6">
            <a:extLst>
              <a:ext uri="{FF2B5EF4-FFF2-40B4-BE49-F238E27FC236}">
                <a16:creationId xmlns:a16="http://schemas.microsoft.com/office/drawing/2014/main" id="{71F34533-9677-48AF-9374-976825F4BB7E}"/>
              </a:ext>
            </a:extLst>
          </p:cNvPr>
          <p:cNvSpPr>
            <a:spLocks noGrp="1"/>
          </p:cNvSpPr>
          <p:nvPr>
            <p:ph type="dt" sz="half" idx="10"/>
          </p:nvPr>
        </p:nvSpPr>
        <p:spPr>
          <a:xfrm>
            <a:off x="6286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22" name="頁尾版面配置區 7">
            <a:extLst>
              <a:ext uri="{FF2B5EF4-FFF2-40B4-BE49-F238E27FC236}">
                <a16:creationId xmlns:a16="http://schemas.microsoft.com/office/drawing/2014/main" id="{4FAB8A26-B99E-4F96-8327-A932A14F2C03}"/>
              </a:ext>
            </a:extLst>
          </p:cNvPr>
          <p:cNvSpPr>
            <a:spLocks noGrp="1"/>
          </p:cNvSpPr>
          <p:nvPr>
            <p:ph type="ftr" sz="quarter" idx="11"/>
          </p:nvPr>
        </p:nvSpPr>
        <p:spPr>
          <a:xfrm>
            <a:off x="3028950" y="6356357"/>
            <a:ext cx="30861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24" name="投影片編號版面配置區 8">
            <a:extLst>
              <a:ext uri="{FF2B5EF4-FFF2-40B4-BE49-F238E27FC236}">
                <a16:creationId xmlns:a16="http://schemas.microsoft.com/office/drawing/2014/main" id="{EB0962D2-BCC3-48AB-A769-2A7327D29191}"/>
              </a:ext>
            </a:extLst>
          </p:cNvPr>
          <p:cNvSpPr>
            <a:spLocks noGrp="1"/>
          </p:cNvSpPr>
          <p:nvPr>
            <p:ph type="sldNum" sz="quarter" idx="12"/>
          </p:nvPr>
        </p:nvSpPr>
        <p:spPr>
          <a:xfrm>
            <a:off x="64579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225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圖表​​">
    <p:bg>
      <p:bgPr>
        <a:solidFill>
          <a:schemeClr val="accent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E5C4E19-B78B-4E39-B661-7E6A2E6C5002}"/>
              </a:ext>
            </a:extLst>
          </p:cNvPr>
          <p:cNvSpPr>
            <a:spLocks noGrp="1"/>
          </p:cNvSpPr>
          <p:nvPr>
            <p:ph type="title"/>
          </p:nvPr>
        </p:nvSpPr>
        <p:spPr/>
        <p:txBody>
          <a:bodyPr rtlCol="0">
            <a:normAutofit/>
          </a:bodyPr>
          <a:lstStyle>
            <a:lvl1pPr algn="l">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5" name="文字版面配置區 14">
            <a:extLst>
              <a:ext uri="{FF2B5EF4-FFF2-40B4-BE49-F238E27FC236}">
                <a16:creationId xmlns:a16="http://schemas.microsoft.com/office/drawing/2014/main" id="{B250D272-9B39-4C2D-B0F5-21010D11E437}"/>
              </a:ext>
            </a:extLst>
          </p:cNvPr>
          <p:cNvSpPr>
            <a:spLocks noGrp="1"/>
          </p:cNvSpPr>
          <p:nvPr>
            <p:ph type="body" sz="quarter" idx="16"/>
          </p:nvPr>
        </p:nvSpPr>
        <p:spPr>
          <a:xfrm>
            <a:off x="561564" y="1361938"/>
            <a:ext cx="5074444" cy="496888"/>
          </a:xfrm>
        </p:spPr>
        <p:txBody>
          <a:bodyPr rtlCol="0">
            <a:noAutofit/>
          </a:bodyPr>
          <a:lstStyle>
            <a:lvl1pPr marL="0" indent="0">
              <a:buNone/>
              <a:defRPr sz="1350">
                <a:latin typeface="Microsoft JhengHei UI" panose="020B0604030504040204" pitchFamily="34" charset="-120"/>
                <a:ea typeface="Microsoft JhengHei UI" panose="020B0604030504040204" pitchFamily="34" charset="-120"/>
              </a:defRPr>
            </a:lvl1pPr>
            <a:lvl2pPr marL="342900" indent="0">
              <a:buNone/>
              <a:defRPr sz="1350"/>
            </a:lvl2pPr>
            <a:lvl3pPr marL="685800" indent="0">
              <a:buNone/>
              <a:defRPr sz="1200"/>
            </a:lvl3pPr>
            <a:lvl4pPr marL="1028700" indent="0">
              <a:buNone/>
              <a:defRPr sz="1050"/>
            </a:lvl4pPr>
            <a:lvl5pPr marL="1371600" indent="0">
              <a:buNone/>
              <a:defRPr sz="1050"/>
            </a:lvl5pPr>
          </a:lstStyle>
          <a:p>
            <a:pPr lvl="0" rtl="0"/>
            <a:r>
              <a:rPr lang="zh-TW" altLang="en-US" noProof="0"/>
              <a:t>按一下以編輯母片文字樣式</a:t>
            </a:r>
          </a:p>
        </p:txBody>
      </p:sp>
      <p:sp>
        <p:nvSpPr>
          <p:cNvPr id="7" name="圖表預留位置 6">
            <a:extLst>
              <a:ext uri="{FF2B5EF4-FFF2-40B4-BE49-F238E27FC236}">
                <a16:creationId xmlns:a16="http://schemas.microsoft.com/office/drawing/2014/main" id="{08AF2DB4-A973-4307-B59C-6058A138835C}"/>
              </a:ext>
            </a:extLst>
          </p:cNvPr>
          <p:cNvSpPr>
            <a:spLocks noGrp="1"/>
          </p:cNvSpPr>
          <p:nvPr>
            <p:ph type="chart" sz="quarter" idx="13"/>
          </p:nvPr>
        </p:nvSpPr>
        <p:spPr>
          <a:xfrm>
            <a:off x="628653" y="2286002"/>
            <a:ext cx="4570703" cy="3542143"/>
          </a:xfrm>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按一下圖示以新增圖表</a:t>
            </a:r>
          </a:p>
        </p:txBody>
      </p:sp>
      <p:sp>
        <p:nvSpPr>
          <p:cNvPr id="11" name="文字版面配置區 10">
            <a:extLst>
              <a:ext uri="{FF2B5EF4-FFF2-40B4-BE49-F238E27FC236}">
                <a16:creationId xmlns:a16="http://schemas.microsoft.com/office/drawing/2014/main" id="{339C283A-EC40-421C-8A0E-F9A3161C8890}"/>
              </a:ext>
            </a:extLst>
          </p:cNvPr>
          <p:cNvSpPr>
            <a:spLocks noGrp="1"/>
          </p:cNvSpPr>
          <p:nvPr>
            <p:ph type="body" sz="quarter" idx="14"/>
          </p:nvPr>
        </p:nvSpPr>
        <p:spPr>
          <a:xfrm>
            <a:off x="5893594" y="2284624"/>
            <a:ext cx="2360499" cy="306388"/>
          </a:xfrm>
        </p:spPr>
        <p:txBody>
          <a:bodyPr rtlCol="0">
            <a:noAutofit/>
          </a:bodyPr>
          <a:lstStyle>
            <a:lvl1pPr marL="0" indent="0">
              <a:buNone/>
              <a:defRPr sz="1050" cap="all" spc="113" baseline="0">
                <a:solidFill>
                  <a:schemeClr val="tx1"/>
                </a:solidFill>
                <a:latin typeface="Microsoft JhengHei UI" panose="020B0604030504040204" pitchFamily="34" charset="-120"/>
                <a:ea typeface="Microsoft JhengHei UI" panose="020B0604030504040204" pitchFamily="34" charset="-120"/>
              </a:defRPr>
            </a:lvl1pPr>
            <a:lvl2pPr marL="342900" indent="0">
              <a:buNone/>
              <a:defRPr sz="1050"/>
            </a:lvl2pPr>
            <a:lvl3pPr marL="685800" indent="0">
              <a:buNone/>
              <a:defRPr sz="900"/>
            </a:lvl3pPr>
            <a:lvl4pPr marL="1028700" indent="0">
              <a:buNone/>
              <a:defRPr sz="825"/>
            </a:lvl4pPr>
            <a:lvl5pPr marL="1371600" indent="0">
              <a:buNone/>
              <a:defRPr sz="825"/>
            </a:lvl5pPr>
          </a:lstStyle>
          <a:p>
            <a:pPr lvl="0" rtl="0"/>
            <a:r>
              <a:rPr lang="zh-TW" altLang="en-US" noProof="0"/>
              <a:t>按一下以編輯母片文字樣式</a:t>
            </a:r>
          </a:p>
        </p:txBody>
      </p:sp>
      <p:sp>
        <p:nvSpPr>
          <p:cNvPr id="13" name="內容版面配置區 12">
            <a:extLst>
              <a:ext uri="{FF2B5EF4-FFF2-40B4-BE49-F238E27FC236}">
                <a16:creationId xmlns:a16="http://schemas.microsoft.com/office/drawing/2014/main" id="{305CA2B1-D510-4949-A638-C1A064DA41A7}"/>
              </a:ext>
            </a:extLst>
          </p:cNvPr>
          <p:cNvSpPr>
            <a:spLocks noGrp="1"/>
          </p:cNvSpPr>
          <p:nvPr>
            <p:ph sz="quarter" idx="15" hasCustomPrompt="1"/>
          </p:nvPr>
        </p:nvSpPr>
        <p:spPr>
          <a:xfrm>
            <a:off x="5893596" y="2779720"/>
            <a:ext cx="2361010" cy="3095625"/>
          </a:xfrm>
        </p:spPr>
        <p:txBody>
          <a:bodyPr rtlCol="0">
            <a:normAutofit/>
          </a:bodyPr>
          <a:lstStyle>
            <a:lvl1pPr marL="0" indent="0">
              <a:buNone/>
              <a:defRPr sz="900">
                <a:solidFill>
                  <a:schemeClr val="tx1">
                    <a:lumMod val="65000"/>
                    <a:lumOff val="35000"/>
                  </a:schemeClr>
                </a:solidFill>
                <a:latin typeface="Microsoft JhengHei UI" panose="020B0604030504040204" pitchFamily="34" charset="-120"/>
                <a:ea typeface="Microsoft JhengHei UI" panose="020B0604030504040204" pitchFamily="34" charset="-120"/>
              </a:defRPr>
            </a:lvl1pPr>
            <a:lvl2pPr marL="342900" indent="0">
              <a:buNone/>
              <a:defRPr sz="825">
                <a:solidFill>
                  <a:schemeClr val="tx1">
                    <a:lumMod val="65000"/>
                    <a:lumOff val="35000"/>
                  </a:schemeClr>
                </a:solidFill>
              </a:defRPr>
            </a:lvl2pPr>
            <a:lvl3pPr marL="685800" indent="0">
              <a:buNone/>
              <a:defRPr sz="788">
                <a:solidFill>
                  <a:schemeClr val="tx1">
                    <a:lumMod val="65000"/>
                    <a:lumOff val="35000"/>
                  </a:schemeClr>
                </a:solidFill>
              </a:defRPr>
            </a:lvl3pPr>
            <a:lvl4pPr marL="1028700" indent="0">
              <a:buNone/>
              <a:defRPr sz="750">
                <a:solidFill>
                  <a:schemeClr val="tx1">
                    <a:lumMod val="65000"/>
                    <a:lumOff val="35000"/>
                  </a:schemeClr>
                </a:solidFill>
              </a:defRPr>
            </a:lvl4pPr>
            <a:lvl5pPr marL="1371600" indent="0">
              <a:buNone/>
              <a:defRPr sz="750">
                <a:solidFill>
                  <a:schemeClr val="tx1">
                    <a:lumMod val="65000"/>
                    <a:lumOff val="35000"/>
                  </a:schemeClr>
                </a:solidFill>
              </a:defRPr>
            </a:lvl5pPr>
          </a:lstStyle>
          <a:p>
            <a:pPr lvl="0" rtl="0"/>
            <a:r>
              <a:rPr lang="zh-TW" altLang="en-US" noProof="0"/>
              <a:t>按一下以新增內容</a:t>
            </a:r>
          </a:p>
        </p:txBody>
      </p:sp>
      <p:sp>
        <p:nvSpPr>
          <p:cNvPr id="3" name="日期版面配置區 2">
            <a:extLst>
              <a:ext uri="{FF2B5EF4-FFF2-40B4-BE49-F238E27FC236}">
                <a16:creationId xmlns:a16="http://schemas.microsoft.com/office/drawing/2014/main" id="{7E085D26-FA83-4414-959E-98936A77267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1FB52E93-DE4C-4341-8D83-F0230E38B1A1}"/>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5" name="投影片編號版面配置區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34910030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時間表 2">
    <p:spTree>
      <p:nvGrpSpPr>
        <p:cNvPr id="1" name=""/>
        <p:cNvGrpSpPr/>
        <p:nvPr/>
      </p:nvGrpSpPr>
      <p:grpSpPr>
        <a:xfrm>
          <a:off x="0" y="0"/>
          <a:ext cx="0" cy="0"/>
          <a:chOff x="0" y="0"/>
          <a:chExt cx="0" cy="0"/>
        </a:xfrm>
      </p:grpSpPr>
      <p:sp>
        <p:nvSpPr>
          <p:cNvPr id="4" name="矩形 3">
            <a:extLst>
              <a:ext uri="{FF2B5EF4-FFF2-40B4-BE49-F238E27FC236}">
                <a16:creationId xmlns:a16="http://schemas.microsoft.com/office/drawing/2014/main" id="{7D46070C-E825-43D0-99F4-8B4614131131}"/>
              </a:ext>
              <a:ext uri="{C183D7F6-B498-43B3-948B-1728B52AA6E4}">
                <adec:decorative xmlns:adec="http://schemas.microsoft.com/office/drawing/2017/decorative" val="1"/>
              </a:ext>
            </a:extLst>
          </p:cNvPr>
          <p:cNvSpPr/>
          <p:nvPr userDrawn="1"/>
        </p:nvSpPr>
        <p:spPr>
          <a:xfrm>
            <a:off x="3" y="3057683"/>
            <a:ext cx="9143999"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sz="1350" noProof="0">
              <a:latin typeface="Microsoft JhengHei UI" panose="020B0604030504040204" pitchFamily="34" charset="-120"/>
              <a:ea typeface="Microsoft JhengHei UI" panose="020B0604030504040204" pitchFamily="34" charset="-120"/>
            </a:endParaRPr>
          </a:p>
        </p:txBody>
      </p:sp>
      <p:sp>
        <p:nvSpPr>
          <p:cNvPr id="2" name="標題 1">
            <a:extLst>
              <a:ext uri="{FF2B5EF4-FFF2-40B4-BE49-F238E27FC236}">
                <a16:creationId xmlns:a16="http://schemas.microsoft.com/office/drawing/2014/main" id="{A1F8C642-49FB-4E16-A3A0-B2ACBEABFFD6}"/>
              </a:ext>
            </a:extLst>
          </p:cNvPr>
          <p:cNvSpPr>
            <a:spLocks noGrp="1"/>
          </p:cNvSpPr>
          <p:nvPr>
            <p:ph type="title"/>
          </p:nvPr>
        </p:nvSpPr>
        <p:spPr/>
        <p:txBody>
          <a:bodyPr rtlCol="0">
            <a:normAutofit/>
          </a:bodyPr>
          <a:lstStyle>
            <a:lvl1pPr algn="l">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6" name="文字版面配置區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685799" y="3354712"/>
            <a:ext cx="548640" cy="457200"/>
          </a:xfrm>
        </p:spPr>
        <p:txBody>
          <a:bodyPr rtlCol="0" anchor="ctr"/>
          <a:lstStyle>
            <a:lvl1pPr marL="0" indent="0" algn="l">
              <a:buNone/>
              <a:defRPr sz="1050" b="1">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年份</a:t>
            </a:r>
          </a:p>
        </p:txBody>
      </p:sp>
      <p:sp>
        <p:nvSpPr>
          <p:cNvPr id="7" name="文字版面配置區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47447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8" name="文字版面配置區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06541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9" name="文字版面配置區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265635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0" name="文字版面配置區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324729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2" name="文字版面配置區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383823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3" name="文字版面配置區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442917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4" name="文字版面配置區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502011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6" name="文字版面配置區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561105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7" name="文字版面配置區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620199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5" name="文字版面配置區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679293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8" name="文字版面配置區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7383870"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9" name="文字版面配置區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7974814" y="3502152"/>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11" name="文字版面配置區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685800" y="4292468"/>
            <a:ext cx="548640" cy="457200"/>
          </a:xfrm>
        </p:spPr>
        <p:txBody>
          <a:bodyPr rtlCol="0" anchor="ctr"/>
          <a:lstStyle>
            <a:lvl1pPr marL="0" indent="0" algn="l">
              <a:buNone/>
              <a:defRPr sz="1050" b="1">
                <a:solidFill>
                  <a:schemeClr val="tx1"/>
                </a:solidFill>
                <a:latin typeface="Microsoft JhengHei UI" panose="020B0604030504040204" pitchFamily="34" charset="-120"/>
                <a:ea typeface="Microsoft JhengHei UI" panose="020B0604030504040204" pitchFamily="34" charset="-120"/>
              </a:defRPr>
            </a:lvl1pPr>
          </a:lstStyle>
          <a:p>
            <a:pPr lvl="0" rtl="0"/>
            <a:r>
              <a:rPr lang="zh-TW" altLang="en-US" noProof="0"/>
              <a:t>年份</a:t>
            </a:r>
          </a:p>
        </p:txBody>
      </p:sp>
      <p:sp>
        <p:nvSpPr>
          <p:cNvPr id="20" name="文字版面配置區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477436"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1" name="文字版面配置區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068202"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2" name="文字版面配置區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2658967"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3" name="文字版面配置區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3249732"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4" name="文字版面配置區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3840497"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5" name="文字版面配置區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4431263"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6" name="文字版面配置區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5022028"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8" name="文字版面配置區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5612793"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9" name="文字版面配置區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6203558"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27" name="文字版面配置區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6794324"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30" name="文字版面配置區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7385089"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31" name="文字版面配置區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7975854" y="4425696"/>
            <a:ext cx="480060" cy="201776"/>
          </a:xfrm>
        </p:spPr>
        <p:txBody>
          <a:bodyPr rtlCol="0">
            <a:noAutofit/>
          </a:bodyPr>
          <a:lstStyle>
            <a:lvl1pPr marL="0" indent="0" algn="ctr">
              <a:buNone/>
              <a:defRPr sz="750">
                <a:solidFill>
                  <a:schemeClr val="tx1"/>
                </a:solidFill>
                <a:latin typeface="Microsoft JhengHei UI" panose="020B0604030504040204" pitchFamily="34" charset="-120"/>
                <a:ea typeface="Microsoft JhengHei UI" panose="020B0604030504040204" pitchFamily="34" charset="-120"/>
              </a:defRPr>
            </a:lvl1pPr>
          </a:lstStyle>
          <a:p>
            <a:pPr lvl="0" rtl="0"/>
            <a:r>
              <a:rPr lang="en-US" altLang="zh-TW" noProof="0"/>
              <a:t>MM</a:t>
            </a:r>
            <a:endParaRPr lang="zh-TW" altLang="en-US" noProof="0"/>
          </a:p>
        </p:txBody>
      </p:sp>
      <p:sp>
        <p:nvSpPr>
          <p:cNvPr id="32" name="矩形 31">
            <a:extLst>
              <a:ext uri="{FF2B5EF4-FFF2-40B4-BE49-F238E27FC236}">
                <a16:creationId xmlns:a16="http://schemas.microsoft.com/office/drawing/2014/main" id="{FFA35437-CCDE-4D92-B879-F23B329C8EC3}"/>
              </a:ext>
              <a:ext uri="{C183D7F6-B498-43B3-948B-1728B52AA6E4}">
                <adec:decorative xmlns:adec="http://schemas.microsoft.com/office/drawing/2017/decorative" val="1"/>
              </a:ext>
            </a:extLst>
          </p:cNvPr>
          <p:cNvSpPr/>
          <p:nvPr userDrawn="1"/>
        </p:nvSpPr>
        <p:spPr>
          <a:xfrm>
            <a:off x="697230" y="4034785"/>
            <a:ext cx="774954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sz="1350" noProof="0">
              <a:solidFill>
                <a:schemeClr val="tx1">
                  <a:lumMod val="75000"/>
                  <a:lumOff val="25000"/>
                </a:schemeClr>
              </a:solidFill>
              <a:latin typeface="Microsoft JhengHei UI" panose="020B0604030504040204" pitchFamily="34" charset="-120"/>
              <a:ea typeface="Microsoft JhengHei UI" panose="020B0604030504040204" pitchFamily="34" charset="-120"/>
            </a:endParaRPr>
          </a:p>
        </p:txBody>
      </p:sp>
      <p:sp>
        <p:nvSpPr>
          <p:cNvPr id="36" name="日期版面配置區 2">
            <a:extLst>
              <a:ext uri="{FF2B5EF4-FFF2-40B4-BE49-F238E27FC236}">
                <a16:creationId xmlns:a16="http://schemas.microsoft.com/office/drawing/2014/main" id="{1CDC588F-73BC-4108-974B-0EAAB8213CE0}"/>
              </a:ext>
            </a:extLst>
          </p:cNvPr>
          <p:cNvSpPr>
            <a:spLocks noGrp="1"/>
          </p:cNvSpPr>
          <p:nvPr>
            <p:ph type="dt" sz="half" idx="10"/>
          </p:nvPr>
        </p:nvSpPr>
        <p:spPr>
          <a:xfrm>
            <a:off x="6286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37" name="頁尾版面配置區 3">
            <a:extLst>
              <a:ext uri="{FF2B5EF4-FFF2-40B4-BE49-F238E27FC236}">
                <a16:creationId xmlns:a16="http://schemas.microsoft.com/office/drawing/2014/main" id="{B2AC1EB2-9B8F-4077-8B66-64F9549F2C99}"/>
              </a:ext>
            </a:extLst>
          </p:cNvPr>
          <p:cNvSpPr>
            <a:spLocks noGrp="1"/>
          </p:cNvSpPr>
          <p:nvPr>
            <p:ph type="ftr" sz="quarter" idx="11"/>
          </p:nvPr>
        </p:nvSpPr>
        <p:spPr>
          <a:xfrm>
            <a:off x="3028950" y="6356357"/>
            <a:ext cx="30861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38" name="投影片編號版面配置區 4">
            <a:extLst>
              <a:ext uri="{FF2B5EF4-FFF2-40B4-BE49-F238E27FC236}">
                <a16:creationId xmlns:a16="http://schemas.microsoft.com/office/drawing/2014/main" id="{28DE3E33-346A-45AF-B164-CB5DF04FAE6D}"/>
              </a:ext>
            </a:extLst>
          </p:cNvPr>
          <p:cNvSpPr>
            <a:spLocks noGrp="1"/>
          </p:cNvSpPr>
          <p:nvPr>
            <p:ph type="sldNum" sz="quarter" idx="12"/>
          </p:nvPr>
        </p:nvSpPr>
        <p:spPr>
          <a:xfrm>
            <a:off x="64579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0563234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E5C4E19-B78B-4E39-B661-7E6A2E6C5002}"/>
              </a:ext>
            </a:extLst>
          </p:cNvPr>
          <p:cNvSpPr>
            <a:spLocks noGrp="1"/>
          </p:cNvSpPr>
          <p:nvPr>
            <p:ph type="title"/>
          </p:nvPr>
        </p:nvSpPr>
        <p:spPr/>
        <p:txBody>
          <a:bodyPr rtlCol="0">
            <a:normAutofit/>
          </a:bodyPr>
          <a:lstStyle>
            <a:lvl1pPr algn="ct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7" name="SmartArt 預留位置 6">
            <a:extLst>
              <a:ext uri="{FF2B5EF4-FFF2-40B4-BE49-F238E27FC236}">
                <a16:creationId xmlns:a16="http://schemas.microsoft.com/office/drawing/2014/main" id="{156CA116-0F6E-4EE9-B34F-03BA07161A7A}"/>
              </a:ext>
            </a:extLst>
          </p:cNvPr>
          <p:cNvSpPr>
            <a:spLocks noGrp="1"/>
          </p:cNvSpPr>
          <p:nvPr>
            <p:ph type="dgm" sz="quarter" idx="15"/>
          </p:nvPr>
        </p:nvSpPr>
        <p:spPr>
          <a:xfrm>
            <a:off x="628650" y="2139084"/>
            <a:ext cx="7886700" cy="3695338"/>
          </a:xfrm>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 </a:t>
            </a:r>
            <a:r>
              <a:rPr lang="en-US" altLang="zh-TW" noProof="0"/>
              <a:t>SmartArt </a:t>
            </a:r>
            <a:r>
              <a:rPr lang="zh-TW" altLang="en-US" noProof="0"/>
              <a:t>圖形</a:t>
            </a:r>
          </a:p>
        </p:txBody>
      </p:sp>
      <p:sp>
        <p:nvSpPr>
          <p:cNvPr id="3" name="日期版面配置區 2">
            <a:extLst>
              <a:ext uri="{FF2B5EF4-FFF2-40B4-BE49-F238E27FC236}">
                <a16:creationId xmlns:a16="http://schemas.microsoft.com/office/drawing/2014/main" id="{7E085D26-FA83-4414-959E-98936A77267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4" name="頁尾版面配置區 3">
            <a:extLst>
              <a:ext uri="{FF2B5EF4-FFF2-40B4-BE49-F238E27FC236}">
                <a16:creationId xmlns:a16="http://schemas.microsoft.com/office/drawing/2014/main" id="{1FB52E93-DE4C-4341-8D83-F0230E38B1A1}"/>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cxnSp>
        <p:nvCxnSpPr>
          <p:cNvPr id="10" name="直線接點​​(S) 9">
            <a:extLst>
              <a:ext uri="{FF2B5EF4-FFF2-40B4-BE49-F238E27FC236}">
                <a16:creationId xmlns:a16="http://schemas.microsoft.com/office/drawing/2014/main" id="{66988B2D-0240-4256-8268-4B9FF1E72363}"/>
              </a:ext>
              <a:ext uri="{C183D7F6-B498-43B3-948B-1728B52AA6E4}">
                <adec:decorative xmlns:adec="http://schemas.microsoft.com/office/drawing/2017/decorative" val="1"/>
              </a:ext>
            </a:extLst>
          </p:cNvPr>
          <p:cNvCxnSpPr>
            <a:cxnSpLocks/>
          </p:cNvCxnSpPr>
          <p:nvPr/>
        </p:nvCxnSpPr>
        <p:spPr>
          <a:xfrm flipV="1">
            <a:off x="0" y="0"/>
            <a:ext cx="19431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線接點​​(S) 11">
            <a:extLst>
              <a:ext uri="{FF2B5EF4-FFF2-40B4-BE49-F238E27FC236}">
                <a16:creationId xmlns:a16="http://schemas.microsoft.com/office/drawing/2014/main" id="{D8EEAAE1-3D04-41C3-B2D2-B3BEF34C3B27}"/>
              </a:ext>
              <a:ext uri="{C183D7F6-B498-43B3-948B-1728B52AA6E4}">
                <adec:decorative xmlns:adec="http://schemas.microsoft.com/office/drawing/2017/decorative" val="1"/>
              </a:ext>
            </a:extLst>
          </p:cNvPr>
          <p:cNvCxnSpPr>
            <a:cxnSpLocks/>
          </p:cNvCxnSpPr>
          <p:nvPr/>
        </p:nvCxnSpPr>
        <p:spPr>
          <a:xfrm flipH="1">
            <a:off x="1" y="0"/>
            <a:ext cx="528638"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投影片編號版面配置區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團隊投影片 4 人員">
    <p:bg>
      <p:bgRef idx="1001">
        <a:schemeClr val="bg1"/>
      </p:bgRef>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1" name="圖片版面配置區 10">
            <a:extLst>
              <a:ext uri="{FF2B5EF4-FFF2-40B4-BE49-F238E27FC236}">
                <a16:creationId xmlns:a16="http://schemas.microsoft.com/office/drawing/2014/main" id="{B0BDE76A-30A6-4268-9656-28A484C3DCC9}"/>
              </a:ext>
            </a:extLst>
          </p:cNvPr>
          <p:cNvSpPr>
            <a:spLocks noGrp="1"/>
          </p:cNvSpPr>
          <p:nvPr>
            <p:ph type="pic" sz="quarter" idx="14"/>
          </p:nvPr>
        </p:nvSpPr>
        <p:spPr>
          <a:xfrm>
            <a:off x="1115389" y="2886079"/>
            <a:ext cx="1384133" cy="1845511"/>
          </a:xfrm>
          <a:solidFill>
            <a:schemeClr val="bg1">
              <a:lumMod val="95000"/>
            </a:schemeClr>
          </a:solidFill>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p:nvPr>
        </p:nvSpPr>
        <p:spPr>
          <a:xfrm>
            <a:off x="983671" y="5084531"/>
            <a:ext cx="1647464" cy="343061"/>
          </a:xfrm>
        </p:spPr>
        <p:txBody>
          <a:bodyPr rtlCol="0" anchor="ctr">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6" name="文字版面配置區 2">
            <a:extLst>
              <a:ext uri="{FF2B5EF4-FFF2-40B4-BE49-F238E27FC236}">
                <a16:creationId xmlns:a16="http://schemas.microsoft.com/office/drawing/2014/main" id="{A02C0876-23F7-41FA-9AC9-721097D1A3CD}"/>
              </a:ext>
            </a:extLst>
          </p:cNvPr>
          <p:cNvSpPr>
            <a:spLocks noGrp="1"/>
          </p:cNvSpPr>
          <p:nvPr>
            <p:ph type="body" idx="21"/>
          </p:nvPr>
        </p:nvSpPr>
        <p:spPr>
          <a:xfrm>
            <a:off x="1115389" y="5464121"/>
            <a:ext cx="1384133" cy="343061"/>
          </a:xfrm>
        </p:spPr>
        <p:txBody>
          <a:bodyPr rtlCol="0" anchor="t">
            <a:noAutofit/>
          </a:bodyPr>
          <a:lstStyle>
            <a:lvl1pPr marL="0" indent="0" algn="ctr">
              <a:buNone/>
              <a:defRPr lang="en-US" sz="7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7" name="圖片版面配置區 10">
            <a:extLst>
              <a:ext uri="{FF2B5EF4-FFF2-40B4-BE49-F238E27FC236}">
                <a16:creationId xmlns:a16="http://schemas.microsoft.com/office/drawing/2014/main" id="{C4CA5C9C-91D5-44B1-A82A-A49732B4691A}"/>
              </a:ext>
            </a:extLst>
          </p:cNvPr>
          <p:cNvSpPr>
            <a:spLocks noGrp="1"/>
          </p:cNvSpPr>
          <p:nvPr>
            <p:ph type="pic" sz="quarter" idx="15"/>
          </p:nvPr>
        </p:nvSpPr>
        <p:spPr>
          <a:xfrm>
            <a:off x="2877689" y="2886079"/>
            <a:ext cx="1384133" cy="1845511"/>
          </a:xfrm>
          <a:solidFill>
            <a:schemeClr val="bg1">
              <a:lumMod val="95000"/>
            </a:schemeClr>
          </a:solidFill>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23" name="文字版面配置區 2">
            <a:extLst>
              <a:ext uri="{FF2B5EF4-FFF2-40B4-BE49-F238E27FC236}">
                <a16:creationId xmlns:a16="http://schemas.microsoft.com/office/drawing/2014/main" id="{572D0301-10F1-41B4-BEF8-C53FA4D66214}"/>
              </a:ext>
            </a:extLst>
          </p:cNvPr>
          <p:cNvSpPr>
            <a:spLocks noGrp="1"/>
          </p:cNvSpPr>
          <p:nvPr>
            <p:ph type="body" idx="18"/>
          </p:nvPr>
        </p:nvSpPr>
        <p:spPr>
          <a:xfrm>
            <a:off x="2780709" y="5099213"/>
            <a:ext cx="1608787" cy="343061"/>
          </a:xfrm>
        </p:spPr>
        <p:txBody>
          <a:bodyPr rtlCol="0" anchor="ctr">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7" name="文字版面配置區 2">
            <a:extLst>
              <a:ext uri="{FF2B5EF4-FFF2-40B4-BE49-F238E27FC236}">
                <a16:creationId xmlns:a16="http://schemas.microsoft.com/office/drawing/2014/main" id="{7ADEB263-F204-4A78-A5E0-7361EFE0B921}"/>
              </a:ext>
            </a:extLst>
          </p:cNvPr>
          <p:cNvSpPr>
            <a:spLocks noGrp="1"/>
          </p:cNvSpPr>
          <p:nvPr>
            <p:ph type="body" idx="22"/>
          </p:nvPr>
        </p:nvSpPr>
        <p:spPr>
          <a:xfrm>
            <a:off x="2877687" y="5478803"/>
            <a:ext cx="1391962" cy="343061"/>
          </a:xfrm>
        </p:spPr>
        <p:txBody>
          <a:bodyPr rtlCol="0" anchor="t">
            <a:noAutofit/>
          </a:bodyPr>
          <a:lstStyle>
            <a:lvl1pPr marL="0" indent="0" algn="ctr">
              <a:buNone/>
              <a:defRPr lang="en-US" sz="7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8" name="圖片版面配置區 10">
            <a:extLst>
              <a:ext uri="{FF2B5EF4-FFF2-40B4-BE49-F238E27FC236}">
                <a16:creationId xmlns:a16="http://schemas.microsoft.com/office/drawing/2014/main" id="{4EBC7D6F-397D-4C5A-AA62-F683F88531A2}"/>
              </a:ext>
            </a:extLst>
          </p:cNvPr>
          <p:cNvSpPr>
            <a:spLocks noGrp="1"/>
          </p:cNvSpPr>
          <p:nvPr>
            <p:ph type="pic" sz="quarter" idx="16"/>
          </p:nvPr>
        </p:nvSpPr>
        <p:spPr>
          <a:xfrm>
            <a:off x="4745687" y="2886079"/>
            <a:ext cx="1384133" cy="1845511"/>
          </a:xfrm>
          <a:solidFill>
            <a:schemeClr val="bg1">
              <a:lumMod val="95000"/>
            </a:schemeClr>
          </a:solidFill>
        </p:spPr>
        <p:txBody>
          <a:bodyPr rtlCol="0"/>
          <a:lstStyle>
            <a:lvl2pPr>
              <a:defRPr>
                <a:latin typeface="Microsoft JhengHei UI" panose="020B0604030504040204" pitchFamily="34" charset="-120"/>
                <a:ea typeface="Microsoft JhengHei UI" panose="020B0604030504040204" pitchFamily="34" charset="-120"/>
              </a:defRPr>
            </a:lvl2pPr>
          </a:lstStyle>
          <a:p>
            <a:pPr lvl="1" rtl="0"/>
            <a:r>
              <a:rPr lang="zh-TW" altLang="en-US" noProof="0"/>
              <a:t>按一下圖示以新增圖片</a:t>
            </a:r>
          </a:p>
        </p:txBody>
      </p:sp>
      <p:sp>
        <p:nvSpPr>
          <p:cNvPr id="24" name="文字版面配置區 2">
            <a:extLst>
              <a:ext uri="{FF2B5EF4-FFF2-40B4-BE49-F238E27FC236}">
                <a16:creationId xmlns:a16="http://schemas.microsoft.com/office/drawing/2014/main" id="{E767B9DE-7410-43CC-90CF-52D67EF03D48}"/>
              </a:ext>
            </a:extLst>
          </p:cNvPr>
          <p:cNvSpPr>
            <a:spLocks noGrp="1"/>
          </p:cNvSpPr>
          <p:nvPr>
            <p:ph type="body" idx="19"/>
          </p:nvPr>
        </p:nvSpPr>
        <p:spPr>
          <a:xfrm>
            <a:off x="4648707" y="5099213"/>
            <a:ext cx="1599739" cy="343061"/>
          </a:xfrm>
        </p:spPr>
        <p:txBody>
          <a:bodyPr rtlCol="0" anchor="ctr">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8" name="文字版面配置區 2">
            <a:extLst>
              <a:ext uri="{FF2B5EF4-FFF2-40B4-BE49-F238E27FC236}">
                <a16:creationId xmlns:a16="http://schemas.microsoft.com/office/drawing/2014/main" id="{103678F5-B025-46E2-BD45-E77861487165}"/>
              </a:ext>
            </a:extLst>
          </p:cNvPr>
          <p:cNvSpPr>
            <a:spLocks noGrp="1"/>
          </p:cNvSpPr>
          <p:nvPr>
            <p:ph type="body" idx="23"/>
          </p:nvPr>
        </p:nvSpPr>
        <p:spPr>
          <a:xfrm>
            <a:off x="4745686" y="5478803"/>
            <a:ext cx="1384133" cy="343061"/>
          </a:xfrm>
        </p:spPr>
        <p:txBody>
          <a:bodyPr rtlCol="0" anchor="t">
            <a:noAutofit/>
          </a:bodyPr>
          <a:lstStyle>
            <a:lvl1pPr marL="0" indent="0" algn="ctr">
              <a:buNone/>
              <a:defRPr lang="en-US" sz="7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9" name="圖片版面配置區 10">
            <a:extLst>
              <a:ext uri="{FF2B5EF4-FFF2-40B4-BE49-F238E27FC236}">
                <a16:creationId xmlns:a16="http://schemas.microsoft.com/office/drawing/2014/main" id="{92E6B581-A522-4758-A9A4-8B9C7B860CF2}"/>
              </a:ext>
            </a:extLst>
          </p:cNvPr>
          <p:cNvSpPr>
            <a:spLocks noGrp="1"/>
          </p:cNvSpPr>
          <p:nvPr>
            <p:ph type="pic" sz="quarter" idx="17"/>
          </p:nvPr>
        </p:nvSpPr>
        <p:spPr>
          <a:xfrm>
            <a:off x="6560597" y="2886079"/>
            <a:ext cx="1384133" cy="1845511"/>
          </a:xfrm>
          <a:solidFill>
            <a:schemeClr val="bg1">
              <a:lumMod val="95000"/>
            </a:schemeClr>
          </a:solidFill>
        </p:spPr>
        <p:txBody>
          <a:bodyPr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25" name="文字版面配置區 2">
            <a:extLst>
              <a:ext uri="{FF2B5EF4-FFF2-40B4-BE49-F238E27FC236}">
                <a16:creationId xmlns:a16="http://schemas.microsoft.com/office/drawing/2014/main" id="{E13DFE1F-4534-4828-990E-B052F51FC65C}"/>
              </a:ext>
            </a:extLst>
          </p:cNvPr>
          <p:cNvSpPr>
            <a:spLocks noGrp="1"/>
          </p:cNvSpPr>
          <p:nvPr>
            <p:ph type="body" idx="20"/>
          </p:nvPr>
        </p:nvSpPr>
        <p:spPr>
          <a:xfrm>
            <a:off x="6463614" y="5084531"/>
            <a:ext cx="1599738" cy="343061"/>
          </a:xfrm>
        </p:spPr>
        <p:txBody>
          <a:bodyPr rtlCol="0" anchor="ctr">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9" name="文字版面配置區 2">
            <a:extLst>
              <a:ext uri="{FF2B5EF4-FFF2-40B4-BE49-F238E27FC236}">
                <a16:creationId xmlns:a16="http://schemas.microsoft.com/office/drawing/2014/main" id="{7E3F385B-4DD9-4F3C-A02B-179B9FA61292}"/>
              </a:ext>
            </a:extLst>
          </p:cNvPr>
          <p:cNvSpPr>
            <a:spLocks noGrp="1"/>
          </p:cNvSpPr>
          <p:nvPr>
            <p:ph type="body" idx="24"/>
          </p:nvPr>
        </p:nvSpPr>
        <p:spPr>
          <a:xfrm>
            <a:off x="6560596" y="5464121"/>
            <a:ext cx="1384133" cy="343061"/>
          </a:xfrm>
        </p:spPr>
        <p:txBody>
          <a:bodyPr rtlCol="0" anchor="t">
            <a:noAutofit/>
          </a:bodyPr>
          <a:lstStyle>
            <a:lvl1pPr marL="0" indent="0" algn="ctr">
              <a:buNone/>
              <a:defRPr lang="en-US" sz="7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cxnSp>
        <p:nvCxnSpPr>
          <p:cNvPr id="10" name="直線接點​​(S)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5500690" y="0"/>
            <a:ext cx="3643313"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線接點​​(S)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8615362" y="5"/>
            <a:ext cx="528638"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702"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團隊投影片 8 人員">
    <p:bg>
      <p:bgPr>
        <a:solidFill>
          <a:schemeClr val="bg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1" name="圖片版面配置區 10">
            <a:extLst>
              <a:ext uri="{FF2B5EF4-FFF2-40B4-BE49-F238E27FC236}">
                <a16:creationId xmlns:a16="http://schemas.microsoft.com/office/drawing/2014/main" id="{B0BDE76A-30A6-4268-9656-28A484C3DCC9}"/>
              </a:ext>
            </a:extLst>
          </p:cNvPr>
          <p:cNvSpPr>
            <a:spLocks noGrp="1"/>
          </p:cNvSpPr>
          <p:nvPr>
            <p:ph type="pic" sz="quarter" idx="14"/>
          </p:nvPr>
        </p:nvSpPr>
        <p:spPr>
          <a:xfrm>
            <a:off x="1407882" y="2428875"/>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p:nvPr>
        </p:nvSpPr>
        <p:spPr>
          <a:xfrm>
            <a:off x="1125126" y="3654385"/>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6" name="文字版面配置區 2">
            <a:extLst>
              <a:ext uri="{FF2B5EF4-FFF2-40B4-BE49-F238E27FC236}">
                <a16:creationId xmlns:a16="http://schemas.microsoft.com/office/drawing/2014/main" id="{A02C0876-23F7-41FA-9AC9-721097D1A3CD}"/>
              </a:ext>
            </a:extLst>
          </p:cNvPr>
          <p:cNvSpPr>
            <a:spLocks noGrp="1"/>
          </p:cNvSpPr>
          <p:nvPr>
            <p:ph type="body" idx="21"/>
          </p:nvPr>
        </p:nvSpPr>
        <p:spPr>
          <a:xfrm>
            <a:off x="1042590" y="378204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7" name="圖片版面配置區 10">
            <a:extLst>
              <a:ext uri="{FF2B5EF4-FFF2-40B4-BE49-F238E27FC236}">
                <a16:creationId xmlns:a16="http://schemas.microsoft.com/office/drawing/2014/main" id="{C4CA5C9C-91D5-44B1-A82A-A49732B4691A}"/>
              </a:ext>
            </a:extLst>
          </p:cNvPr>
          <p:cNvSpPr>
            <a:spLocks noGrp="1"/>
          </p:cNvSpPr>
          <p:nvPr>
            <p:ph type="pic" sz="quarter" idx="15"/>
          </p:nvPr>
        </p:nvSpPr>
        <p:spPr>
          <a:xfrm>
            <a:off x="3169703" y="2428875"/>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23" name="文字版面配置區 2">
            <a:extLst>
              <a:ext uri="{FF2B5EF4-FFF2-40B4-BE49-F238E27FC236}">
                <a16:creationId xmlns:a16="http://schemas.microsoft.com/office/drawing/2014/main" id="{572D0301-10F1-41B4-BEF8-C53FA4D66214}"/>
              </a:ext>
            </a:extLst>
          </p:cNvPr>
          <p:cNvSpPr>
            <a:spLocks noGrp="1"/>
          </p:cNvSpPr>
          <p:nvPr>
            <p:ph type="body" idx="18"/>
          </p:nvPr>
        </p:nvSpPr>
        <p:spPr>
          <a:xfrm>
            <a:off x="2886947" y="3669065"/>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7" name="文字版面配置區 2">
            <a:extLst>
              <a:ext uri="{FF2B5EF4-FFF2-40B4-BE49-F238E27FC236}">
                <a16:creationId xmlns:a16="http://schemas.microsoft.com/office/drawing/2014/main" id="{7ADEB263-F204-4A78-A5E0-7361EFE0B921}"/>
              </a:ext>
            </a:extLst>
          </p:cNvPr>
          <p:cNvSpPr>
            <a:spLocks noGrp="1"/>
          </p:cNvSpPr>
          <p:nvPr>
            <p:ph type="body" idx="22"/>
          </p:nvPr>
        </p:nvSpPr>
        <p:spPr>
          <a:xfrm>
            <a:off x="2804411" y="379672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8" name="圖片版面配置區 10">
            <a:extLst>
              <a:ext uri="{FF2B5EF4-FFF2-40B4-BE49-F238E27FC236}">
                <a16:creationId xmlns:a16="http://schemas.microsoft.com/office/drawing/2014/main" id="{4EBC7D6F-397D-4C5A-AA62-F683F88531A2}"/>
              </a:ext>
            </a:extLst>
          </p:cNvPr>
          <p:cNvSpPr>
            <a:spLocks noGrp="1"/>
          </p:cNvSpPr>
          <p:nvPr>
            <p:ph type="pic" sz="quarter" idx="16"/>
          </p:nvPr>
        </p:nvSpPr>
        <p:spPr>
          <a:xfrm>
            <a:off x="5037701" y="2428875"/>
            <a:ext cx="800100" cy="1066800"/>
          </a:xfrm>
          <a:solidFill>
            <a:schemeClr val="tx1"/>
          </a:solidFill>
        </p:spPr>
        <p:txBody>
          <a:bodyPr rtlCol="0">
            <a:normAutofit/>
          </a:bodyPr>
          <a:lstStyle>
            <a:lvl1pPr marL="0" indent="0">
              <a:buNone/>
              <a:defRPr sz="675">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675">
                <a:solidFill>
                  <a:schemeClr val="bg1"/>
                </a:solidFill>
              </a:defRPr>
            </a:lvl2pPr>
          </a:lstStyle>
          <a:p>
            <a:pPr lvl="0" rtl="0"/>
            <a:r>
              <a:rPr lang="zh-TW" altLang="en-US" noProof="0"/>
              <a:t>按一下圖示以新增圖片</a:t>
            </a:r>
          </a:p>
        </p:txBody>
      </p:sp>
      <p:sp>
        <p:nvSpPr>
          <p:cNvPr id="24" name="文字版面配置區 2">
            <a:extLst>
              <a:ext uri="{FF2B5EF4-FFF2-40B4-BE49-F238E27FC236}">
                <a16:creationId xmlns:a16="http://schemas.microsoft.com/office/drawing/2014/main" id="{E767B9DE-7410-43CC-90CF-52D67EF03D48}"/>
              </a:ext>
            </a:extLst>
          </p:cNvPr>
          <p:cNvSpPr>
            <a:spLocks noGrp="1"/>
          </p:cNvSpPr>
          <p:nvPr>
            <p:ph type="body" idx="19"/>
          </p:nvPr>
        </p:nvSpPr>
        <p:spPr>
          <a:xfrm>
            <a:off x="4754945" y="3669065"/>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8" name="文字版面配置區 2">
            <a:extLst>
              <a:ext uri="{FF2B5EF4-FFF2-40B4-BE49-F238E27FC236}">
                <a16:creationId xmlns:a16="http://schemas.microsoft.com/office/drawing/2014/main" id="{103678F5-B025-46E2-BD45-E77861487165}"/>
              </a:ext>
            </a:extLst>
          </p:cNvPr>
          <p:cNvSpPr>
            <a:spLocks noGrp="1"/>
          </p:cNvSpPr>
          <p:nvPr>
            <p:ph type="body" idx="23"/>
          </p:nvPr>
        </p:nvSpPr>
        <p:spPr>
          <a:xfrm>
            <a:off x="4663472" y="379672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9" name="圖片版面配置區 10">
            <a:extLst>
              <a:ext uri="{FF2B5EF4-FFF2-40B4-BE49-F238E27FC236}">
                <a16:creationId xmlns:a16="http://schemas.microsoft.com/office/drawing/2014/main" id="{92E6B581-A522-4758-A9A4-8B9C7B860CF2}"/>
              </a:ext>
            </a:extLst>
          </p:cNvPr>
          <p:cNvSpPr>
            <a:spLocks noGrp="1"/>
          </p:cNvSpPr>
          <p:nvPr>
            <p:ph type="pic" sz="quarter" idx="17"/>
          </p:nvPr>
        </p:nvSpPr>
        <p:spPr>
          <a:xfrm>
            <a:off x="6852611" y="2428875"/>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25" name="文字版面配置區 2">
            <a:extLst>
              <a:ext uri="{FF2B5EF4-FFF2-40B4-BE49-F238E27FC236}">
                <a16:creationId xmlns:a16="http://schemas.microsoft.com/office/drawing/2014/main" id="{E13DFE1F-4534-4828-990E-B052F51FC65C}"/>
              </a:ext>
            </a:extLst>
          </p:cNvPr>
          <p:cNvSpPr>
            <a:spLocks noGrp="1"/>
          </p:cNvSpPr>
          <p:nvPr>
            <p:ph type="body" idx="20"/>
          </p:nvPr>
        </p:nvSpPr>
        <p:spPr>
          <a:xfrm>
            <a:off x="6569855" y="3654385"/>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9" name="文字版面配置區 2">
            <a:extLst>
              <a:ext uri="{FF2B5EF4-FFF2-40B4-BE49-F238E27FC236}">
                <a16:creationId xmlns:a16="http://schemas.microsoft.com/office/drawing/2014/main" id="{7E3F385B-4DD9-4F3C-A02B-179B9FA61292}"/>
              </a:ext>
            </a:extLst>
          </p:cNvPr>
          <p:cNvSpPr>
            <a:spLocks noGrp="1"/>
          </p:cNvSpPr>
          <p:nvPr>
            <p:ph type="body" idx="24"/>
          </p:nvPr>
        </p:nvSpPr>
        <p:spPr>
          <a:xfrm>
            <a:off x="6475824" y="378204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55" name="圖片版面配置區 10">
            <a:extLst>
              <a:ext uri="{FF2B5EF4-FFF2-40B4-BE49-F238E27FC236}">
                <a16:creationId xmlns:a16="http://schemas.microsoft.com/office/drawing/2014/main" id="{1EBAEB1D-A7F9-4F90-B642-4277D3802BAB}"/>
              </a:ext>
            </a:extLst>
          </p:cNvPr>
          <p:cNvSpPr>
            <a:spLocks noGrp="1"/>
          </p:cNvSpPr>
          <p:nvPr>
            <p:ph type="pic" sz="quarter" idx="26"/>
          </p:nvPr>
        </p:nvSpPr>
        <p:spPr>
          <a:xfrm>
            <a:off x="1407882" y="4287711"/>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54" name="文字版面配置區 2">
            <a:extLst>
              <a:ext uri="{FF2B5EF4-FFF2-40B4-BE49-F238E27FC236}">
                <a16:creationId xmlns:a16="http://schemas.microsoft.com/office/drawing/2014/main" id="{22930C5B-603C-494E-A467-8B394D01D406}"/>
              </a:ext>
            </a:extLst>
          </p:cNvPr>
          <p:cNvSpPr>
            <a:spLocks noGrp="1"/>
          </p:cNvSpPr>
          <p:nvPr>
            <p:ph type="body" idx="25"/>
          </p:nvPr>
        </p:nvSpPr>
        <p:spPr>
          <a:xfrm>
            <a:off x="1125126" y="5513221"/>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62" name="文字版面配置區 2">
            <a:extLst>
              <a:ext uri="{FF2B5EF4-FFF2-40B4-BE49-F238E27FC236}">
                <a16:creationId xmlns:a16="http://schemas.microsoft.com/office/drawing/2014/main" id="{540C455F-A23B-493F-B95E-AB485D91DA6A}"/>
              </a:ext>
            </a:extLst>
          </p:cNvPr>
          <p:cNvSpPr>
            <a:spLocks noGrp="1"/>
          </p:cNvSpPr>
          <p:nvPr>
            <p:ph type="body" idx="33"/>
          </p:nvPr>
        </p:nvSpPr>
        <p:spPr>
          <a:xfrm>
            <a:off x="1042590" y="564088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56" name="圖片版面配置區 10">
            <a:extLst>
              <a:ext uri="{FF2B5EF4-FFF2-40B4-BE49-F238E27FC236}">
                <a16:creationId xmlns:a16="http://schemas.microsoft.com/office/drawing/2014/main" id="{9461A69E-14C8-4325-89AF-D4257C1C05BA}"/>
              </a:ext>
            </a:extLst>
          </p:cNvPr>
          <p:cNvSpPr>
            <a:spLocks noGrp="1"/>
          </p:cNvSpPr>
          <p:nvPr>
            <p:ph type="pic" sz="quarter" idx="27"/>
          </p:nvPr>
        </p:nvSpPr>
        <p:spPr>
          <a:xfrm>
            <a:off x="3169703" y="4287711"/>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59" name="文字版面配置區 2">
            <a:extLst>
              <a:ext uri="{FF2B5EF4-FFF2-40B4-BE49-F238E27FC236}">
                <a16:creationId xmlns:a16="http://schemas.microsoft.com/office/drawing/2014/main" id="{6D1C374C-DAF7-40EF-B279-4EC7A2AFE6A2}"/>
              </a:ext>
            </a:extLst>
          </p:cNvPr>
          <p:cNvSpPr>
            <a:spLocks noGrp="1"/>
          </p:cNvSpPr>
          <p:nvPr>
            <p:ph type="body" idx="30"/>
          </p:nvPr>
        </p:nvSpPr>
        <p:spPr>
          <a:xfrm>
            <a:off x="2886947" y="5527903"/>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63" name="文字版面配置區 2">
            <a:extLst>
              <a:ext uri="{FF2B5EF4-FFF2-40B4-BE49-F238E27FC236}">
                <a16:creationId xmlns:a16="http://schemas.microsoft.com/office/drawing/2014/main" id="{421FF438-E4E8-4643-BCB3-4A1C12429042}"/>
              </a:ext>
            </a:extLst>
          </p:cNvPr>
          <p:cNvSpPr>
            <a:spLocks noGrp="1"/>
          </p:cNvSpPr>
          <p:nvPr>
            <p:ph type="body" idx="34"/>
          </p:nvPr>
        </p:nvSpPr>
        <p:spPr>
          <a:xfrm>
            <a:off x="2804411" y="5655564"/>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57" name="圖片版面配置區 10">
            <a:extLst>
              <a:ext uri="{FF2B5EF4-FFF2-40B4-BE49-F238E27FC236}">
                <a16:creationId xmlns:a16="http://schemas.microsoft.com/office/drawing/2014/main" id="{0FB38616-82FB-4DAD-A82E-3777ACB41148}"/>
              </a:ext>
            </a:extLst>
          </p:cNvPr>
          <p:cNvSpPr>
            <a:spLocks noGrp="1"/>
          </p:cNvSpPr>
          <p:nvPr>
            <p:ph type="pic" sz="quarter" idx="28"/>
          </p:nvPr>
        </p:nvSpPr>
        <p:spPr>
          <a:xfrm>
            <a:off x="5037701" y="4287711"/>
            <a:ext cx="800100" cy="1066800"/>
          </a:xfrm>
          <a:solidFill>
            <a:schemeClr val="tx1"/>
          </a:solidFill>
        </p:spPr>
        <p:txBody>
          <a:bodyPr rtlCol="0">
            <a:normAutofit/>
          </a:bodyPr>
          <a:lstStyle>
            <a:lvl1pPr marL="0" indent="0">
              <a:buNone/>
              <a:defRPr sz="675">
                <a:solidFill>
                  <a:schemeClr val="bg1"/>
                </a:solidFill>
                <a:latin typeface="Microsoft JhengHei UI" panose="020B0604030504040204" pitchFamily="34" charset="-120"/>
                <a:ea typeface="Microsoft JhengHei UI" panose="020B0604030504040204" pitchFamily="34" charset="-120"/>
              </a:defRPr>
            </a:lvl1pPr>
            <a:lvl2pPr marL="342900" indent="0">
              <a:lnSpc>
                <a:spcPct val="100000"/>
              </a:lnSpc>
              <a:buNone/>
              <a:defRPr sz="675">
                <a:solidFill>
                  <a:schemeClr val="bg1"/>
                </a:solidFill>
              </a:defRPr>
            </a:lvl2pPr>
          </a:lstStyle>
          <a:p>
            <a:pPr lvl="0" rtl="0"/>
            <a:r>
              <a:rPr lang="zh-TW" altLang="en-US" noProof="0"/>
              <a:t>按一下圖示以新增圖片</a:t>
            </a:r>
          </a:p>
        </p:txBody>
      </p:sp>
      <p:sp>
        <p:nvSpPr>
          <p:cNvPr id="60" name="文字版面配置區 2">
            <a:extLst>
              <a:ext uri="{FF2B5EF4-FFF2-40B4-BE49-F238E27FC236}">
                <a16:creationId xmlns:a16="http://schemas.microsoft.com/office/drawing/2014/main" id="{D4FEDD19-A7BA-45BB-93A0-F1E896C9F26D}"/>
              </a:ext>
            </a:extLst>
          </p:cNvPr>
          <p:cNvSpPr>
            <a:spLocks noGrp="1"/>
          </p:cNvSpPr>
          <p:nvPr>
            <p:ph type="body" idx="31"/>
          </p:nvPr>
        </p:nvSpPr>
        <p:spPr>
          <a:xfrm>
            <a:off x="4754945" y="5527903"/>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64" name="文字版面配置區 2">
            <a:extLst>
              <a:ext uri="{FF2B5EF4-FFF2-40B4-BE49-F238E27FC236}">
                <a16:creationId xmlns:a16="http://schemas.microsoft.com/office/drawing/2014/main" id="{A12F0175-7AEE-46B1-9590-D4A427680DC7}"/>
              </a:ext>
            </a:extLst>
          </p:cNvPr>
          <p:cNvSpPr>
            <a:spLocks noGrp="1"/>
          </p:cNvSpPr>
          <p:nvPr>
            <p:ph type="body" idx="35"/>
          </p:nvPr>
        </p:nvSpPr>
        <p:spPr>
          <a:xfrm>
            <a:off x="4672409" y="5655564"/>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58" name="圖片版面配置區 10">
            <a:extLst>
              <a:ext uri="{FF2B5EF4-FFF2-40B4-BE49-F238E27FC236}">
                <a16:creationId xmlns:a16="http://schemas.microsoft.com/office/drawing/2014/main" id="{622ED9F4-EB9B-4588-8501-BFECB846EE73}"/>
              </a:ext>
            </a:extLst>
          </p:cNvPr>
          <p:cNvSpPr>
            <a:spLocks noGrp="1"/>
          </p:cNvSpPr>
          <p:nvPr>
            <p:ph type="pic" sz="quarter" idx="29"/>
          </p:nvPr>
        </p:nvSpPr>
        <p:spPr>
          <a:xfrm>
            <a:off x="6852611" y="4287711"/>
            <a:ext cx="800100" cy="1066800"/>
          </a:xfrm>
          <a:solidFill>
            <a:schemeClr val="tx1"/>
          </a:solidFill>
        </p:spPr>
        <p:txBody>
          <a:bodyPr rtlCol="0">
            <a:normAutofit/>
          </a:bodyPr>
          <a:lstStyle>
            <a:lvl1pPr marL="0" indent="0">
              <a:lnSpc>
                <a:spcPct val="100000"/>
              </a:lnSpc>
              <a:buNone/>
              <a:defRPr sz="675">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按一下圖示以新增圖片</a:t>
            </a:r>
          </a:p>
        </p:txBody>
      </p:sp>
      <p:sp>
        <p:nvSpPr>
          <p:cNvPr id="61" name="文字版面配置區 2">
            <a:extLst>
              <a:ext uri="{FF2B5EF4-FFF2-40B4-BE49-F238E27FC236}">
                <a16:creationId xmlns:a16="http://schemas.microsoft.com/office/drawing/2014/main" id="{5026D39F-46AB-4680-9A52-F367344A3531}"/>
              </a:ext>
            </a:extLst>
          </p:cNvPr>
          <p:cNvSpPr>
            <a:spLocks noGrp="1"/>
          </p:cNvSpPr>
          <p:nvPr>
            <p:ph type="body" idx="32"/>
          </p:nvPr>
        </p:nvSpPr>
        <p:spPr>
          <a:xfrm>
            <a:off x="6569855" y="5513221"/>
            <a:ext cx="1371600" cy="343061"/>
          </a:xfrm>
        </p:spPr>
        <p:txBody>
          <a:bodyPr rtlCol="0" anchor="t">
            <a:noAutofit/>
          </a:bodyPr>
          <a:lstStyle>
            <a:lvl1pPr marL="0" indent="0" algn="ctr">
              <a:buNone/>
              <a:defRPr lang="en-US" sz="788"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65" name="文字版面配置區 2">
            <a:extLst>
              <a:ext uri="{FF2B5EF4-FFF2-40B4-BE49-F238E27FC236}">
                <a16:creationId xmlns:a16="http://schemas.microsoft.com/office/drawing/2014/main" id="{04E11FE2-6320-4E8C-A5B3-8104AF329ADA}"/>
              </a:ext>
            </a:extLst>
          </p:cNvPr>
          <p:cNvSpPr>
            <a:spLocks noGrp="1"/>
          </p:cNvSpPr>
          <p:nvPr>
            <p:ph type="body" idx="36"/>
          </p:nvPr>
        </p:nvSpPr>
        <p:spPr>
          <a:xfrm>
            <a:off x="6475824" y="5640882"/>
            <a:ext cx="1543050" cy="343061"/>
          </a:xfrm>
        </p:spPr>
        <p:txBody>
          <a:bodyPr rtlCol="0" anchor="ctr">
            <a:noAutofit/>
          </a:bodyPr>
          <a:lstStyle>
            <a:lvl1pPr marL="0" indent="0" algn="ctr">
              <a:buNone/>
              <a:defRPr lang="en-US" sz="675" kern="1200" spc="113" baseline="0" dirty="0" smtClean="0">
                <a:solidFill>
                  <a:schemeClr val="accent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solidFill>
                  <a:srgbClr val="898989"/>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solidFill>
                  <a:srgbClr val="898989"/>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solidFill>
                  <a:srgbClr val="898989"/>
                </a:solidFill>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pic>
        <p:nvPicPr>
          <p:cNvPr id="13" name="圖形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60"/>
            <a:ext cx="1543050" cy="1647825"/>
          </a:xfrm>
          <a:prstGeom prst="rect">
            <a:avLst/>
          </a:prstGeom>
        </p:spPr>
      </p:pic>
      <p:pic>
        <p:nvPicPr>
          <p:cNvPr id="14" name="圖形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86750" y="5180889"/>
            <a:ext cx="85725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基金">
    <p:bg>
      <p:bgPr>
        <a:solidFill>
          <a:schemeClr val="bg1"/>
        </a:solidFill>
        <a:effectLst/>
      </p:bgPr>
    </p:bg>
    <p:spTree>
      <p:nvGrpSpPr>
        <p:cNvPr id="1" name=""/>
        <p:cNvGrpSpPr/>
        <p:nvPr/>
      </p:nvGrpSpPr>
      <p:grpSpPr>
        <a:xfrm>
          <a:off x="0" y="0"/>
          <a:ext cx="0" cy="0"/>
          <a:chOff x="0" y="0"/>
          <a:chExt cx="0" cy="0"/>
        </a:xfrm>
      </p:grpSpPr>
      <p:cxnSp>
        <p:nvCxnSpPr>
          <p:cNvPr id="16" name="直線接點​​(S)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1" y="7"/>
            <a:ext cx="928688" cy="1328057"/>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線接點​​(S)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3" y="4"/>
            <a:ext cx="2843213" cy="892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標題 1">
            <a:extLst>
              <a:ext uri="{FF2B5EF4-FFF2-40B4-BE49-F238E27FC236}">
                <a16:creationId xmlns:a16="http://schemas.microsoft.com/office/drawing/2014/main" id="{81CF3B5C-31C4-46BA-9FAD-72DF917A84DA}"/>
              </a:ext>
            </a:extLst>
          </p:cNvPr>
          <p:cNvSpPr>
            <a:spLocks noGrp="1"/>
          </p:cNvSpPr>
          <p:nvPr>
            <p:ph type="title"/>
          </p:nvPr>
        </p:nvSpPr>
        <p:spPr>
          <a:xfrm>
            <a:off x="1413867" y="892184"/>
            <a:ext cx="6316266" cy="1325563"/>
          </a:xfrm>
        </p:spPr>
        <p:txBody>
          <a:bodyPr rtlCol="0">
            <a:normAutofit/>
          </a:bodyPr>
          <a:lstStyle>
            <a:lvl1pPr algn="ctr">
              <a:defRPr lang="en-US" sz="2100" kern="1200"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11" name="內容版面配置區 10">
            <a:extLst>
              <a:ext uri="{FF2B5EF4-FFF2-40B4-BE49-F238E27FC236}">
                <a16:creationId xmlns:a16="http://schemas.microsoft.com/office/drawing/2014/main" id="{319EE98D-9541-4F21-8952-3026DEF75EC4}"/>
              </a:ext>
            </a:extLst>
          </p:cNvPr>
          <p:cNvSpPr>
            <a:spLocks noGrp="1"/>
          </p:cNvSpPr>
          <p:nvPr>
            <p:ph sz="quarter" idx="21" hasCustomPrompt="1"/>
          </p:nvPr>
        </p:nvSpPr>
        <p:spPr>
          <a:xfrm>
            <a:off x="806585" y="2118642"/>
            <a:ext cx="1392174" cy="1664208"/>
          </a:xfrm>
        </p:spPr>
        <p:txBody>
          <a:bodyPr rtlCol="0" anchor="t">
            <a:noAutofit/>
          </a:bodyPr>
          <a:lstStyle>
            <a:lvl1pPr marL="0" indent="0" algn="ctr">
              <a:buNone/>
              <a:defRPr sz="1200">
                <a:latin typeface="Microsoft JhengHei UI" panose="020B0604030504040204" pitchFamily="34" charset="-120"/>
                <a:ea typeface="Microsoft JhengHei UI" panose="020B0604030504040204" pitchFamily="34" charset="-120"/>
              </a:defRPr>
            </a:lvl1pPr>
            <a:lvl2pPr marL="342900" indent="0">
              <a:buNone/>
              <a:defRPr sz="1200"/>
            </a:lvl2pPr>
            <a:lvl3pPr marL="685800" indent="0">
              <a:buNone/>
              <a:defRPr sz="1200"/>
            </a:lvl3pPr>
            <a:lvl4pPr marL="1028700" indent="0">
              <a:buNone/>
              <a:defRPr sz="1200"/>
            </a:lvl4pPr>
            <a:lvl5pPr marL="1371600" indent="0">
              <a:buNone/>
              <a:defRPr sz="1200"/>
            </a:lvl5pPr>
          </a:lstStyle>
          <a:p>
            <a:pPr lvl="0" rtl="0"/>
            <a:r>
              <a:rPr lang="zh-TW" altLang="en-US" noProof="0"/>
              <a:t>按一下以新增內容</a:t>
            </a:r>
          </a:p>
        </p:txBody>
      </p:sp>
      <p:sp>
        <p:nvSpPr>
          <p:cNvPr id="3" name="文字版面配置區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628653" y="3788814"/>
            <a:ext cx="1748045" cy="804859"/>
          </a:xfrm>
        </p:spPr>
        <p:txBody>
          <a:bodyPr lIns="0" rIns="0" rtlCol="0" anchor="b">
            <a:noAutofit/>
          </a:bodyPr>
          <a:lstStyle>
            <a:lvl1pPr marL="0" indent="0" algn="ctr">
              <a:buNone/>
              <a:defRPr lang="en-US" sz="24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17" name="文字版面配置區 2">
            <a:extLst>
              <a:ext uri="{FF2B5EF4-FFF2-40B4-BE49-F238E27FC236}">
                <a16:creationId xmlns:a16="http://schemas.microsoft.com/office/drawing/2014/main" id="{E43D2F47-FAF2-42C2-967D-251DD4B940D7}"/>
              </a:ext>
            </a:extLst>
          </p:cNvPr>
          <p:cNvSpPr>
            <a:spLocks noGrp="1"/>
          </p:cNvSpPr>
          <p:nvPr>
            <p:ph type="body" idx="17"/>
          </p:nvPr>
        </p:nvSpPr>
        <p:spPr>
          <a:xfrm>
            <a:off x="628653" y="4464817"/>
            <a:ext cx="1748045" cy="438505"/>
          </a:xfrm>
        </p:spPr>
        <p:txBody>
          <a:bodyPr lIns="0" rIns="0" rtlCol="0" anchor="b">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4" name="內容版面配置區 3">
            <a:extLst>
              <a:ext uri="{FF2B5EF4-FFF2-40B4-BE49-F238E27FC236}">
                <a16:creationId xmlns:a16="http://schemas.microsoft.com/office/drawing/2014/main" id="{AC9B20CF-6B91-4562-B799-0ABDAEBC0D2A}"/>
              </a:ext>
            </a:extLst>
          </p:cNvPr>
          <p:cNvSpPr>
            <a:spLocks noGrp="1"/>
          </p:cNvSpPr>
          <p:nvPr>
            <p:ph sz="half" idx="2"/>
          </p:nvPr>
        </p:nvSpPr>
        <p:spPr>
          <a:xfrm>
            <a:off x="628653" y="5120729"/>
            <a:ext cx="1748045" cy="853167"/>
          </a:xfrm>
        </p:spPr>
        <p:txBody>
          <a:bodyPr lIns="0" rIns="0" rtlCol="0">
            <a:normAutofit/>
          </a:bodyPr>
          <a:lstStyle>
            <a:lvl1pPr marL="0" indent="0" algn="ctr">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vl2pPr>
            <a:lvl3pPr marL="685800" indent="0">
              <a:lnSpc>
                <a:spcPct val="100000"/>
              </a:lnSpc>
              <a:buNone/>
              <a:defRPr sz="1050" spc="38" baseline="0"/>
            </a:lvl3pPr>
            <a:lvl4pPr marL="1028700" indent="0">
              <a:lnSpc>
                <a:spcPct val="100000"/>
              </a:lnSpc>
              <a:buNone/>
              <a:defRPr sz="1050" spc="38" baseline="0"/>
            </a:lvl4pPr>
            <a:lvl5pPr marL="1371600" indent="0">
              <a:lnSpc>
                <a:spcPct val="100000"/>
              </a:lnSpc>
              <a:buNone/>
              <a:defRPr sz="1050" spc="38" baseline="0"/>
            </a:lvl5pPr>
          </a:lstStyle>
          <a:p>
            <a:pPr lvl="0" rtl="0"/>
            <a:r>
              <a:rPr lang="zh-TW" altLang="en-US" noProof="0"/>
              <a:t>按一下以編輯母片文字樣式</a:t>
            </a:r>
          </a:p>
        </p:txBody>
      </p:sp>
      <p:sp>
        <p:nvSpPr>
          <p:cNvPr id="24" name="內容版面配置區 10">
            <a:extLst>
              <a:ext uri="{FF2B5EF4-FFF2-40B4-BE49-F238E27FC236}">
                <a16:creationId xmlns:a16="http://schemas.microsoft.com/office/drawing/2014/main" id="{AB843230-A4E3-4E21-AA93-998E28EB9018}"/>
              </a:ext>
            </a:extLst>
          </p:cNvPr>
          <p:cNvSpPr>
            <a:spLocks noGrp="1"/>
          </p:cNvSpPr>
          <p:nvPr>
            <p:ph sz="quarter" idx="22" hasCustomPrompt="1"/>
          </p:nvPr>
        </p:nvSpPr>
        <p:spPr>
          <a:xfrm>
            <a:off x="2858543" y="2118642"/>
            <a:ext cx="1392174" cy="1664208"/>
          </a:xfrm>
        </p:spPr>
        <p:txBody>
          <a:bodyPr rtlCol="0" anchor="t">
            <a:noAutofit/>
          </a:bodyPr>
          <a:lstStyle>
            <a:lvl1pPr marL="0" indent="0" algn="ctr">
              <a:buNone/>
              <a:defRPr sz="1200">
                <a:latin typeface="Microsoft JhengHei UI" panose="020B0604030504040204" pitchFamily="34" charset="-120"/>
                <a:ea typeface="Microsoft JhengHei UI" panose="020B0604030504040204" pitchFamily="34" charset="-120"/>
              </a:defRPr>
            </a:lvl1pPr>
            <a:lvl2pPr marL="342900" indent="0">
              <a:buNone/>
              <a:defRPr sz="1200"/>
            </a:lvl2pPr>
            <a:lvl3pPr marL="685800" indent="0">
              <a:buNone/>
              <a:defRPr sz="1200"/>
            </a:lvl3pPr>
            <a:lvl4pPr marL="1028700" indent="0">
              <a:buNone/>
              <a:defRPr sz="1200"/>
            </a:lvl4pPr>
            <a:lvl5pPr marL="1371600" indent="0">
              <a:buNone/>
              <a:defRPr sz="1200"/>
            </a:lvl5pPr>
          </a:lstStyle>
          <a:p>
            <a:pPr lvl="0" rtl="0"/>
            <a:r>
              <a:rPr lang="zh-TW" altLang="en-US" noProof="0"/>
              <a:t>按一下以新增內容</a:t>
            </a:r>
          </a:p>
        </p:txBody>
      </p:sp>
      <p:sp>
        <p:nvSpPr>
          <p:cNvPr id="5" name="文字版面配置區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2672001" y="3788814"/>
            <a:ext cx="1756654" cy="804859"/>
          </a:xfrm>
        </p:spPr>
        <p:txBody>
          <a:bodyPr lIns="0" rIns="0" rtlCol="0" anchor="b">
            <a:noAutofit/>
          </a:bodyPr>
          <a:lstStyle>
            <a:lvl1pPr marL="0" indent="0" algn="ctr">
              <a:buNone/>
              <a:defRPr lang="en-US" sz="24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18" name="文字版面配置區 4">
            <a:extLst>
              <a:ext uri="{FF2B5EF4-FFF2-40B4-BE49-F238E27FC236}">
                <a16:creationId xmlns:a16="http://schemas.microsoft.com/office/drawing/2014/main" id="{3322C250-87FC-4F14-A42C-FFDA120D0D64}"/>
              </a:ext>
            </a:extLst>
          </p:cNvPr>
          <p:cNvSpPr>
            <a:spLocks noGrp="1"/>
          </p:cNvSpPr>
          <p:nvPr>
            <p:ph type="body" sz="quarter" idx="18"/>
          </p:nvPr>
        </p:nvSpPr>
        <p:spPr>
          <a:xfrm>
            <a:off x="2672001" y="4464817"/>
            <a:ext cx="1756654" cy="438505"/>
          </a:xfrm>
        </p:spPr>
        <p:txBody>
          <a:bodyPr lIns="0" rIns="0" rtlCol="0" anchor="b">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marL="0" lvl="0" indent="0" algn="l" defTabSz="685800" rtl="0" eaLnBrk="1" latinLnBrk="0" hangingPunct="1">
              <a:lnSpc>
                <a:spcPct val="90000"/>
              </a:lnSpc>
              <a:spcBef>
                <a:spcPts val="750"/>
              </a:spcBef>
              <a:buFont typeface="Arial" panose="020B0604020202020204" pitchFamily="34" charset="0"/>
              <a:buNone/>
            </a:pPr>
            <a:r>
              <a:rPr lang="zh-TW" altLang="en-US" noProof="0"/>
              <a:t>按一下以編輯母片文字樣式</a:t>
            </a:r>
          </a:p>
        </p:txBody>
      </p:sp>
      <p:sp>
        <p:nvSpPr>
          <p:cNvPr id="6" name="內容版面配置區 5">
            <a:extLst>
              <a:ext uri="{FF2B5EF4-FFF2-40B4-BE49-F238E27FC236}">
                <a16:creationId xmlns:a16="http://schemas.microsoft.com/office/drawing/2014/main" id="{B36EE64B-44BF-4634-97BC-5ED74C6DF280}"/>
              </a:ext>
            </a:extLst>
          </p:cNvPr>
          <p:cNvSpPr>
            <a:spLocks noGrp="1"/>
          </p:cNvSpPr>
          <p:nvPr>
            <p:ph sz="quarter" idx="4"/>
          </p:nvPr>
        </p:nvSpPr>
        <p:spPr>
          <a:xfrm>
            <a:off x="2672001" y="5120729"/>
            <a:ext cx="1756654" cy="853167"/>
          </a:xfrm>
        </p:spPr>
        <p:txBody>
          <a:bodyPr lIns="0" rIns="0" rtlCol="0">
            <a:normAutofit/>
          </a:bodyPr>
          <a:lstStyle>
            <a:lvl1pPr marL="0" indent="0" algn="ctr">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vl2pPr>
            <a:lvl3pPr marL="685800" indent="0">
              <a:lnSpc>
                <a:spcPct val="100000"/>
              </a:lnSpc>
              <a:buNone/>
              <a:defRPr sz="1050" spc="38" baseline="0"/>
            </a:lvl3pPr>
            <a:lvl4pPr marL="1028700" indent="0">
              <a:lnSpc>
                <a:spcPct val="100000"/>
              </a:lnSpc>
              <a:buNone/>
              <a:defRPr sz="1050" spc="38" baseline="0"/>
            </a:lvl4pPr>
            <a:lvl5pPr marL="1371600" indent="0">
              <a:lnSpc>
                <a:spcPct val="100000"/>
              </a:lnSpc>
              <a:buNone/>
              <a:defRPr sz="1050" spc="38" baseline="0"/>
            </a:lvl5pPr>
          </a:lstStyle>
          <a:p>
            <a:pPr lvl="0" rtl="0"/>
            <a:r>
              <a:rPr lang="zh-TW" altLang="en-US" noProof="0"/>
              <a:t>按一下以編輯母片文字樣式</a:t>
            </a:r>
          </a:p>
        </p:txBody>
      </p:sp>
      <p:sp>
        <p:nvSpPr>
          <p:cNvPr id="25" name="內容版面配置區 10">
            <a:extLst>
              <a:ext uri="{FF2B5EF4-FFF2-40B4-BE49-F238E27FC236}">
                <a16:creationId xmlns:a16="http://schemas.microsoft.com/office/drawing/2014/main" id="{3AE0369E-A275-4E5A-AE0F-B1F9A54DEDFC}"/>
              </a:ext>
            </a:extLst>
          </p:cNvPr>
          <p:cNvSpPr>
            <a:spLocks noGrp="1"/>
          </p:cNvSpPr>
          <p:nvPr>
            <p:ph sz="quarter" idx="23" hasCustomPrompt="1"/>
          </p:nvPr>
        </p:nvSpPr>
        <p:spPr>
          <a:xfrm>
            <a:off x="4893283" y="2118642"/>
            <a:ext cx="1392174" cy="1664208"/>
          </a:xfrm>
        </p:spPr>
        <p:txBody>
          <a:bodyPr rtlCol="0" anchor="t">
            <a:noAutofit/>
          </a:bodyPr>
          <a:lstStyle>
            <a:lvl1pPr marL="0" indent="0" algn="ctr">
              <a:buNone/>
              <a:defRPr sz="1200">
                <a:latin typeface="Microsoft JhengHei UI" panose="020B0604030504040204" pitchFamily="34" charset="-120"/>
                <a:ea typeface="Microsoft JhengHei UI" panose="020B0604030504040204" pitchFamily="34" charset="-120"/>
              </a:defRPr>
            </a:lvl1pPr>
            <a:lvl2pPr marL="342900" indent="0">
              <a:buNone/>
              <a:defRPr sz="1200"/>
            </a:lvl2pPr>
            <a:lvl3pPr marL="685800" indent="0">
              <a:buNone/>
              <a:defRPr sz="1200"/>
            </a:lvl3pPr>
            <a:lvl4pPr marL="1028700" indent="0">
              <a:buNone/>
              <a:defRPr sz="1200"/>
            </a:lvl4pPr>
            <a:lvl5pPr marL="1371600" indent="0">
              <a:buNone/>
              <a:defRPr sz="1200"/>
            </a:lvl5pPr>
          </a:lstStyle>
          <a:p>
            <a:pPr lvl="0" rtl="0"/>
            <a:r>
              <a:rPr lang="zh-TW" altLang="en-US" noProof="0"/>
              <a:t>按一下以新增內容</a:t>
            </a:r>
          </a:p>
        </p:txBody>
      </p:sp>
      <p:sp>
        <p:nvSpPr>
          <p:cNvPr id="21" name="文字版面配置區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4723960" y="3788814"/>
            <a:ext cx="1748045" cy="804859"/>
          </a:xfrm>
        </p:spPr>
        <p:txBody>
          <a:bodyPr lIns="0" rIns="0" rtlCol="0" anchor="b">
            <a:noAutofit/>
          </a:bodyPr>
          <a:lstStyle>
            <a:lvl1pPr marL="0" indent="0" algn="ctr">
              <a:buNone/>
              <a:defRPr lang="en-US" sz="24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19" name="文字版面配置區 2">
            <a:extLst>
              <a:ext uri="{FF2B5EF4-FFF2-40B4-BE49-F238E27FC236}">
                <a16:creationId xmlns:a16="http://schemas.microsoft.com/office/drawing/2014/main" id="{D3C675D6-83FA-4036-B516-098EDCAF2506}"/>
              </a:ext>
            </a:extLst>
          </p:cNvPr>
          <p:cNvSpPr>
            <a:spLocks noGrp="1"/>
          </p:cNvSpPr>
          <p:nvPr>
            <p:ph type="body" idx="19"/>
          </p:nvPr>
        </p:nvSpPr>
        <p:spPr>
          <a:xfrm>
            <a:off x="4723960" y="4464817"/>
            <a:ext cx="1748045" cy="438505"/>
          </a:xfrm>
        </p:spPr>
        <p:txBody>
          <a:bodyPr lIns="0" rIns="0" rtlCol="0" anchor="b">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22" name="內容版面配置區 3">
            <a:extLst>
              <a:ext uri="{FF2B5EF4-FFF2-40B4-BE49-F238E27FC236}">
                <a16:creationId xmlns:a16="http://schemas.microsoft.com/office/drawing/2014/main" id="{C464A9BD-B815-4632-8F54-6EB70E48BAFF}"/>
              </a:ext>
            </a:extLst>
          </p:cNvPr>
          <p:cNvSpPr>
            <a:spLocks noGrp="1"/>
          </p:cNvSpPr>
          <p:nvPr>
            <p:ph sz="half" idx="14"/>
          </p:nvPr>
        </p:nvSpPr>
        <p:spPr>
          <a:xfrm>
            <a:off x="4723960" y="5120729"/>
            <a:ext cx="1748045" cy="853167"/>
          </a:xfrm>
        </p:spPr>
        <p:txBody>
          <a:bodyPr lIns="0" rIns="0" rtlCol="0">
            <a:normAutofit/>
          </a:bodyPr>
          <a:lstStyle>
            <a:lvl1pPr marL="0" indent="0" algn="ctr">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vl2pPr>
            <a:lvl3pPr marL="685800" indent="0">
              <a:lnSpc>
                <a:spcPct val="100000"/>
              </a:lnSpc>
              <a:buNone/>
              <a:defRPr sz="1050" spc="38" baseline="0"/>
            </a:lvl3pPr>
            <a:lvl4pPr marL="1028700" indent="0">
              <a:lnSpc>
                <a:spcPct val="100000"/>
              </a:lnSpc>
              <a:buNone/>
              <a:defRPr sz="1050" spc="38" baseline="0"/>
            </a:lvl4pPr>
            <a:lvl5pPr marL="1371600" indent="0">
              <a:lnSpc>
                <a:spcPct val="100000"/>
              </a:lnSpc>
              <a:buNone/>
              <a:defRPr sz="1050" spc="38" baseline="0"/>
            </a:lvl5pPr>
          </a:lstStyle>
          <a:p>
            <a:pPr lvl="0" rtl="0"/>
            <a:r>
              <a:rPr lang="zh-TW" altLang="en-US" noProof="0"/>
              <a:t>按一下以編輯母片文字樣式</a:t>
            </a:r>
          </a:p>
        </p:txBody>
      </p:sp>
      <p:sp>
        <p:nvSpPr>
          <p:cNvPr id="26" name="內容版面配置區 10">
            <a:extLst>
              <a:ext uri="{FF2B5EF4-FFF2-40B4-BE49-F238E27FC236}">
                <a16:creationId xmlns:a16="http://schemas.microsoft.com/office/drawing/2014/main" id="{CCA3A81E-171B-4946-B8BA-B2F406CF0939}"/>
              </a:ext>
            </a:extLst>
          </p:cNvPr>
          <p:cNvSpPr>
            <a:spLocks noGrp="1"/>
          </p:cNvSpPr>
          <p:nvPr>
            <p:ph sz="quarter" idx="24" hasCustomPrompt="1"/>
          </p:nvPr>
        </p:nvSpPr>
        <p:spPr>
          <a:xfrm>
            <a:off x="6945241" y="2118642"/>
            <a:ext cx="1392174" cy="1664208"/>
          </a:xfrm>
        </p:spPr>
        <p:txBody>
          <a:bodyPr rtlCol="0" anchor="t">
            <a:noAutofit/>
          </a:bodyPr>
          <a:lstStyle>
            <a:lvl1pPr marL="0" indent="0" algn="ctr">
              <a:buNone/>
              <a:defRPr sz="1200">
                <a:latin typeface="Microsoft JhengHei UI" panose="020B0604030504040204" pitchFamily="34" charset="-120"/>
                <a:ea typeface="Microsoft JhengHei UI" panose="020B0604030504040204" pitchFamily="34" charset="-120"/>
              </a:defRPr>
            </a:lvl1pPr>
            <a:lvl2pPr marL="342900" indent="0">
              <a:buNone/>
              <a:defRPr sz="1200"/>
            </a:lvl2pPr>
            <a:lvl3pPr marL="685800" indent="0">
              <a:buNone/>
              <a:defRPr sz="1200"/>
            </a:lvl3pPr>
            <a:lvl4pPr marL="1028700" indent="0">
              <a:buNone/>
              <a:defRPr sz="1200"/>
            </a:lvl4pPr>
            <a:lvl5pPr marL="1371600" indent="0">
              <a:buNone/>
              <a:defRPr sz="1200"/>
            </a:lvl5pPr>
          </a:lstStyle>
          <a:p>
            <a:pPr lvl="0" rtl="0"/>
            <a:r>
              <a:rPr lang="zh-TW" altLang="en-US" noProof="0"/>
              <a:t>按一下以新增內容</a:t>
            </a:r>
          </a:p>
        </p:txBody>
      </p:sp>
      <p:sp>
        <p:nvSpPr>
          <p:cNvPr id="14" name="文字版面配置區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6767308" y="3788460"/>
            <a:ext cx="1748045" cy="804859"/>
          </a:xfrm>
        </p:spPr>
        <p:txBody>
          <a:bodyPr lIns="0" rIns="0" rtlCol="0" anchor="b">
            <a:noAutofit/>
          </a:bodyPr>
          <a:lstStyle>
            <a:lvl1pPr marL="0" indent="0" algn="ctr">
              <a:buNone/>
              <a:defRPr lang="en-US" sz="240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en-US" altLang="zh-TW" noProof="0"/>
              <a:t>#</a:t>
            </a:r>
          </a:p>
        </p:txBody>
      </p:sp>
      <p:sp>
        <p:nvSpPr>
          <p:cNvPr id="23" name="文字版面配置區 2">
            <a:extLst>
              <a:ext uri="{FF2B5EF4-FFF2-40B4-BE49-F238E27FC236}">
                <a16:creationId xmlns:a16="http://schemas.microsoft.com/office/drawing/2014/main" id="{B6439AAC-8A96-4015-8A87-ED8DF7027B60}"/>
              </a:ext>
            </a:extLst>
          </p:cNvPr>
          <p:cNvSpPr>
            <a:spLocks noGrp="1"/>
          </p:cNvSpPr>
          <p:nvPr>
            <p:ph type="body" idx="20"/>
          </p:nvPr>
        </p:nvSpPr>
        <p:spPr>
          <a:xfrm>
            <a:off x="6767308" y="4464461"/>
            <a:ext cx="1748045" cy="438505"/>
          </a:xfrm>
        </p:spPr>
        <p:txBody>
          <a:bodyPr lIns="0" rIns="0" rtlCol="0" anchor="b">
            <a:noAutofit/>
          </a:bodyPr>
          <a:lstStyle>
            <a:lvl1pPr marL="0" indent="0" algn="ctr">
              <a:buNone/>
              <a:defRPr lang="en-US" sz="1050" kern="1200" spc="113" baseline="0" dirty="0" smtClean="0">
                <a:solidFill>
                  <a:schemeClr val="tx1"/>
                </a:solidFill>
                <a:latin typeface="Microsoft JhengHei UI" panose="020B0604030504040204" pitchFamily="34" charset="-120"/>
                <a:ea typeface="Microsoft JhengHei UI" panose="020B0604030504040204" pitchFamily="34" charset="-120"/>
                <a:cs typeface="+mj-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rtl="0"/>
            <a:r>
              <a:rPr lang="zh-TW" altLang="en-US" noProof="0"/>
              <a:t>按一下以編輯母片文字樣式</a:t>
            </a:r>
          </a:p>
        </p:txBody>
      </p:sp>
      <p:sp>
        <p:nvSpPr>
          <p:cNvPr id="15" name="內容版面配置區 3">
            <a:extLst>
              <a:ext uri="{FF2B5EF4-FFF2-40B4-BE49-F238E27FC236}">
                <a16:creationId xmlns:a16="http://schemas.microsoft.com/office/drawing/2014/main" id="{492F9083-A886-4EEB-94D6-1FAE6DC33000}"/>
              </a:ext>
            </a:extLst>
          </p:cNvPr>
          <p:cNvSpPr>
            <a:spLocks noGrp="1"/>
          </p:cNvSpPr>
          <p:nvPr>
            <p:ph sz="half" idx="16"/>
          </p:nvPr>
        </p:nvSpPr>
        <p:spPr>
          <a:xfrm>
            <a:off x="6767308" y="5120373"/>
            <a:ext cx="1748045" cy="853167"/>
          </a:xfrm>
        </p:spPr>
        <p:txBody>
          <a:bodyPr lIns="0" rIns="0" rtlCol="0">
            <a:normAutofit/>
          </a:bodyPr>
          <a:lstStyle>
            <a:lvl1pPr marL="0" indent="0" algn="ctr">
              <a:lnSpc>
                <a:spcPct val="100000"/>
              </a:lnSpc>
              <a:buNone/>
              <a:defRPr sz="1050" spc="38" baseline="0">
                <a:latin typeface="Microsoft JhengHei UI" panose="020B0604030504040204" pitchFamily="34" charset="-120"/>
                <a:ea typeface="Microsoft JhengHei UI" panose="020B0604030504040204" pitchFamily="34" charset="-120"/>
              </a:defRPr>
            </a:lvl1pPr>
            <a:lvl2pPr marL="342900" indent="0">
              <a:lnSpc>
                <a:spcPct val="100000"/>
              </a:lnSpc>
              <a:buNone/>
              <a:defRPr sz="1050" spc="38" baseline="0"/>
            </a:lvl2pPr>
            <a:lvl3pPr marL="685800" indent="0">
              <a:lnSpc>
                <a:spcPct val="100000"/>
              </a:lnSpc>
              <a:buNone/>
              <a:defRPr sz="1050" spc="38" baseline="0"/>
            </a:lvl3pPr>
            <a:lvl4pPr marL="1028700" indent="0">
              <a:lnSpc>
                <a:spcPct val="100000"/>
              </a:lnSpc>
              <a:buNone/>
              <a:defRPr sz="1050" spc="38" baseline="0"/>
            </a:lvl4pPr>
            <a:lvl5pPr marL="1371600" indent="0">
              <a:lnSpc>
                <a:spcPct val="100000"/>
              </a:lnSpc>
              <a:buNone/>
              <a:defRPr sz="1050" spc="38" baseline="0"/>
            </a:lvl5pPr>
          </a:lstStyle>
          <a:p>
            <a:pPr lvl="0" rtl="0"/>
            <a:r>
              <a:rPr lang="zh-TW" altLang="en-US" noProof="0"/>
              <a:t>按一下以編輯母片文字樣式</a:t>
            </a:r>
          </a:p>
        </p:txBody>
      </p:sp>
      <p:sp>
        <p:nvSpPr>
          <p:cNvPr id="7" name="日期版面配置區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8" name="頁尾版面配置區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9" name="投影片編號版面配置區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摘要">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3A3821F-4537-4AE7-8829-C2E3AE60F6E1}"/>
              </a:ext>
            </a:extLst>
          </p:cNvPr>
          <p:cNvSpPr>
            <a:spLocks noGrp="1"/>
          </p:cNvSpPr>
          <p:nvPr>
            <p:ph type="title"/>
          </p:nvPr>
        </p:nvSpPr>
        <p:spPr>
          <a:xfrm>
            <a:off x="4107659" y="1671639"/>
            <a:ext cx="3833813" cy="1204912"/>
          </a:xfrm>
        </p:spPr>
        <p:txBody>
          <a:bodyPr rtlCol="0" anchor="b">
            <a:normAutofit/>
          </a:bodyPr>
          <a:lstStyle>
            <a:lvl1pPr>
              <a:defRPr lang="en-US" sz="2100" kern="1200" cap="all" spc="113" baseline="0" dirty="0">
                <a:solidFill>
                  <a:schemeClr val="tx1"/>
                </a:solidFill>
                <a:latin typeface="Microsoft JhengHei UI" panose="020B0604030504040204" pitchFamily="34" charset="-120"/>
                <a:ea typeface="Microsoft JhengHei UI" panose="020B0604030504040204" pitchFamily="34" charset="-120"/>
                <a:cs typeface="+mj-cs"/>
              </a:defRPr>
            </a:lvl1p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92FD4279-EA62-4397-878A-73F4948DB176}"/>
              </a:ext>
            </a:extLst>
          </p:cNvPr>
          <p:cNvSpPr>
            <a:spLocks noGrp="1"/>
          </p:cNvSpPr>
          <p:nvPr>
            <p:ph type="body" idx="1"/>
          </p:nvPr>
        </p:nvSpPr>
        <p:spPr>
          <a:xfrm>
            <a:off x="4107659" y="3682546"/>
            <a:ext cx="3833813" cy="1525588"/>
          </a:xfrm>
        </p:spPr>
        <p:txBody>
          <a:bodyPr rtlCol="0" anchor="b">
            <a:normAutofit/>
          </a:bodyPr>
          <a:lstStyle>
            <a:lvl1pPr marL="0" indent="0">
              <a:lnSpc>
                <a:spcPct val="100000"/>
              </a:lnSpc>
              <a:buNone/>
              <a:defRPr sz="1050" spc="38" baseline="0">
                <a:solidFill>
                  <a:schemeClr val="tx1"/>
                </a:solidFill>
                <a:latin typeface="Microsoft JhengHei UI" panose="020B0604030504040204" pitchFamily="34" charset="-120"/>
                <a:ea typeface="Microsoft JhengHei UI" panose="020B0604030504040204" pitchFamily="34" charset="-12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rtl="0"/>
            <a:r>
              <a:rPr lang="zh-TW" altLang="en-US" noProof="0"/>
              <a:t>按一下以編輯母片文字樣式</a:t>
            </a:r>
          </a:p>
        </p:txBody>
      </p:sp>
      <p:cxnSp>
        <p:nvCxnSpPr>
          <p:cNvPr id="23" name="直線接點​​(S) 22">
            <a:extLst>
              <a:ext uri="{FF2B5EF4-FFF2-40B4-BE49-F238E27FC236}">
                <a16:creationId xmlns:a16="http://schemas.microsoft.com/office/drawing/2014/main" id="{D87F08D6-2CA7-4A5A-BE34-07113DCA535D}"/>
              </a:ext>
            </a:extLst>
          </p:cNvPr>
          <p:cNvCxnSpPr>
            <a:cxnSpLocks/>
          </p:cNvCxnSpPr>
          <p:nvPr/>
        </p:nvCxnSpPr>
        <p:spPr>
          <a:xfrm flipH="1" flipV="1">
            <a:off x="2" y="876307"/>
            <a:ext cx="3571875"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線接點​​(S) 11">
            <a:extLst>
              <a:ext uri="{FF2B5EF4-FFF2-40B4-BE49-F238E27FC236}">
                <a16:creationId xmlns:a16="http://schemas.microsoft.com/office/drawing/2014/main" id="{A768C87F-B9C3-4DFF-8454-F3F52CE4346B}"/>
              </a:ext>
            </a:extLst>
          </p:cNvPr>
          <p:cNvCxnSpPr>
            <a:cxnSpLocks/>
          </p:cNvCxnSpPr>
          <p:nvPr/>
        </p:nvCxnSpPr>
        <p:spPr>
          <a:xfrm flipH="1" flipV="1">
            <a:off x="1978820" y="7"/>
            <a:ext cx="1593057"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日期版面配置區 6">
            <a:extLst>
              <a:ext uri="{FF2B5EF4-FFF2-40B4-BE49-F238E27FC236}">
                <a16:creationId xmlns:a16="http://schemas.microsoft.com/office/drawing/2014/main" id="{71F34533-9677-48AF-9374-976825F4BB7E}"/>
              </a:ext>
            </a:extLst>
          </p:cNvPr>
          <p:cNvSpPr>
            <a:spLocks noGrp="1"/>
          </p:cNvSpPr>
          <p:nvPr>
            <p:ph type="dt" sz="half" idx="10"/>
          </p:nvPr>
        </p:nvSpPr>
        <p:spPr>
          <a:xfrm>
            <a:off x="6286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22" name="頁尾版面配置區 7">
            <a:extLst>
              <a:ext uri="{FF2B5EF4-FFF2-40B4-BE49-F238E27FC236}">
                <a16:creationId xmlns:a16="http://schemas.microsoft.com/office/drawing/2014/main" id="{4FAB8A26-B99E-4F96-8327-A932A14F2C03}"/>
              </a:ext>
            </a:extLst>
          </p:cNvPr>
          <p:cNvSpPr>
            <a:spLocks noGrp="1"/>
          </p:cNvSpPr>
          <p:nvPr>
            <p:ph type="ftr" sz="quarter" idx="11"/>
          </p:nvPr>
        </p:nvSpPr>
        <p:spPr>
          <a:xfrm>
            <a:off x="3028950" y="6356357"/>
            <a:ext cx="30861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24" name="投影片編號版面配置區 8">
            <a:extLst>
              <a:ext uri="{FF2B5EF4-FFF2-40B4-BE49-F238E27FC236}">
                <a16:creationId xmlns:a16="http://schemas.microsoft.com/office/drawing/2014/main" id="{EB0962D2-BCC3-48AB-A769-2A7327D29191}"/>
              </a:ext>
            </a:extLst>
          </p:cNvPr>
          <p:cNvSpPr>
            <a:spLocks noGrp="1"/>
          </p:cNvSpPr>
          <p:nvPr>
            <p:ph type="sldNum" sz="quarter" idx="12"/>
          </p:nvPr>
        </p:nvSpPr>
        <p:spPr>
          <a:xfrm>
            <a:off x="6457950" y="6356357"/>
            <a:ext cx="2057400"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2250"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結語">
    <p:bg>
      <p:bgPr>
        <a:solidFill>
          <a:schemeClr val="tx1"/>
        </a:solidFill>
        <a:effectLst/>
      </p:bgPr>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15B3628-62D7-4A6D-A79F-34DE91DBA31E}"/>
              </a:ext>
            </a:extLst>
          </p:cNvPr>
          <p:cNvSpPr>
            <a:spLocks noGrp="1"/>
          </p:cNvSpPr>
          <p:nvPr>
            <p:ph type="ctrTitle"/>
          </p:nvPr>
        </p:nvSpPr>
        <p:spPr>
          <a:xfrm>
            <a:off x="3200401" y="1615743"/>
            <a:ext cx="3134678" cy="1524735"/>
          </a:xfrm>
        </p:spPr>
        <p:txBody>
          <a:bodyPr rtlCol="0" anchor="b">
            <a:noAutofit/>
          </a:bodyPr>
          <a:lstStyle>
            <a:lvl1pPr algn="l">
              <a:defRPr sz="2400" spc="113" baseline="0">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noProof="0"/>
              <a:t>按一下以編輯母片標題樣式</a:t>
            </a:r>
          </a:p>
        </p:txBody>
      </p:sp>
      <p:sp>
        <p:nvSpPr>
          <p:cNvPr id="3" name="副標題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3200401" y="3238110"/>
            <a:ext cx="3134678" cy="2004161"/>
          </a:xfrm>
        </p:spPr>
        <p:txBody>
          <a:bodyPr rtlCol="0">
            <a:normAutofit/>
          </a:bodyPr>
          <a:lstStyle>
            <a:lvl1pPr marL="0" indent="0" algn="l">
              <a:lnSpc>
                <a:spcPct val="150000"/>
              </a:lnSpc>
              <a:buNone/>
              <a:defRPr sz="1050" spc="38" baseline="0">
                <a:solidFill>
                  <a:schemeClr val="bg1"/>
                </a:solidFill>
                <a:latin typeface="Microsoft JhengHei UI" panose="020B0604030504040204" pitchFamily="34" charset="-120"/>
                <a:ea typeface="Microsoft JhengHei UI" panose="020B0604030504040204" pitchFamily="34" charset="-12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rtl="0"/>
            <a:r>
              <a:rPr lang="zh-TW" altLang="en-US" noProof="0"/>
              <a:t>按一下以編輯母片副標題樣式</a:t>
            </a:r>
          </a:p>
        </p:txBody>
      </p:sp>
      <p:pic>
        <p:nvPicPr>
          <p:cNvPr id="6" name="圖形 5">
            <a:extLst>
              <a:ext uri="{FF2B5EF4-FFF2-40B4-BE49-F238E27FC236}">
                <a16:creationId xmlns:a16="http://schemas.microsoft.com/office/drawing/2014/main" id="{ED3361C9-310A-4255-A94E-B77588962D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2382704" cy="6858000"/>
          </a:xfrm>
          <a:prstGeom prst="rect">
            <a:avLst/>
          </a:prstGeom>
        </p:spPr>
      </p:pic>
      <p:sp>
        <p:nvSpPr>
          <p:cNvPr id="9" name="日期版面配置區 6">
            <a:extLst>
              <a:ext uri="{FF2B5EF4-FFF2-40B4-BE49-F238E27FC236}">
                <a16:creationId xmlns:a16="http://schemas.microsoft.com/office/drawing/2014/main" id="{BF358517-D7B7-40D0-A9D0-B650C80898AC}"/>
              </a:ext>
            </a:extLst>
          </p:cNvPr>
          <p:cNvSpPr>
            <a:spLocks noGrp="1"/>
          </p:cNvSpPr>
          <p:nvPr>
            <p:ph type="dt" sz="half" idx="10"/>
          </p:nvPr>
        </p:nvSpPr>
        <p:spPr>
          <a:xfrm>
            <a:off x="3200401" y="6356357"/>
            <a:ext cx="1330778"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10" name="頁尾版面配置區 7">
            <a:extLst>
              <a:ext uri="{FF2B5EF4-FFF2-40B4-BE49-F238E27FC236}">
                <a16:creationId xmlns:a16="http://schemas.microsoft.com/office/drawing/2014/main" id="{6026D44C-0B39-4DE1-A0FC-5615DDAAE3CE}"/>
              </a:ext>
            </a:extLst>
          </p:cNvPr>
          <p:cNvSpPr>
            <a:spLocks noGrp="1"/>
          </p:cNvSpPr>
          <p:nvPr>
            <p:ph type="ftr" sz="quarter" idx="11"/>
          </p:nvPr>
        </p:nvSpPr>
        <p:spPr>
          <a:xfrm>
            <a:off x="4859793" y="6356357"/>
            <a:ext cx="1996168"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11" name="投影片編號版面配置區 8">
            <a:extLst>
              <a:ext uri="{FF2B5EF4-FFF2-40B4-BE49-F238E27FC236}">
                <a16:creationId xmlns:a16="http://schemas.microsoft.com/office/drawing/2014/main" id="{0F8222B4-B618-42C4-8BDB-D2E4DF2F22C3}"/>
              </a:ext>
            </a:extLst>
          </p:cNvPr>
          <p:cNvSpPr>
            <a:spLocks noGrp="1"/>
          </p:cNvSpPr>
          <p:nvPr>
            <p:ph type="sldNum" sz="quarter" idx="12"/>
          </p:nvPr>
        </p:nvSpPr>
        <p:spPr>
          <a:xfrm>
            <a:off x="7184572" y="6356357"/>
            <a:ext cx="1330778" cy="365125"/>
          </a:xfrm>
        </p:spPr>
        <p:txBody>
          <a:bodyPr rtlCol="0"/>
          <a:lstStyle>
            <a:lvl1pPr>
              <a:defRPr sz="675">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8F4C17E5-24ED-44BC-BA50-02EF903552E1}"/>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pPr rtl="0"/>
            <a:r>
              <a:rPr lang="zh-TW" altLang="en-US" noProof="0"/>
              <a:t>按一下以編輯母片標題樣式</a:t>
            </a:r>
          </a:p>
        </p:txBody>
      </p:sp>
      <p:sp>
        <p:nvSpPr>
          <p:cNvPr id="3" name="文字版面配置區 2">
            <a:extLst>
              <a:ext uri="{FF2B5EF4-FFF2-40B4-BE49-F238E27FC236}">
                <a16:creationId xmlns:a16="http://schemas.microsoft.com/office/drawing/2014/main" id="{4833D101-3AF0-4F06-90ED-B83615C36CE9}"/>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rtl="0"/>
            <a:r>
              <a:rPr lang="zh-TW" altLang="en-US" noProof="0"/>
              <a:t>按一下以編輯母片文字樣式</a:t>
            </a:r>
          </a:p>
          <a:p>
            <a:pPr lvl="1" rtl="0"/>
            <a:r>
              <a:rPr lang="zh-TW" altLang="en-US" noProof="0"/>
              <a:t>第二層</a:t>
            </a:r>
          </a:p>
          <a:p>
            <a:pPr lvl="2" rtl="0"/>
            <a:r>
              <a:rPr lang="zh-TW" altLang="en-US" noProof="0"/>
              <a:t>第三層</a:t>
            </a:r>
          </a:p>
          <a:p>
            <a:pPr lvl="3" rtl="0"/>
            <a:r>
              <a:rPr lang="zh-TW" altLang="en-US" noProof="0"/>
              <a:t>第四層</a:t>
            </a:r>
          </a:p>
          <a:p>
            <a:pPr lvl="4" rtl="0"/>
            <a:r>
              <a:rPr lang="zh-TW" altLang="en-US" noProof="0"/>
              <a:t>第五層</a:t>
            </a:r>
          </a:p>
        </p:txBody>
      </p:sp>
      <p:sp>
        <p:nvSpPr>
          <p:cNvPr id="4" name="日期版面配置區 3">
            <a:extLst>
              <a:ext uri="{FF2B5EF4-FFF2-40B4-BE49-F238E27FC236}">
                <a16:creationId xmlns:a16="http://schemas.microsoft.com/office/drawing/2014/main" id="{C2AE9FDE-AF95-49F8-A927-35A23C9E6532}"/>
              </a:ext>
            </a:extLst>
          </p:cNvPr>
          <p:cNvSpPr>
            <a:spLocks noGrp="1"/>
          </p:cNvSpPr>
          <p:nvPr>
            <p:ph type="dt" sz="half" idx="2"/>
          </p:nvPr>
        </p:nvSpPr>
        <p:spPr>
          <a:xfrm>
            <a:off x="628650" y="6356357"/>
            <a:ext cx="2057400" cy="365125"/>
          </a:xfrm>
          <a:prstGeom prst="rect">
            <a:avLst/>
          </a:prstGeom>
        </p:spPr>
        <p:txBody>
          <a:bodyPr vert="horz" lIns="91440" tIns="45720" rIns="91440" bIns="45720" rtlCol="0" anchor="ctr"/>
          <a:lstStyle>
            <a:lvl1pPr algn="l">
              <a:defRPr sz="675">
                <a:solidFill>
                  <a:schemeClr val="tx1">
                    <a:tint val="75000"/>
                  </a:schemeClr>
                </a:solidFill>
                <a:latin typeface="Microsoft JhengHei UI" panose="020B0604030504040204" pitchFamily="34" charset="-120"/>
                <a:ea typeface="Microsoft JhengHei UI" panose="020B0604030504040204" pitchFamily="34" charset="-120"/>
              </a:defRPr>
            </a:lvl1pPr>
          </a:lstStyle>
          <a:p>
            <a:r>
              <a:rPr lang="en-US" altLang="zh-TW" noProof="0"/>
              <a:t>20XX </a:t>
            </a:r>
            <a:r>
              <a:rPr lang="zh-TW" altLang="en-US" noProof="0"/>
              <a:t>年</a:t>
            </a:r>
          </a:p>
        </p:txBody>
      </p:sp>
      <p:sp>
        <p:nvSpPr>
          <p:cNvPr id="5" name="頁尾版面配置區 4">
            <a:extLst>
              <a:ext uri="{FF2B5EF4-FFF2-40B4-BE49-F238E27FC236}">
                <a16:creationId xmlns:a16="http://schemas.microsoft.com/office/drawing/2014/main" id="{CC2E900D-8FF9-4E80-860D-89C2D3B4E4E1}"/>
              </a:ext>
            </a:extLst>
          </p:cNvPr>
          <p:cNvSpPr>
            <a:spLocks noGrp="1"/>
          </p:cNvSpPr>
          <p:nvPr>
            <p:ph type="ftr" sz="quarter" idx="3"/>
          </p:nvPr>
        </p:nvSpPr>
        <p:spPr>
          <a:xfrm>
            <a:off x="3028950" y="6356357"/>
            <a:ext cx="3086100" cy="365125"/>
          </a:xfrm>
          <a:prstGeom prst="rect">
            <a:avLst/>
          </a:prstGeom>
        </p:spPr>
        <p:txBody>
          <a:bodyPr vert="horz" lIns="91440" tIns="45720" rIns="91440" bIns="45720" rtlCol="0" anchor="ctr"/>
          <a:lstStyle>
            <a:lvl1pPr algn="ctr">
              <a:defRPr sz="675">
                <a:solidFill>
                  <a:schemeClr val="tx1">
                    <a:tint val="75000"/>
                  </a:schemeClr>
                </a:solidFill>
                <a:latin typeface="Microsoft JhengHei UI" panose="020B0604030504040204" pitchFamily="34" charset="-120"/>
                <a:ea typeface="Microsoft JhengHei UI" panose="020B0604030504040204" pitchFamily="34" charset="-120"/>
              </a:defRPr>
            </a:lvl1pPr>
          </a:lstStyle>
          <a:p>
            <a:r>
              <a:rPr lang="zh-TW" altLang="en-US" noProof="0"/>
              <a:t>募資簡報</a:t>
            </a:r>
          </a:p>
        </p:txBody>
      </p:sp>
      <p:sp>
        <p:nvSpPr>
          <p:cNvPr id="6" name="投影片編號版面配置區 5">
            <a:extLst>
              <a:ext uri="{FF2B5EF4-FFF2-40B4-BE49-F238E27FC236}">
                <a16:creationId xmlns:a16="http://schemas.microsoft.com/office/drawing/2014/main" id="{F1A66A0C-1415-46A3-A1FF-BE18C70873E3}"/>
              </a:ext>
            </a:extLst>
          </p:cNvPr>
          <p:cNvSpPr>
            <a:spLocks noGrp="1"/>
          </p:cNvSpPr>
          <p:nvPr>
            <p:ph type="sldNum" sz="quarter" idx="4"/>
          </p:nvPr>
        </p:nvSpPr>
        <p:spPr>
          <a:xfrm>
            <a:off x="6457950" y="6356357"/>
            <a:ext cx="2057400" cy="365125"/>
          </a:xfrm>
          <a:prstGeom prst="rect">
            <a:avLst/>
          </a:prstGeom>
        </p:spPr>
        <p:txBody>
          <a:bodyPr vert="horz" lIns="91440" tIns="45720" rIns="91440" bIns="45720" rtlCol="0" anchor="ctr"/>
          <a:lstStyle>
            <a:lvl1pPr algn="r">
              <a:defRPr sz="675">
                <a:solidFill>
                  <a:schemeClr val="tx1">
                    <a:tint val="75000"/>
                  </a:schemeClr>
                </a:solidFill>
                <a:latin typeface="Microsoft JhengHei UI" panose="020B0604030504040204" pitchFamily="34" charset="-120"/>
                <a:ea typeface="Microsoft JhengHei UI" panose="020B0604030504040204" pitchFamily="34" charset="-120"/>
              </a:defRPr>
            </a:lvl1pPr>
          </a:lstStyle>
          <a:p>
            <a:fld id="{B5CEABB6-07DC-46E8-9B57-56EC44A396E5}" type="slidenum">
              <a:rPr lang="en-US" altLang="zh-TW" noProof="0" smtClean="0"/>
              <a:pPr/>
              <a:t>‹#›</a:t>
            </a:fld>
            <a:endParaRPr lang="zh-TW" altLang="en-US" noProof="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700" r:id="rId12"/>
    <p:sldLayoutId id="2147483679" r:id="rId13"/>
    <p:sldLayoutId id="2147483692" r:id="rId14"/>
    <p:sldLayoutId id="2147483681" r:id="rId15"/>
    <p:sldLayoutId id="2147483674" r:id="rId16"/>
    <p:sldLayoutId id="2147483675" r:id="rId17"/>
    <p:sldLayoutId id="2147483696" r:id="rId18"/>
    <p:sldLayoutId id="2147483677" r:id="rId19"/>
    <p:sldLayoutId id="2147483678" r:id="rId20"/>
  </p:sldLayoutIdLst>
  <p:hf hdr="0" ftr="0" dt="0"/>
  <p:txStyles>
    <p:titleStyle>
      <a:lvl1pPr algn="l" defTabSz="685800" rtl="0" eaLnBrk="1" latinLnBrk="0" hangingPunct="1">
        <a:lnSpc>
          <a:spcPct val="90000"/>
        </a:lnSpc>
        <a:spcBef>
          <a:spcPct val="0"/>
        </a:spcBef>
        <a:buNone/>
        <a:defRPr sz="3300" kern="1200" cap="all" baseline="0">
          <a:solidFill>
            <a:schemeClr val="tx1"/>
          </a:solidFill>
          <a:latin typeface="Microsoft JhengHei UI" panose="020B0604030504040204" pitchFamily="34" charset="-120"/>
          <a:ea typeface="Microsoft JhengHei UI" panose="020B0604030504040204" pitchFamily="34" charset="-120"/>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icrosoft JhengHei UI" panose="020B0604030504040204" pitchFamily="34" charset="-120"/>
          <a:ea typeface="Microsoft JhengHei UI" panose="020B0604030504040204" pitchFamily="34" charset="-120"/>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icrosoft JhengHei UI" panose="020B0604030504040204" pitchFamily="34" charset="-120"/>
          <a:ea typeface="Microsoft JhengHei UI" panose="020B0604030504040204" pitchFamily="34" charset="-120"/>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icrosoft JhengHei UI" panose="020B0604030504040204" pitchFamily="34" charset="-120"/>
          <a:ea typeface="Microsoft JhengHei UI" panose="020B0604030504040204" pitchFamily="34" charset="-120"/>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icrosoft JhengHei UI" panose="020B0604030504040204" pitchFamily="34" charset="-120"/>
          <a:ea typeface="Microsoft JhengHei UI" panose="020B0604030504040204" pitchFamily="34" charset="-120"/>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icrosoft JhengHei UI" panose="020B0604030504040204" pitchFamily="34" charset="-120"/>
          <a:ea typeface="Microsoft JhengHei UI" panose="020B0604030504040204" pitchFamily="34" charset="-120"/>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8.xml"/><Relationship Id="rId1" Type="http://schemas.openxmlformats.org/officeDocument/2006/relationships/themeOverride" Target="../theme/themeOverride1.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image" Target="../media/image21.jpg"/><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16815C6-3AD0-46E6-A74A-1967BD91AF50}"/>
              </a:ext>
            </a:extLst>
          </p:cNvPr>
          <p:cNvSpPr>
            <a:spLocks noGrp="1"/>
          </p:cNvSpPr>
          <p:nvPr>
            <p:ph type="title"/>
          </p:nvPr>
        </p:nvSpPr>
        <p:spPr>
          <a:xfrm>
            <a:off x="1787237" y="2317174"/>
            <a:ext cx="6909954" cy="1608090"/>
          </a:xfrm>
        </p:spPr>
        <p:txBody>
          <a:bodyPr rtlCol="0">
            <a:noAutofit/>
          </a:bodyPr>
          <a:lstStyle/>
          <a:p>
            <a:pPr algn="just"/>
            <a:r>
              <a:rPr lang="zh-TW" altLang="zh-TW" sz="3600" dirty="0"/>
              <a:t>基於對抗式攻擊與情資平台之</a:t>
            </a:r>
            <a:r>
              <a:rPr lang="en-US" altLang="zh-TW" sz="3600" dirty="0"/>
              <a:t> HTTP/3 </a:t>
            </a:r>
            <a:r>
              <a:rPr lang="zh-TW" altLang="zh-TW" sz="3600" dirty="0"/>
              <a:t>加密流量自動化安全防禦框架</a:t>
            </a:r>
            <a:endParaRPr lang="zh-TW" altLang="en-US" sz="3600" dirty="0"/>
          </a:p>
        </p:txBody>
      </p:sp>
      <p:sp>
        <p:nvSpPr>
          <p:cNvPr id="10" name="文字版面配置區 9">
            <a:extLst>
              <a:ext uri="{FF2B5EF4-FFF2-40B4-BE49-F238E27FC236}">
                <a16:creationId xmlns:a16="http://schemas.microsoft.com/office/drawing/2014/main" id="{D723BB82-24E0-21F6-0763-4B89733402E0}"/>
              </a:ext>
            </a:extLst>
          </p:cNvPr>
          <p:cNvSpPr>
            <a:spLocks noGrp="1"/>
          </p:cNvSpPr>
          <p:nvPr>
            <p:ph type="body" sz="quarter" idx="28"/>
          </p:nvPr>
        </p:nvSpPr>
        <p:spPr>
          <a:xfrm>
            <a:off x="2752595" y="4205223"/>
            <a:ext cx="5123714" cy="1504181"/>
          </a:xfrm>
        </p:spPr>
        <p:txBody>
          <a:bodyPr>
            <a:noAutofit/>
          </a:bodyPr>
          <a:lstStyle/>
          <a:p>
            <a:r>
              <a:rPr lang="zh-TW" altLang="en-US" sz="2400" dirty="0"/>
              <a:t>指導教授：王智弘教授</a:t>
            </a:r>
            <a:endParaRPr lang="en-US" altLang="zh-TW" sz="2400" dirty="0"/>
          </a:p>
          <a:p>
            <a:r>
              <a:rPr lang="zh-TW" altLang="en-US" sz="2400" dirty="0"/>
              <a:t>組員資訊：</a:t>
            </a:r>
            <a:r>
              <a:rPr lang="en-US" altLang="zh-TW" sz="2400" dirty="0"/>
              <a:t>1122931</a:t>
            </a:r>
            <a:r>
              <a:rPr lang="zh-TW" altLang="en-US" sz="2400" dirty="0"/>
              <a:t> 莊博宇</a:t>
            </a:r>
            <a:endParaRPr lang="en-US" altLang="zh-TW" sz="2400" dirty="0"/>
          </a:p>
          <a:p>
            <a:r>
              <a:rPr lang="en-US" altLang="zh-TW" sz="2400" dirty="0"/>
              <a:t>		</a:t>
            </a:r>
            <a:r>
              <a:rPr lang="zh-TW" altLang="en-US" sz="2400" dirty="0"/>
              <a:t>  </a:t>
            </a:r>
            <a:r>
              <a:rPr lang="en-US" altLang="zh-TW" sz="2400" dirty="0"/>
              <a:t>1122930</a:t>
            </a:r>
            <a:r>
              <a:rPr lang="zh-TW" altLang="en-US" sz="2400" dirty="0"/>
              <a:t> 闕帝軒</a:t>
            </a:r>
            <a:endParaRPr lang="en-US" altLang="zh-TW" sz="2400" dirty="0"/>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19A9ACD-BD44-004B-135E-E820AB04F37A}"/>
              </a:ext>
            </a:extLst>
          </p:cNvPr>
          <p:cNvSpPr>
            <a:spLocks noGrp="1"/>
          </p:cNvSpPr>
          <p:nvPr>
            <p:ph type="title"/>
          </p:nvPr>
        </p:nvSpPr>
        <p:spPr>
          <a:xfrm>
            <a:off x="628650" y="914400"/>
            <a:ext cx="7886700" cy="893024"/>
          </a:xfrm>
        </p:spPr>
        <p:txBody>
          <a:bodyPr anchor="ctr">
            <a:normAutofit/>
          </a:bodyPr>
          <a:lstStyle/>
          <a:p>
            <a:r>
              <a:rPr lang="zh-TW" altLang="en-US" sz="3600" dirty="0"/>
              <a:t>研究動機</a:t>
            </a:r>
          </a:p>
        </p:txBody>
      </p:sp>
      <p:sp>
        <p:nvSpPr>
          <p:cNvPr id="4" name="投影片編號版面配置區 3">
            <a:extLst>
              <a:ext uri="{FF2B5EF4-FFF2-40B4-BE49-F238E27FC236}">
                <a16:creationId xmlns:a16="http://schemas.microsoft.com/office/drawing/2014/main" id="{7BB098B2-35B8-AC37-487E-26E1D383FD2F}"/>
              </a:ext>
            </a:extLst>
          </p:cNvPr>
          <p:cNvSpPr>
            <a:spLocks noGrp="1"/>
          </p:cNvSpPr>
          <p:nvPr>
            <p:ph type="sldNum" sz="quarter" idx="12"/>
          </p:nvPr>
        </p:nvSpPr>
        <p:spPr>
          <a:xfrm>
            <a:off x="6457950" y="6356357"/>
            <a:ext cx="2057400" cy="365125"/>
          </a:xfrm>
        </p:spPr>
        <p:txBody>
          <a:bodyPr anchor="ctr">
            <a:normAutofit/>
          </a:bodyPr>
          <a:lstStyle/>
          <a:p>
            <a:pPr>
              <a:spcAft>
                <a:spcPts val="600"/>
              </a:spcAft>
            </a:pPr>
            <a:fld id="{B5CEABB6-07DC-46E8-9B57-56EC44A396E5}" type="slidenum">
              <a:rPr lang="en-US" altLang="zh-TW" sz="800" noProof="0" smtClean="0"/>
              <a:pPr>
                <a:spcAft>
                  <a:spcPts val="600"/>
                </a:spcAft>
              </a:pPr>
              <a:t>2</a:t>
            </a:fld>
            <a:endParaRPr lang="zh-TW" altLang="en-US" sz="800" noProof="0" dirty="0"/>
          </a:p>
        </p:txBody>
      </p:sp>
      <p:graphicFrame>
        <p:nvGraphicFramePr>
          <p:cNvPr id="12" name="Rectangle 2">
            <a:extLst>
              <a:ext uri="{FF2B5EF4-FFF2-40B4-BE49-F238E27FC236}">
                <a16:creationId xmlns:a16="http://schemas.microsoft.com/office/drawing/2014/main" id="{7506A803-41FA-90C3-76AD-C22ABD5FEF43}"/>
              </a:ext>
            </a:extLst>
          </p:cNvPr>
          <p:cNvGraphicFramePr/>
          <p:nvPr>
            <p:extLst>
              <p:ext uri="{D42A27DB-BD31-4B8C-83A1-F6EECF244321}">
                <p14:modId xmlns:p14="http://schemas.microsoft.com/office/powerpoint/2010/main" val="2646171045"/>
              </p:ext>
            </p:extLst>
          </p:nvPr>
        </p:nvGraphicFramePr>
        <p:xfrm>
          <a:off x="628650" y="1807423"/>
          <a:ext cx="7886700" cy="44271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892631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C9424AE-6F6E-8078-FD3E-A0F28695065A}"/>
              </a:ext>
            </a:extLst>
          </p:cNvPr>
          <p:cNvSpPr>
            <a:spLocks noGrp="1"/>
          </p:cNvSpPr>
          <p:nvPr>
            <p:ph type="title"/>
          </p:nvPr>
        </p:nvSpPr>
        <p:spPr>
          <a:xfrm>
            <a:off x="2142082" y="812745"/>
            <a:ext cx="6043353" cy="902070"/>
          </a:xfrm>
        </p:spPr>
        <p:txBody>
          <a:bodyPr anchor="ctr">
            <a:noAutofit/>
          </a:bodyPr>
          <a:lstStyle/>
          <a:p>
            <a:r>
              <a:rPr lang="zh-TW" altLang="en-US" sz="3600" dirty="0"/>
              <a:t>文獻</a:t>
            </a:r>
            <a:r>
              <a:rPr lang="en-US" altLang="zh-TW" sz="3600" dirty="0"/>
              <a:t>/</a:t>
            </a:r>
            <a:r>
              <a:rPr lang="zh-TW" altLang="en-US" sz="3600" dirty="0"/>
              <a:t>既有系統服務探討 </a:t>
            </a:r>
          </a:p>
        </p:txBody>
      </p:sp>
      <p:sp>
        <p:nvSpPr>
          <p:cNvPr id="10" name="文字版面配置區 9">
            <a:extLst>
              <a:ext uri="{FF2B5EF4-FFF2-40B4-BE49-F238E27FC236}">
                <a16:creationId xmlns:a16="http://schemas.microsoft.com/office/drawing/2014/main" id="{00458924-0E05-78EC-CE07-66FDE5E46E73}"/>
              </a:ext>
            </a:extLst>
          </p:cNvPr>
          <p:cNvSpPr>
            <a:spLocks noGrp="1"/>
          </p:cNvSpPr>
          <p:nvPr>
            <p:ph type="body" sz="quarter" idx="27"/>
          </p:nvPr>
        </p:nvSpPr>
        <p:spPr>
          <a:xfrm>
            <a:off x="1845307" y="1945312"/>
            <a:ext cx="6806880" cy="365125"/>
          </a:xfrm>
        </p:spPr>
        <p:txBody>
          <a:bodyPr>
            <a:noAutofit/>
          </a:bodyPr>
          <a:lstStyle/>
          <a:p>
            <a:pPr algn="ctr"/>
            <a:r>
              <a:rPr lang="zh-TW" altLang="en-US" sz="2800" dirty="0"/>
              <a:t>加密流量分析與 </a:t>
            </a:r>
            <a:r>
              <a:rPr lang="en-US" altLang="zh-TW" sz="2800" dirty="0"/>
              <a:t>HTTP/3 (QUIC) </a:t>
            </a:r>
            <a:r>
              <a:rPr lang="zh-TW" altLang="en-US" sz="2800" dirty="0"/>
              <a:t>的挑戰</a:t>
            </a:r>
          </a:p>
        </p:txBody>
      </p:sp>
      <p:sp>
        <p:nvSpPr>
          <p:cNvPr id="9" name="投影片編號版面配置區 8">
            <a:extLst>
              <a:ext uri="{FF2B5EF4-FFF2-40B4-BE49-F238E27FC236}">
                <a16:creationId xmlns:a16="http://schemas.microsoft.com/office/drawing/2014/main" id="{EC9E3769-B283-81F0-D7E3-435216CA13F1}"/>
              </a:ext>
            </a:extLst>
          </p:cNvPr>
          <p:cNvSpPr>
            <a:spLocks noGrp="1"/>
          </p:cNvSpPr>
          <p:nvPr>
            <p:ph type="sldNum" sz="quarter" idx="22"/>
          </p:nvPr>
        </p:nvSpPr>
        <p:spPr/>
        <p:txBody>
          <a:bodyPr anchor="ctr">
            <a:normAutofit/>
          </a:bodyPr>
          <a:lstStyle/>
          <a:p>
            <a:pPr>
              <a:spcAft>
                <a:spcPts val="600"/>
              </a:spcAft>
            </a:pPr>
            <a:fld id="{B5CEABB6-07DC-46E8-9B57-56EC44A396E5}" type="slidenum">
              <a:rPr lang="en-US" altLang="zh-TW" sz="800" noProof="0" smtClean="0"/>
              <a:pPr>
                <a:spcAft>
                  <a:spcPts val="600"/>
                </a:spcAft>
              </a:pPr>
              <a:t>3</a:t>
            </a:fld>
            <a:endParaRPr lang="zh-TW" altLang="en-US" sz="800" noProof="0" dirty="0"/>
          </a:p>
        </p:txBody>
      </p:sp>
      <p:sp>
        <p:nvSpPr>
          <p:cNvPr id="13" name="Rectangle 1">
            <a:extLst>
              <a:ext uri="{FF2B5EF4-FFF2-40B4-BE49-F238E27FC236}">
                <a16:creationId xmlns:a16="http://schemas.microsoft.com/office/drawing/2014/main" id="{A944D8DF-9555-D75A-9CA8-FDF19970B68D}"/>
              </a:ext>
            </a:extLst>
          </p:cNvPr>
          <p:cNvSpPr>
            <a:spLocks noGrp="1" noChangeArrowheads="1"/>
          </p:cNvSpPr>
          <p:nvPr>
            <p:ph type="body" sz="quarter" idx="28"/>
          </p:nvPr>
        </p:nvSpPr>
        <p:spPr bwMode="auto">
          <a:xfrm>
            <a:off x="1845307" y="2771431"/>
            <a:ext cx="6636905" cy="31239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342900" marR="0" lvl="0" indent="-34290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QUIC 協議不僅加密了Payload，還對連線握手 (Handshake) 封包進行了混淆，導致傳統依賴明文 (如 SNI) 的深度封包檢測失去效用。</a:t>
            </a:r>
          </a:p>
          <a:p>
            <a:pPr marL="342900" marR="0" lvl="0" indent="-34290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文獻指出，目前的技術正從人工特徵工程轉向自動特徵提取。然而，若過度依賴握手階段的特徵，將導致分類模型在真實環境中快速失效。</a:t>
            </a:r>
          </a:p>
          <a:p>
            <a:pPr marL="342900" marR="0" lvl="0" indent="-34290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在加密流量環境中，獲取大規模且準確的標記數據極為困難且成本高昂。這使得依賴大量完美標記數據的傳統監督式學習，難以直接應用於真實的資安維運中。</a:t>
            </a:r>
          </a:p>
        </p:txBody>
      </p:sp>
      <p:sp>
        <p:nvSpPr>
          <p:cNvPr id="14" name="文字方塊 13">
            <a:extLst>
              <a:ext uri="{FF2B5EF4-FFF2-40B4-BE49-F238E27FC236}">
                <a16:creationId xmlns:a16="http://schemas.microsoft.com/office/drawing/2014/main" id="{3E37810C-4117-ED24-6A0A-32D5D501A596}"/>
              </a:ext>
            </a:extLst>
          </p:cNvPr>
          <p:cNvSpPr txBox="1"/>
          <p:nvPr/>
        </p:nvSpPr>
        <p:spPr>
          <a:xfrm>
            <a:off x="800099" y="5895363"/>
            <a:ext cx="7385336" cy="692497"/>
          </a:xfrm>
          <a:prstGeom prst="rect">
            <a:avLst/>
          </a:prstGeom>
          <a:noFill/>
        </p:spPr>
        <p:txBody>
          <a:bodyPr wrap="square" rtlCol="0">
            <a:spAutoFit/>
          </a:bodyPr>
          <a:lstStyle/>
          <a:p>
            <a:r>
              <a:rPr lang="en-US" altLang="zh-TW" sz="1300" dirty="0"/>
              <a:t>[4]</a:t>
            </a:r>
            <a:r>
              <a:rPr lang="zh-TW" altLang="en-US" sz="1300" dirty="0"/>
              <a:t>    </a:t>
            </a:r>
            <a:r>
              <a:rPr lang="en-US" altLang="zh-TW" sz="1300" dirty="0"/>
              <a:t>J. Li, L. Zhou, H. Li, L. Yan and H. Zhu, Dynamic Traffic Feature Camouflaging via Generative Adversarial Networks </a:t>
            </a:r>
          </a:p>
          <a:p>
            <a:r>
              <a:rPr lang="en-US" altLang="zh-TW" sz="1300" dirty="0"/>
              <a:t>[5]</a:t>
            </a:r>
            <a:r>
              <a:rPr lang="zh-TW" altLang="en-US" sz="1300" dirty="0"/>
              <a:t>    </a:t>
            </a:r>
            <a:r>
              <a:rPr lang="en-US" altLang="zh-TW" sz="1300" dirty="0"/>
              <a:t>J. </a:t>
            </a:r>
            <a:r>
              <a:rPr lang="en-US" altLang="zh-TW" sz="1300" dirty="0" err="1"/>
              <a:t>Luxemburk</a:t>
            </a:r>
            <a:r>
              <a:rPr lang="en-US" altLang="zh-TW" sz="1300" dirty="0"/>
              <a:t>, K. Hynek and T. Čejka, Encrypted Traffic Classification: The QUIC Case</a:t>
            </a:r>
            <a:endParaRPr lang="zh-TW" altLang="en-US" sz="1300" dirty="0"/>
          </a:p>
        </p:txBody>
      </p:sp>
    </p:spTree>
    <p:extLst>
      <p:ext uri="{BB962C8B-B14F-4D97-AF65-F5344CB8AC3E}">
        <p14:creationId xmlns:p14="http://schemas.microsoft.com/office/powerpoint/2010/main" val="4789174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EA97-92EF-43B0-9E99-25B648ECD73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A8E0F75-FF25-F7C9-CD72-4EEF78591CA4}"/>
              </a:ext>
            </a:extLst>
          </p:cNvPr>
          <p:cNvSpPr>
            <a:spLocks noGrp="1"/>
          </p:cNvSpPr>
          <p:nvPr>
            <p:ph type="title"/>
          </p:nvPr>
        </p:nvSpPr>
        <p:spPr>
          <a:xfrm>
            <a:off x="2227071" y="780042"/>
            <a:ext cx="6043353" cy="902070"/>
          </a:xfrm>
        </p:spPr>
        <p:txBody>
          <a:bodyPr anchor="ctr">
            <a:noAutofit/>
          </a:bodyPr>
          <a:lstStyle/>
          <a:p>
            <a:r>
              <a:rPr lang="zh-TW" altLang="en-US" sz="3600" dirty="0"/>
              <a:t>文獻</a:t>
            </a:r>
            <a:r>
              <a:rPr lang="en-US" altLang="zh-TW" sz="3600" dirty="0"/>
              <a:t>/</a:t>
            </a:r>
            <a:r>
              <a:rPr lang="zh-TW" altLang="en-US" sz="3600" dirty="0"/>
              <a:t>既有系統服務探討 </a:t>
            </a:r>
          </a:p>
        </p:txBody>
      </p:sp>
      <p:sp>
        <p:nvSpPr>
          <p:cNvPr id="10" name="文字版面配置區 9">
            <a:extLst>
              <a:ext uri="{FF2B5EF4-FFF2-40B4-BE49-F238E27FC236}">
                <a16:creationId xmlns:a16="http://schemas.microsoft.com/office/drawing/2014/main" id="{C513B59D-5AFD-F63A-407E-6BDEE7B24E97}"/>
              </a:ext>
            </a:extLst>
          </p:cNvPr>
          <p:cNvSpPr>
            <a:spLocks noGrp="1"/>
          </p:cNvSpPr>
          <p:nvPr>
            <p:ph type="body" sz="quarter" idx="27"/>
          </p:nvPr>
        </p:nvSpPr>
        <p:spPr>
          <a:xfrm>
            <a:off x="2285275" y="1963108"/>
            <a:ext cx="5532238" cy="365125"/>
          </a:xfrm>
        </p:spPr>
        <p:txBody>
          <a:bodyPr>
            <a:noAutofit/>
          </a:bodyPr>
          <a:lstStyle/>
          <a:p>
            <a:pPr algn="ctr"/>
            <a:r>
              <a:rPr lang="zh-TW" altLang="en-US" sz="2800" dirty="0"/>
              <a:t>非監督式學習對抗未知威脅</a:t>
            </a:r>
          </a:p>
        </p:txBody>
      </p:sp>
      <p:sp>
        <p:nvSpPr>
          <p:cNvPr id="9" name="投影片編號版面配置區 8">
            <a:extLst>
              <a:ext uri="{FF2B5EF4-FFF2-40B4-BE49-F238E27FC236}">
                <a16:creationId xmlns:a16="http://schemas.microsoft.com/office/drawing/2014/main" id="{A5DB16CE-8E3E-78DA-2F94-9FD98175A4D1}"/>
              </a:ext>
            </a:extLst>
          </p:cNvPr>
          <p:cNvSpPr>
            <a:spLocks noGrp="1"/>
          </p:cNvSpPr>
          <p:nvPr>
            <p:ph type="sldNum" sz="quarter" idx="22"/>
          </p:nvPr>
        </p:nvSpPr>
        <p:spPr/>
        <p:txBody>
          <a:bodyPr anchor="ctr">
            <a:normAutofit/>
          </a:bodyPr>
          <a:lstStyle/>
          <a:p>
            <a:pPr>
              <a:spcAft>
                <a:spcPts val="600"/>
              </a:spcAft>
            </a:pPr>
            <a:fld id="{B5CEABB6-07DC-46E8-9B57-56EC44A396E5}" type="slidenum">
              <a:rPr lang="en-US" altLang="zh-TW" sz="800" noProof="0" smtClean="0"/>
              <a:pPr>
                <a:spcAft>
                  <a:spcPts val="600"/>
                </a:spcAft>
              </a:pPr>
              <a:t>4</a:t>
            </a:fld>
            <a:endParaRPr lang="zh-TW" altLang="en-US" sz="800" noProof="0" dirty="0"/>
          </a:p>
        </p:txBody>
      </p:sp>
      <p:sp>
        <p:nvSpPr>
          <p:cNvPr id="3" name="Rectangle 1">
            <a:extLst>
              <a:ext uri="{FF2B5EF4-FFF2-40B4-BE49-F238E27FC236}">
                <a16:creationId xmlns:a16="http://schemas.microsoft.com/office/drawing/2014/main" id="{DADC2201-8F8B-04E5-4431-2A66C0F8B705}"/>
              </a:ext>
            </a:extLst>
          </p:cNvPr>
          <p:cNvSpPr>
            <a:spLocks noGrp="1" noChangeArrowheads="1"/>
          </p:cNvSpPr>
          <p:nvPr>
            <p:ph type="body" sz="quarter" idx="28"/>
          </p:nvPr>
        </p:nvSpPr>
        <p:spPr bwMode="auto">
          <a:xfrm>
            <a:off x="1832364" y="2455341"/>
            <a:ext cx="6438060" cy="34265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攻擊者已開始利用生成對抗網路 (如 FlowGAN) 進行動態流量特徵偽裝，改變封包大小、時間間隔等高維統計分佈，以規避傳統的流量分析系統。</a:t>
            </a:r>
          </a:p>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傳統異常檢測高度依賴預先存在的攻擊特徵知識，無法有效應對未知的零時差攻擊。</a:t>
            </a:r>
          </a:p>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導入非監督式深度學習，模型僅需學習正常流量的分佈；當遭遇經過偽裝、時序行為偏離正常基準的對抗式攻擊流量時，便會產生高重構誤差 (Reconstruction Error) 而被成功捕捉。這種架構不僅減少了對歷史特徵的依賴，也能縮短模型訓練時間。</a:t>
            </a:r>
          </a:p>
        </p:txBody>
      </p:sp>
      <p:sp>
        <p:nvSpPr>
          <p:cNvPr id="5" name="文字方塊 4">
            <a:extLst>
              <a:ext uri="{FF2B5EF4-FFF2-40B4-BE49-F238E27FC236}">
                <a16:creationId xmlns:a16="http://schemas.microsoft.com/office/drawing/2014/main" id="{622826A3-7064-DAB0-206F-62DD29AC3571}"/>
              </a:ext>
            </a:extLst>
          </p:cNvPr>
          <p:cNvSpPr txBox="1"/>
          <p:nvPr/>
        </p:nvSpPr>
        <p:spPr>
          <a:xfrm>
            <a:off x="800099" y="5895363"/>
            <a:ext cx="7385336" cy="892552"/>
          </a:xfrm>
          <a:prstGeom prst="rect">
            <a:avLst/>
          </a:prstGeom>
          <a:noFill/>
        </p:spPr>
        <p:txBody>
          <a:bodyPr wrap="square" rtlCol="0">
            <a:spAutoFit/>
          </a:bodyPr>
          <a:lstStyle/>
          <a:p>
            <a:r>
              <a:rPr lang="en-US" altLang="zh-TW" sz="1300" dirty="0"/>
              <a:t>[2]    W. Lim, K. S. C. Yong, B. T. Lau, and C. C. L. Tan, Future of Generative Adversarial Networks (GAN) for Anomaly Detection in Network Security: A Review </a:t>
            </a:r>
          </a:p>
          <a:p>
            <a:r>
              <a:rPr lang="en-US" altLang="zh-TW" sz="1300" dirty="0"/>
              <a:t>[4]</a:t>
            </a:r>
            <a:r>
              <a:rPr lang="zh-TW" altLang="en-US" sz="1300" dirty="0"/>
              <a:t>    </a:t>
            </a:r>
            <a:r>
              <a:rPr lang="en-US" altLang="zh-TW" sz="1300" dirty="0"/>
              <a:t>J. Li, L. Zhou, H. Li, L. Yan and H. Zhu, Dynamic Traffic Feature Camouflaging via Generative Adversarial Networks </a:t>
            </a:r>
          </a:p>
        </p:txBody>
      </p:sp>
    </p:spTree>
    <p:extLst>
      <p:ext uri="{BB962C8B-B14F-4D97-AF65-F5344CB8AC3E}">
        <p14:creationId xmlns:p14="http://schemas.microsoft.com/office/powerpoint/2010/main" val="37903672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295B4-35D4-0FBC-4036-E9A9D441100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EF4146B-0489-3053-CF2E-FF9EC9704AD2}"/>
              </a:ext>
            </a:extLst>
          </p:cNvPr>
          <p:cNvSpPr>
            <a:spLocks noGrp="1"/>
          </p:cNvSpPr>
          <p:nvPr>
            <p:ph type="title"/>
          </p:nvPr>
        </p:nvSpPr>
        <p:spPr>
          <a:xfrm>
            <a:off x="2227071" y="780042"/>
            <a:ext cx="6043353" cy="902070"/>
          </a:xfrm>
        </p:spPr>
        <p:txBody>
          <a:bodyPr anchor="ctr">
            <a:noAutofit/>
          </a:bodyPr>
          <a:lstStyle/>
          <a:p>
            <a:r>
              <a:rPr lang="zh-TW" altLang="en-US" sz="3600" dirty="0"/>
              <a:t>文獻</a:t>
            </a:r>
            <a:r>
              <a:rPr lang="en-US" altLang="zh-TW" sz="3600" dirty="0"/>
              <a:t>/</a:t>
            </a:r>
            <a:r>
              <a:rPr lang="zh-TW" altLang="en-US" sz="3600" dirty="0"/>
              <a:t>既有系統服務探討 </a:t>
            </a:r>
          </a:p>
        </p:txBody>
      </p:sp>
      <p:sp>
        <p:nvSpPr>
          <p:cNvPr id="10" name="文字版面配置區 9">
            <a:extLst>
              <a:ext uri="{FF2B5EF4-FFF2-40B4-BE49-F238E27FC236}">
                <a16:creationId xmlns:a16="http://schemas.microsoft.com/office/drawing/2014/main" id="{2005227C-1235-290A-079A-708716CDD976}"/>
              </a:ext>
            </a:extLst>
          </p:cNvPr>
          <p:cNvSpPr>
            <a:spLocks noGrp="1"/>
          </p:cNvSpPr>
          <p:nvPr>
            <p:ph type="body" sz="quarter" idx="27"/>
          </p:nvPr>
        </p:nvSpPr>
        <p:spPr>
          <a:xfrm>
            <a:off x="2253151" y="2073703"/>
            <a:ext cx="5854357" cy="365125"/>
          </a:xfrm>
        </p:spPr>
        <p:txBody>
          <a:bodyPr>
            <a:noAutofit/>
          </a:bodyPr>
          <a:lstStyle/>
          <a:p>
            <a:pPr algn="ctr"/>
            <a:r>
              <a:rPr lang="zh-TW" altLang="en-US" sz="2800" dirty="0"/>
              <a:t>情資平台與 </a:t>
            </a:r>
            <a:r>
              <a:rPr lang="en-US" altLang="zh-TW" sz="2800" dirty="0"/>
              <a:t>SOAR </a:t>
            </a:r>
            <a:r>
              <a:rPr lang="zh-TW" altLang="en-US" sz="2800" dirty="0"/>
              <a:t>的自動化協作</a:t>
            </a:r>
          </a:p>
        </p:txBody>
      </p:sp>
      <p:sp>
        <p:nvSpPr>
          <p:cNvPr id="9" name="投影片編號版面配置區 8">
            <a:extLst>
              <a:ext uri="{FF2B5EF4-FFF2-40B4-BE49-F238E27FC236}">
                <a16:creationId xmlns:a16="http://schemas.microsoft.com/office/drawing/2014/main" id="{100E0218-247C-57D7-5E58-AD73B1EB2672}"/>
              </a:ext>
            </a:extLst>
          </p:cNvPr>
          <p:cNvSpPr>
            <a:spLocks noGrp="1"/>
          </p:cNvSpPr>
          <p:nvPr>
            <p:ph type="sldNum" sz="quarter" idx="22"/>
          </p:nvPr>
        </p:nvSpPr>
        <p:spPr/>
        <p:txBody>
          <a:bodyPr anchor="ctr">
            <a:normAutofit/>
          </a:bodyPr>
          <a:lstStyle/>
          <a:p>
            <a:pPr>
              <a:spcAft>
                <a:spcPts val="600"/>
              </a:spcAft>
            </a:pPr>
            <a:fld id="{B5CEABB6-07DC-46E8-9B57-56EC44A396E5}" type="slidenum">
              <a:rPr lang="en-US" altLang="zh-TW" sz="800" noProof="0" smtClean="0"/>
              <a:pPr>
                <a:spcAft>
                  <a:spcPts val="600"/>
                </a:spcAft>
              </a:pPr>
              <a:t>5</a:t>
            </a:fld>
            <a:endParaRPr lang="zh-TW" altLang="en-US" sz="800" noProof="0" dirty="0"/>
          </a:p>
        </p:txBody>
      </p:sp>
      <p:sp>
        <p:nvSpPr>
          <p:cNvPr id="5" name="Rectangle 3">
            <a:extLst>
              <a:ext uri="{FF2B5EF4-FFF2-40B4-BE49-F238E27FC236}">
                <a16:creationId xmlns:a16="http://schemas.microsoft.com/office/drawing/2014/main" id="{14F4155A-4787-B9CA-B220-0D98324917FC}"/>
              </a:ext>
            </a:extLst>
          </p:cNvPr>
          <p:cNvSpPr>
            <a:spLocks noGrp="1" noChangeArrowheads="1"/>
          </p:cNvSpPr>
          <p:nvPr>
            <p:ph type="body" sz="quarter" idx="28"/>
          </p:nvPr>
        </p:nvSpPr>
        <p:spPr bwMode="auto">
          <a:xfrm>
            <a:off x="1845307" y="2665505"/>
            <a:ext cx="6670046" cy="30726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安全維運中心的分析師常面臨資訊過載與告警疲勞。透過 SOAR 自動化收集日誌與標準化數據，能有效釋放分析師的時間。</a:t>
            </a:r>
          </a:p>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將 AI 與 SOAR 整合，能根據上下文與嚴重性對警報進行智慧排序，減少誤報。</a:t>
            </a:r>
          </a:p>
          <a:p>
            <a:pPr marL="285750" marR="0" lvl="0" indent="-285750" algn="just" defTabSz="914400" rtl="0" eaLnBrk="0" fontAlgn="base" latinLnBrk="0" hangingPunct="0">
              <a:lnSpc>
                <a:spcPct val="100000"/>
              </a:lnSpc>
              <a:spcBef>
                <a:spcPct val="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ea"/>
                <a:ea typeface="+mn-ea"/>
              </a:rPr>
              <a:t>針對低風險或模型已判定為惡意的異常行為，AI 驅動的 SOAR 可自動發送防火牆阻斷規則並執行處置，顯著縮短平均回應時間 (MTTR)。同時，結合 MISP 情資平台動態生成威脅指標 (IoC)，達成持續學習的防禦生態。</a:t>
            </a:r>
          </a:p>
        </p:txBody>
      </p:sp>
      <p:sp>
        <p:nvSpPr>
          <p:cNvPr id="6" name="文字方塊 5">
            <a:extLst>
              <a:ext uri="{FF2B5EF4-FFF2-40B4-BE49-F238E27FC236}">
                <a16:creationId xmlns:a16="http://schemas.microsoft.com/office/drawing/2014/main" id="{20A500E4-3CB7-2903-E925-5ACE75514C3D}"/>
              </a:ext>
            </a:extLst>
          </p:cNvPr>
          <p:cNvSpPr txBox="1"/>
          <p:nvPr/>
        </p:nvSpPr>
        <p:spPr>
          <a:xfrm>
            <a:off x="800099" y="5895363"/>
            <a:ext cx="7385336" cy="692497"/>
          </a:xfrm>
          <a:prstGeom prst="rect">
            <a:avLst/>
          </a:prstGeom>
          <a:noFill/>
        </p:spPr>
        <p:txBody>
          <a:bodyPr wrap="square" rtlCol="0">
            <a:spAutoFit/>
          </a:bodyPr>
          <a:lstStyle/>
          <a:p>
            <a:r>
              <a:rPr lang="en-US" altLang="zh-TW" sz="1300" dirty="0"/>
              <a:t>[6]    N. B. Kilaru, S. K. M. </a:t>
            </a:r>
            <a:r>
              <a:rPr lang="en-US" altLang="zh-TW" sz="1300" dirty="0" err="1"/>
              <a:t>Cheemakurthi</a:t>
            </a:r>
            <a:r>
              <a:rPr lang="en-US" altLang="zh-TW" sz="1300" dirty="0"/>
              <a:t> and V. Gunnam, SOAR Solutions in PCI Compliance: Orchestrating Incident Response for Regulatory Security </a:t>
            </a:r>
          </a:p>
          <a:p>
            <a:r>
              <a:rPr lang="en-US" altLang="zh-TW" sz="1300" dirty="0"/>
              <a:t>[7]    S. Subudhi, Effectiveness of AI/ML in SOAR (Security Automation and Orchestration) Platforms</a:t>
            </a:r>
            <a:endParaRPr lang="zh-TW" altLang="en-US" sz="1300" dirty="0"/>
          </a:p>
        </p:txBody>
      </p:sp>
    </p:spTree>
    <p:extLst>
      <p:ext uri="{BB962C8B-B14F-4D97-AF65-F5344CB8AC3E}">
        <p14:creationId xmlns:p14="http://schemas.microsoft.com/office/powerpoint/2010/main" val="35970367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776643D-E223-F84E-6DD2-0D71BF01D442}"/>
              </a:ext>
            </a:extLst>
          </p:cNvPr>
          <p:cNvSpPr>
            <a:spLocks noGrp="1"/>
          </p:cNvSpPr>
          <p:nvPr>
            <p:ph type="title"/>
          </p:nvPr>
        </p:nvSpPr>
        <p:spPr>
          <a:xfrm>
            <a:off x="394855" y="525326"/>
            <a:ext cx="8364681" cy="661546"/>
          </a:xfrm>
        </p:spPr>
        <p:txBody>
          <a:bodyPr anchor="ctr">
            <a:noAutofit/>
          </a:bodyPr>
          <a:lstStyle/>
          <a:p>
            <a:r>
              <a:rPr lang="zh-TW" altLang="en-US" sz="3600" dirty="0"/>
              <a:t>預計提出的方法與系統開發的相關技術</a:t>
            </a:r>
          </a:p>
        </p:txBody>
      </p:sp>
      <p:sp>
        <p:nvSpPr>
          <p:cNvPr id="3" name="文字版面配置區 2">
            <a:extLst>
              <a:ext uri="{FF2B5EF4-FFF2-40B4-BE49-F238E27FC236}">
                <a16:creationId xmlns:a16="http://schemas.microsoft.com/office/drawing/2014/main" id="{39423259-13EC-B990-93C8-5B99BD831570}"/>
              </a:ext>
            </a:extLst>
          </p:cNvPr>
          <p:cNvSpPr>
            <a:spLocks noGrp="1"/>
          </p:cNvSpPr>
          <p:nvPr>
            <p:ph type="body" sz="quarter" idx="16"/>
          </p:nvPr>
        </p:nvSpPr>
        <p:spPr>
          <a:xfrm>
            <a:off x="561563" y="1361937"/>
            <a:ext cx="7886699" cy="1556477"/>
          </a:xfrm>
        </p:spPr>
        <p:txBody>
          <a:bodyPr>
            <a:noAutofit/>
          </a:bodyPr>
          <a:lstStyle/>
          <a:p>
            <a:pPr algn="just">
              <a:lnSpc>
                <a:spcPts val="3000"/>
              </a:lnSpc>
              <a:spcBef>
                <a:spcPts val="1000"/>
              </a:spcBef>
            </a:pPr>
            <a:r>
              <a:rPr lang="zh-TW" altLang="en-US" sz="2000" dirty="0">
                <a:latin typeface="+mn-ea"/>
                <a:ea typeface="+mn-ea"/>
              </a:rPr>
              <a:t>本系統採用混合式防禦架構，結合威脅情資、非監督式深度學習與 </a:t>
            </a:r>
            <a:r>
              <a:rPr lang="en-US" altLang="zh-TW" sz="2000" dirty="0">
                <a:latin typeface="+mn-ea"/>
                <a:ea typeface="+mn-ea"/>
              </a:rPr>
              <a:t>SOAR </a:t>
            </a:r>
            <a:r>
              <a:rPr lang="zh-TW" altLang="en-US" sz="2000" dirty="0">
                <a:latin typeface="+mn-ea"/>
                <a:ea typeface="+mn-ea"/>
              </a:rPr>
              <a:t>機制。我們將使用 </a:t>
            </a:r>
            <a:r>
              <a:rPr lang="en-US" altLang="zh-TW" sz="2000" dirty="0">
                <a:latin typeface="+mn-ea"/>
                <a:ea typeface="+mn-ea"/>
              </a:rPr>
              <a:t>Ubuntu </a:t>
            </a:r>
            <a:r>
              <a:rPr lang="zh-TW" altLang="en-US" sz="2000" dirty="0">
                <a:latin typeface="+mn-ea"/>
                <a:ea typeface="+mn-ea"/>
              </a:rPr>
              <a:t>作為操作系統，並以 </a:t>
            </a:r>
            <a:r>
              <a:rPr lang="en-US" altLang="zh-TW" sz="2000" dirty="0">
                <a:latin typeface="+mn-ea"/>
                <a:ea typeface="+mn-ea"/>
              </a:rPr>
              <a:t>Python (</a:t>
            </a:r>
            <a:r>
              <a:rPr lang="en-US" altLang="zh-TW" sz="2000" dirty="0" err="1">
                <a:latin typeface="+mn-ea"/>
                <a:ea typeface="+mn-ea"/>
              </a:rPr>
              <a:t>aioquic</a:t>
            </a:r>
            <a:r>
              <a:rPr lang="en-US" altLang="zh-TW" sz="2000" dirty="0">
                <a:latin typeface="+mn-ea"/>
                <a:ea typeface="+mn-ea"/>
              </a:rPr>
              <a:t>) </a:t>
            </a:r>
            <a:r>
              <a:rPr lang="zh-TW" altLang="en-US" sz="2000" dirty="0">
                <a:latin typeface="+mn-ea"/>
                <a:ea typeface="+mn-ea"/>
              </a:rPr>
              <a:t>搭配 </a:t>
            </a:r>
            <a:r>
              <a:rPr lang="en-US" altLang="zh-TW" sz="2000" dirty="0">
                <a:latin typeface="+mn-ea"/>
                <a:ea typeface="+mn-ea"/>
              </a:rPr>
              <a:t>Python (</a:t>
            </a:r>
            <a:r>
              <a:rPr lang="en-US" altLang="zh-TW" sz="2000" dirty="0" err="1">
                <a:latin typeface="+mn-ea"/>
                <a:ea typeface="+mn-ea"/>
              </a:rPr>
              <a:t>Scapy</a:t>
            </a:r>
            <a:r>
              <a:rPr lang="en-US" altLang="zh-TW" sz="2000" dirty="0">
                <a:latin typeface="+mn-ea"/>
                <a:ea typeface="+mn-ea"/>
              </a:rPr>
              <a:t>) </a:t>
            </a:r>
            <a:r>
              <a:rPr lang="zh-TW" altLang="en-US" sz="2000" dirty="0">
                <a:latin typeface="+mn-ea"/>
                <a:ea typeface="+mn-ea"/>
              </a:rPr>
              <a:t>進行虛擬環境中的封包側錄與特徵收集。深度學習模型擬使用 </a:t>
            </a:r>
            <a:r>
              <a:rPr lang="en-US" altLang="zh-TW" sz="2000" dirty="0" err="1">
                <a:latin typeface="+mn-ea"/>
                <a:ea typeface="+mn-ea"/>
              </a:rPr>
              <a:t>PyTorch</a:t>
            </a:r>
            <a:r>
              <a:rPr lang="en-US" altLang="zh-TW" sz="2000" dirty="0">
                <a:latin typeface="+mn-ea"/>
                <a:ea typeface="+mn-ea"/>
              </a:rPr>
              <a:t> </a:t>
            </a:r>
            <a:r>
              <a:rPr lang="zh-TW" altLang="en-US" sz="2000" dirty="0">
                <a:latin typeface="+mn-ea"/>
                <a:ea typeface="+mn-ea"/>
              </a:rPr>
              <a:t>框架開發，威脅情資平台則透過 </a:t>
            </a:r>
            <a:r>
              <a:rPr lang="en-US" altLang="zh-TW" sz="2000" dirty="0">
                <a:latin typeface="+mn-ea"/>
                <a:ea typeface="+mn-ea"/>
              </a:rPr>
              <a:t>Docker </a:t>
            </a:r>
            <a:r>
              <a:rPr lang="zh-TW" altLang="en-US" sz="2000" dirty="0">
                <a:latin typeface="+mn-ea"/>
                <a:ea typeface="+mn-ea"/>
              </a:rPr>
              <a:t>容器化部署 </a:t>
            </a:r>
            <a:r>
              <a:rPr lang="en-US" altLang="zh-TW" sz="2000" dirty="0">
                <a:latin typeface="+mn-ea"/>
                <a:ea typeface="+mn-ea"/>
              </a:rPr>
              <a:t>MISP</a:t>
            </a:r>
            <a:r>
              <a:rPr lang="zh-TW" altLang="en-US" sz="2000" dirty="0">
                <a:latin typeface="+mn-ea"/>
                <a:ea typeface="+mn-ea"/>
              </a:rPr>
              <a:t>。</a:t>
            </a:r>
          </a:p>
        </p:txBody>
      </p:sp>
      <p:sp>
        <p:nvSpPr>
          <p:cNvPr id="4" name="投影片編號版面配置區 3">
            <a:extLst>
              <a:ext uri="{FF2B5EF4-FFF2-40B4-BE49-F238E27FC236}">
                <a16:creationId xmlns:a16="http://schemas.microsoft.com/office/drawing/2014/main" id="{5EEACD76-83DB-53FD-B226-DFCDEDDC4BEC}"/>
              </a:ext>
            </a:extLst>
          </p:cNvPr>
          <p:cNvSpPr>
            <a:spLocks noGrp="1"/>
          </p:cNvSpPr>
          <p:nvPr>
            <p:ph type="sldNum" sz="quarter" idx="12"/>
          </p:nvPr>
        </p:nvSpPr>
        <p:spPr>
          <a:xfrm>
            <a:off x="6457950" y="6356357"/>
            <a:ext cx="2057400" cy="365125"/>
          </a:xfrm>
        </p:spPr>
        <p:txBody>
          <a:bodyPr anchor="ctr">
            <a:normAutofit/>
          </a:bodyPr>
          <a:lstStyle/>
          <a:p>
            <a:pPr>
              <a:spcAft>
                <a:spcPts val="600"/>
              </a:spcAft>
            </a:pPr>
            <a:fld id="{B5CEABB6-07DC-46E8-9B57-56EC44A396E5}" type="slidenum">
              <a:rPr lang="en-US" altLang="zh-TW" sz="800" noProof="0" smtClean="0"/>
              <a:pPr>
                <a:spcAft>
                  <a:spcPts val="600"/>
                </a:spcAft>
              </a:pPr>
              <a:t>6</a:t>
            </a:fld>
            <a:endParaRPr lang="zh-TW" altLang="en-US" sz="800" noProof="0" dirty="0"/>
          </a:p>
        </p:txBody>
      </p:sp>
      <p:graphicFrame>
        <p:nvGraphicFramePr>
          <p:cNvPr id="7" name="Rectangle 1">
            <a:extLst>
              <a:ext uri="{FF2B5EF4-FFF2-40B4-BE49-F238E27FC236}">
                <a16:creationId xmlns:a16="http://schemas.microsoft.com/office/drawing/2014/main" id="{E5B68EF6-532F-7577-BD3E-590017701463}"/>
              </a:ext>
            </a:extLst>
          </p:cNvPr>
          <p:cNvGraphicFramePr>
            <a:graphicFrameLocks noGrp="1"/>
          </p:cNvGraphicFramePr>
          <p:nvPr>
            <p:ph type="chart" sz="quarter" idx="13"/>
            <p:extLst>
              <p:ext uri="{D42A27DB-BD31-4B8C-83A1-F6EECF244321}">
                <p14:modId xmlns:p14="http://schemas.microsoft.com/office/powerpoint/2010/main" val="333611980"/>
              </p:ext>
            </p:extLst>
          </p:nvPr>
        </p:nvGraphicFramePr>
        <p:xfrm>
          <a:off x="462395" y="3335481"/>
          <a:ext cx="8219209" cy="31247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21706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4F5C2FF-18A5-891B-2571-83C76573B2EB}"/>
              </a:ext>
            </a:extLst>
          </p:cNvPr>
          <p:cNvSpPr>
            <a:spLocks noGrp="1"/>
          </p:cNvSpPr>
          <p:nvPr>
            <p:ph type="title"/>
          </p:nvPr>
        </p:nvSpPr>
        <p:spPr>
          <a:xfrm>
            <a:off x="683554" y="578470"/>
            <a:ext cx="8260773" cy="687233"/>
          </a:xfrm>
        </p:spPr>
        <p:txBody>
          <a:bodyPr anchor="ctr">
            <a:noAutofit/>
          </a:bodyPr>
          <a:lstStyle/>
          <a:p>
            <a:r>
              <a:rPr lang="zh-TW" altLang="en-US" sz="3600" dirty="0"/>
              <a:t>預計提出的方法與系統開發的相關技術</a:t>
            </a:r>
          </a:p>
        </p:txBody>
      </p:sp>
      <p:sp>
        <p:nvSpPr>
          <p:cNvPr id="13" name="Rectangle 1">
            <a:extLst>
              <a:ext uri="{FF2B5EF4-FFF2-40B4-BE49-F238E27FC236}">
                <a16:creationId xmlns:a16="http://schemas.microsoft.com/office/drawing/2014/main" id="{E5433A1F-8D0E-5BEC-A279-090DB49AE9E0}"/>
              </a:ext>
            </a:extLst>
          </p:cNvPr>
          <p:cNvSpPr>
            <a:spLocks noGrp="1" noChangeArrowheads="1"/>
          </p:cNvSpPr>
          <p:nvPr>
            <p:ph sz="half" idx="2"/>
          </p:nvPr>
        </p:nvSpPr>
        <p:spPr bwMode="auto">
          <a:xfrm>
            <a:off x="683554" y="1340052"/>
            <a:ext cx="7776892" cy="241587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0" rIns="91440" bIns="45720" numCol="1" anchorCtr="0" compatLnSpc="1">
            <a:prstTxWarp prst="textNoShape">
              <a:avLst/>
            </a:prstTxWarp>
            <a:noAutofit/>
          </a:bodyPr>
          <a:lstStyle/>
          <a:p>
            <a:pPr marL="342900" marR="0" lvl="0" indent="-342900" algn="just" defTabSz="914400" fontAlgn="base">
              <a:spcBef>
                <a:spcPts val="0"/>
              </a:spcBef>
              <a:spcAft>
                <a:spcPts val="1000"/>
              </a:spcAft>
              <a:buClrTx/>
              <a:buSzTx/>
              <a:buFont typeface="Arial" panose="020B0604020202020204" pitchFamily="34" charset="0"/>
              <a:buChar char="•"/>
              <a:tabLst/>
            </a:pPr>
            <a:r>
              <a:rPr kumimoji="0" lang="zh-TW" altLang="en-US" sz="2000" b="1" i="0" u="none" strike="noStrike" kern="1200" cap="none" normalizeH="0" baseline="0" dirty="0">
                <a:ln>
                  <a:noFill/>
                </a:ln>
                <a:effectLst/>
                <a:latin typeface="+mn-ea"/>
                <a:ea typeface="+mn-ea"/>
              </a:rPr>
              <a:t>預過濾模組</a:t>
            </a:r>
            <a:r>
              <a:rPr kumimoji="0" lang="zh-TW" altLang="en-US" sz="2000" b="0" i="0" u="none" strike="noStrike" kern="1200" cap="none" normalizeH="0" baseline="0" dirty="0">
                <a:ln>
                  <a:noFill/>
                </a:ln>
                <a:effectLst/>
                <a:latin typeface="+mn-ea"/>
                <a:ea typeface="+mn-ea"/>
              </a:rPr>
              <a:t>：提取來源 </a:t>
            </a:r>
            <a:r>
              <a:rPr kumimoji="0" lang="en-US" altLang="zh-TW" sz="2000" b="0" i="0" u="none" strike="noStrike" kern="1200" cap="none" normalizeH="0" baseline="0" dirty="0">
                <a:ln>
                  <a:noFill/>
                </a:ln>
                <a:effectLst/>
                <a:latin typeface="+mn-ea"/>
                <a:ea typeface="+mn-ea"/>
              </a:rPr>
              <a:t>IP</a:t>
            </a:r>
            <a:r>
              <a:rPr kumimoji="0" lang="zh-TW" altLang="en-US" sz="2000" b="0" i="0" u="none" strike="noStrike" kern="1200" cap="none" normalizeH="0" baseline="0" dirty="0">
                <a:ln>
                  <a:noFill/>
                </a:ln>
                <a:effectLst/>
                <a:latin typeface="+mn-ea"/>
                <a:ea typeface="+mn-ea"/>
              </a:rPr>
              <a:t>，即時比對自建的 </a:t>
            </a:r>
            <a:r>
              <a:rPr kumimoji="0" lang="en-US" altLang="zh-TW" sz="2000" b="0" i="0" u="none" strike="noStrike" kern="1200" cap="none" normalizeH="0" baseline="0" dirty="0">
                <a:ln>
                  <a:noFill/>
                </a:ln>
                <a:effectLst/>
                <a:latin typeface="+mn-ea"/>
                <a:ea typeface="+mn-ea"/>
              </a:rPr>
              <a:t>MISP </a:t>
            </a:r>
            <a:r>
              <a:rPr kumimoji="0" lang="zh-TW" altLang="en-US" sz="2000" b="0" i="0" u="none" strike="noStrike" kern="1200" cap="none" normalizeH="0" baseline="0" dirty="0">
                <a:ln>
                  <a:noFill/>
                </a:ln>
                <a:effectLst/>
                <a:latin typeface="+mn-ea"/>
                <a:ea typeface="+mn-ea"/>
              </a:rPr>
              <a:t>情資平台。若命中黑名單直接阻斷，大幅降低後端 </a:t>
            </a:r>
            <a:r>
              <a:rPr kumimoji="0" lang="en-US" altLang="zh-TW" sz="2000" b="0" i="0" u="none" strike="noStrike" kern="1200" cap="none" normalizeH="0" baseline="0" dirty="0">
                <a:ln>
                  <a:noFill/>
                </a:ln>
                <a:effectLst/>
                <a:latin typeface="+mn-ea"/>
                <a:ea typeface="+mn-ea"/>
              </a:rPr>
              <a:t>AI </a:t>
            </a:r>
            <a:r>
              <a:rPr kumimoji="0" lang="zh-TW" altLang="en-US" sz="2000" b="0" i="0" u="none" strike="noStrike" kern="1200" cap="none" normalizeH="0" baseline="0" dirty="0">
                <a:ln>
                  <a:noFill/>
                </a:ln>
                <a:effectLst/>
                <a:latin typeface="+mn-ea"/>
                <a:ea typeface="+mn-ea"/>
              </a:rPr>
              <a:t>運算負載 。</a:t>
            </a:r>
          </a:p>
          <a:p>
            <a:pPr marL="342900" marR="0" lvl="0" indent="-342900" algn="just" defTabSz="914400" fontAlgn="base">
              <a:spcBef>
                <a:spcPts val="0"/>
              </a:spcBef>
              <a:spcAft>
                <a:spcPts val="1000"/>
              </a:spcAft>
              <a:buClrTx/>
              <a:buSzTx/>
              <a:buFont typeface="Arial" panose="020B0604020202020204" pitchFamily="34" charset="0"/>
              <a:buChar char="•"/>
              <a:tabLst/>
            </a:pPr>
            <a:r>
              <a:rPr kumimoji="0" lang="zh-TW" altLang="en-US" sz="2000" b="1" i="0" u="none" strike="noStrike" kern="1200" cap="none" normalizeH="0" baseline="0" dirty="0">
                <a:ln>
                  <a:noFill/>
                </a:ln>
                <a:effectLst/>
                <a:latin typeface="+mn-ea"/>
                <a:ea typeface="+mn-ea"/>
              </a:rPr>
              <a:t>異常偵測模型</a:t>
            </a:r>
            <a:r>
              <a:rPr kumimoji="0" lang="zh-TW" altLang="en-US" sz="2000" b="0" i="0" u="none" strike="noStrike" kern="1200" cap="none" normalizeH="0" baseline="0" dirty="0">
                <a:ln>
                  <a:noFill/>
                </a:ln>
                <a:effectLst/>
                <a:latin typeface="+mn-ea"/>
                <a:ea typeface="+mn-ea"/>
              </a:rPr>
              <a:t>：針對未知流量提取特徵並輸入非監督式模型。模型僅學習正常流量，當遭遇攻擊特徵時將產生高重構誤差 </a:t>
            </a:r>
            <a:r>
              <a:rPr kumimoji="0" lang="en-US" altLang="zh-TW" sz="2000" b="0" i="0" u="none" strike="noStrike" kern="1200" cap="none" normalizeH="0" baseline="0" dirty="0">
                <a:ln>
                  <a:noFill/>
                </a:ln>
                <a:effectLst/>
                <a:latin typeface="+mn-ea"/>
                <a:ea typeface="+mn-ea"/>
              </a:rPr>
              <a:t>(Reconstruction Error)</a:t>
            </a:r>
            <a:r>
              <a:rPr kumimoji="0" lang="zh-TW" altLang="en-US" sz="2000" b="0" i="0" u="none" strike="noStrike" kern="1200" cap="none" normalizeH="0" baseline="0" dirty="0">
                <a:ln>
                  <a:noFill/>
                </a:ln>
                <a:effectLst/>
                <a:latin typeface="+mn-ea"/>
                <a:ea typeface="+mn-ea"/>
              </a:rPr>
              <a:t>，藉此判定為異常。</a:t>
            </a:r>
          </a:p>
          <a:p>
            <a:pPr marL="342900" marR="0" lvl="0" indent="-342900" algn="just" defTabSz="914400" fontAlgn="base">
              <a:spcBef>
                <a:spcPts val="0"/>
              </a:spcBef>
              <a:spcAft>
                <a:spcPts val="1000"/>
              </a:spcAft>
              <a:buClrTx/>
              <a:buSzTx/>
              <a:buFont typeface="Arial" panose="020B0604020202020204" pitchFamily="34" charset="0"/>
              <a:buChar char="•"/>
              <a:tabLst/>
            </a:pPr>
            <a:r>
              <a:rPr kumimoji="0" lang="zh-TW" altLang="en-US" sz="2000" b="1" i="0" u="none" strike="noStrike" kern="1200" cap="none" normalizeH="0" baseline="0" dirty="0">
                <a:ln>
                  <a:noFill/>
                </a:ln>
                <a:effectLst/>
                <a:latin typeface="+mn-ea"/>
                <a:ea typeface="+mn-ea"/>
              </a:rPr>
              <a:t>自動化回應模組</a:t>
            </a:r>
            <a:r>
              <a:rPr kumimoji="0" lang="zh-TW" altLang="en-US" sz="2000" b="0" i="0" u="none" strike="noStrike" kern="1200" cap="none" normalizeH="0" baseline="0" dirty="0">
                <a:ln>
                  <a:noFill/>
                </a:ln>
                <a:effectLst/>
                <a:latin typeface="+mn-ea"/>
                <a:ea typeface="+mn-ea"/>
              </a:rPr>
              <a:t>：判定為惡意後，觸發控制器透過 </a:t>
            </a:r>
            <a:r>
              <a:rPr kumimoji="0" lang="en-US" altLang="zh-TW" sz="2000" b="0" i="0" u="none" strike="noStrike" kern="1200" cap="none" normalizeH="0" baseline="0" dirty="0">
                <a:ln>
                  <a:noFill/>
                </a:ln>
                <a:effectLst/>
                <a:latin typeface="+mn-ea"/>
                <a:ea typeface="+mn-ea"/>
              </a:rPr>
              <a:t>Linux iptables </a:t>
            </a:r>
            <a:r>
              <a:rPr kumimoji="0" lang="zh-TW" altLang="en-US" sz="2000" b="0" i="0" u="none" strike="noStrike" kern="1200" cap="none" normalizeH="0" baseline="0" dirty="0">
                <a:ln>
                  <a:noFill/>
                </a:ln>
                <a:effectLst/>
                <a:latin typeface="+mn-ea"/>
                <a:ea typeface="+mn-ea"/>
              </a:rPr>
              <a:t>發送阻斷規則，並將新威脅指標 </a:t>
            </a:r>
            <a:r>
              <a:rPr kumimoji="0" lang="en-US" altLang="zh-TW" sz="2000" b="0" i="0" u="none" strike="noStrike" kern="1200" cap="none" normalizeH="0" baseline="0" dirty="0">
                <a:ln>
                  <a:noFill/>
                </a:ln>
                <a:effectLst/>
                <a:latin typeface="+mn-ea"/>
                <a:ea typeface="+mn-ea"/>
              </a:rPr>
              <a:t>(IoC) </a:t>
            </a:r>
            <a:r>
              <a:rPr kumimoji="0" lang="zh-TW" altLang="en-US" sz="2000" b="0" i="0" u="none" strike="noStrike" kern="1200" cap="none" normalizeH="0" baseline="0" dirty="0">
                <a:ln>
                  <a:noFill/>
                </a:ln>
                <a:effectLst/>
                <a:latin typeface="+mn-ea"/>
                <a:ea typeface="+mn-ea"/>
              </a:rPr>
              <a:t>回寫至 </a:t>
            </a:r>
            <a:r>
              <a:rPr kumimoji="0" lang="en-US" altLang="zh-TW" sz="2000" b="0" i="0" u="none" strike="noStrike" kern="1200" cap="none" normalizeH="0" baseline="0" dirty="0">
                <a:ln>
                  <a:noFill/>
                </a:ln>
                <a:effectLst/>
                <a:latin typeface="+mn-ea"/>
                <a:ea typeface="+mn-ea"/>
              </a:rPr>
              <a:t>MISP</a:t>
            </a:r>
            <a:r>
              <a:rPr kumimoji="0" lang="zh-TW" altLang="en-US" sz="2000" b="0" i="0" u="none" strike="noStrike" kern="1200" cap="none" normalizeH="0" baseline="0" dirty="0">
                <a:ln>
                  <a:noFill/>
                </a:ln>
                <a:effectLst/>
                <a:latin typeface="+mn-ea"/>
                <a:ea typeface="+mn-ea"/>
              </a:rPr>
              <a:t>。</a:t>
            </a:r>
            <a:endParaRPr kumimoji="0" lang="en-US" altLang="zh-TW" sz="2000" b="0" i="0" u="none" strike="noStrike" kern="1200" cap="none" normalizeH="0" baseline="0" dirty="0">
              <a:ln>
                <a:noFill/>
              </a:ln>
              <a:effectLst/>
              <a:latin typeface="+mn-ea"/>
              <a:ea typeface="+mn-ea"/>
            </a:endParaRPr>
          </a:p>
        </p:txBody>
      </p:sp>
      <p:pic>
        <p:nvPicPr>
          <p:cNvPr id="9" name="內容版面配置區 8">
            <a:extLst>
              <a:ext uri="{FF2B5EF4-FFF2-40B4-BE49-F238E27FC236}">
                <a16:creationId xmlns:a16="http://schemas.microsoft.com/office/drawing/2014/main" id="{603139E4-D8F1-3C91-66BD-6099D6DBD08C}"/>
              </a:ext>
            </a:extLst>
          </p:cNvPr>
          <p:cNvPicPr>
            <a:picLocks noGrp="1" noChangeAspect="1"/>
          </p:cNvPicPr>
          <p:nvPr>
            <p:ph sz="quarter" idx="4"/>
          </p:nvPr>
        </p:nvPicPr>
        <p:blipFill>
          <a:blip r:embed="rId4"/>
          <a:stretch/>
        </p:blipFill>
        <p:spPr>
          <a:xfrm>
            <a:off x="1836767" y="3864143"/>
            <a:ext cx="5218660" cy="2857339"/>
          </a:xfrm>
          <a:prstGeom prst="rect">
            <a:avLst/>
          </a:prstGeom>
          <a:noFill/>
        </p:spPr>
      </p:pic>
      <p:sp>
        <p:nvSpPr>
          <p:cNvPr id="22" name="Slide Number Placeholder 6">
            <a:extLst>
              <a:ext uri="{FF2B5EF4-FFF2-40B4-BE49-F238E27FC236}">
                <a16:creationId xmlns:a16="http://schemas.microsoft.com/office/drawing/2014/main" id="{DF1FAE78-9F3E-A2B5-916F-B007882E9827}"/>
              </a:ext>
            </a:extLst>
          </p:cNvPr>
          <p:cNvSpPr>
            <a:spLocks noGrp="1"/>
          </p:cNvSpPr>
          <p:nvPr>
            <p:ph type="sldNum" sz="quarter" idx="12"/>
          </p:nvPr>
        </p:nvSpPr>
        <p:spPr/>
        <p:txBody>
          <a:bodyPr/>
          <a:lstStyle/>
          <a:p>
            <a:pPr>
              <a:spcAft>
                <a:spcPts val="600"/>
              </a:spcAft>
            </a:pPr>
            <a:fld id="{B5CEABB6-07DC-46E8-9B57-56EC44A396E5}" type="slidenum">
              <a:rPr lang="en-US" altLang="zh-TW" sz="800" noProof="0" smtClean="0"/>
              <a:pPr>
                <a:spcAft>
                  <a:spcPts val="600"/>
                </a:spcAft>
              </a:pPr>
              <a:t>7</a:t>
            </a:fld>
            <a:endParaRPr lang="zh-TW" altLang="en-US" sz="800" noProof="0" dirty="0"/>
          </a:p>
        </p:txBody>
      </p:sp>
      <p:sp>
        <p:nvSpPr>
          <p:cNvPr id="7" name="投影片編號版面配置區 6" hidden="1">
            <a:extLst>
              <a:ext uri="{FF2B5EF4-FFF2-40B4-BE49-F238E27FC236}">
                <a16:creationId xmlns:a16="http://schemas.microsoft.com/office/drawing/2014/main" id="{85B749D5-19B1-A21B-BCA6-0CAA8F7367D0}"/>
              </a:ext>
            </a:extLst>
          </p:cNvPr>
          <p:cNvSpPr>
            <a:spLocks noGrp="1"/>
          </p:cNvSpPr>
          <p:nvPr>
            <p:ph type="sldNum" sz="quarter" idx="4294967295"/>
          </p:nvPr>
        </p:nvSpPr>
        <p:spPr>
          <a:xfrm>
            <a:off x="7086600" y="6356350"/>
            <a:ext cx="2057400" cy="365125"/>
          </a:xfrm>
        </p:spPr>
        <p:txBody>
          <a:bodyPr/>
          <a:lstStyle/>
          <a:p>
            <a:pPr>
              <a:spcAft>
                <a:spcPts val="600"/>
              </a:spcAft>
            </a:pPr>
            <a:fld id="{B5CEABB6-07DC-46E8-9B57-56EC44A396E5}" type="slidenum">
              <a:rPr lang="en-US" altLang="zh-TW" noProof="0" smtClean="0"/>
              <a:pPr>
                <a:spcAft>
                  <a:spcPts val="600"/>
                </a:spcAft>
              </a:pPr>
              <a:t>7</a:t>
            </a:fld>
            <a:endParaRPr lang="zh-TW" altLang="en-US" noProof="0"/>
          </a:p>
        </p:txBody>
      </p:sp>
    </p:spTree>
    <p:extLst>
      <p:ext uri="{BB962C8B-B14F-4D97-AF65-F5344CB8AC3E}">
        <p14:creationId xmlns:p14="http://schemas.microsoft.com/office/powerpoint/2010/main" val="12722752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4897EBB-022D-770F-A36B-763BC171AA86}"/>
              </a:ext>
            </a:extLst>
          </p:cNvPr>
          <p:cNvSpPr>
            <a:spLocks noGrp="1"/>
          </p:cNvSpPr>
          <p:nvPr>
            <p:ph type="title"/>
          </p:nvPr>
        </p:nvSpPr>
        <p:spPr>
          <a:xfrm>
            <a:off x="628650" y="520993"/>
            <a:ext cx="7886700" cy="809044"/>
          </a:xfrm>
        </p:spPr>
        <p:txBody>
          <a:bodyPr>
            <a:normAutofit/>
          </a:bodyPr>
          <a:lstStyle/>
          <a:p>
            <a:r>
              <a:rPr lang="en-US" altLang="zh-TW" sz="3600" dirty="0"/>
              <a:t>SWOT </a:t>
            </a:r>
            <a:r>
              <a:rPr lang="zh-TW" altLang="en-US" sz="3600" dirty="0"/>
              <a:t>分析</a:t>
            </a:r>
          </a:p>
        </p:txBody>
      </p:sp>
      <p:grpSp>
        <p:nvGrpSpPr>
          <p:cNvPr id="12" name="群組 11">
            <a:extLst>
              <a:ext uri="{FF2B5EF4-FFF2-40B4-BE49-F238E27FC236}">
                <a16:creationId xmlns:a16="http://schemas.microsoft.com/office/drawing/2014/main" id="{FFCDC166-50E5-59A9-3BBA-CEDEF19B9A15}"/>
              </a:ext>
            </a:extLst>
          </p:cNvPr>
          <p:cNvGrpSpPr/>
          <p:nvPr/>
        </p:nvGrpSpPr>
        <p:grpSpPr>
          <a:xfrm>
            <a:off x="628648" y="1652152"/>
            <a:ext cx="7886702" cy="4540256"/>
            <a:chOff x="628648" y="1652152"/>
            <a:chExt cx="7886702" cy="4540256"/>
          </a:xfrm>
        </p:grpSpPr>
        <p:sp>
          <p:nvSpPr>
            <p:cNvPr id="7" name="手繪多邊形: 圖案 6">
              <a:extLst>
                <a:ext uri="{FF2B5EF4-FFF2-40B4-BE49-F238E27FC236}">
                  <a16:creationId xmlns:a16="http://schemas.microsoft.com/office/drawing/2014/main" id="{C21D6179-ED90-E8A8-40FF-3953113BE806}"/>
                </a:ext>
              </a:extLst>
            </p:cNvPr>
            <p:cNvSpPr/>
            <p:nvPr/>
          </p:nvSpPr>
          <p:spPr>
            <a:xfrm>
              <a:off x="628648" y="1652152"/>
              <a:ext cx="3943352" cy="2270131"/>
            </a:xfrm>
            <a:custGeom>
              <a:avLst/>
              <a:gdLst>
                <a:gd name="csX0" fmla="*/ 0 w 1847850"/>
                <a:gd name="csY0" fmla="*/ 0 h 3943350"/>
                <a:gd name="csX1" fmla="*/ 1539869 w 1847850"/>
                <a:gd name="csY1" fmla="*/ 0 h 3943350"/>
                <a:gd name="csX2" fmla="*/ 1847850 w 1847850"/>
                <a:gd name="csY2" fmla="*/ 307981 h 3943350"/>
                <a:gd name="csX3" fmla="*/ 1847850 w 1847850"/>
                <a:gd name="csY3" fmla="*/ 3943350 h 3943350"/>
                <a:gd name="csX4" fmla="*/ 0 w 1847850"/>
                <a:gd name="csY4" fmla="*/ 3943350 h 3943350"/>
                <a:gd name="csX5" fmla="*/ 0 w 1847850"/>
                <a:gd name="csY5" fmla="*/ 0 h 3943350"/>
              </a:gdLst>
              <a:ahLst/>
              <a:cxnLst>
                <a:cxn ang="0">
                  <a:pos x="csX0" y="csY0"/>
                </a:cxn>
                <a:cxn ang="0">
                  <a:pos x="csX1" y="csY1"/>
                </a:cxn>
                <a:cxn ang="0">
                  <a:pos x="csX2" y="csY2"/>
                </a:cxn>
                <a:cxn ang="0">
                  <a:pos x="csX3" y="csY3"/>
                </a:cxn>
                <a:cxn ang="0">
                  <a:pos x="csX4" y="csY4"/>
                </a:cxn>
                <a:cxn ang="0">
                  <a:pos x="csX5" y="csY5"/>
                </a:cxn>
              </a:cxnLst>
              <a:rect l="l" t="t" r="r" b="b"/>
              <a:pathLst>
                <a:path w="1847850" h="3943350">
                  <a:moveTo>
                    <a:pt x="0" y="3943349"/>
                  </a:moveTo>
                  <a:lnTo>
                    <a:pt x="0" y="657239"/>
                  </a:lnTo>
                  <a:cubicBezTo>
                    <a:pt x="0" y="294257"/>
                    <a:pt x="64614" y="1"/>
                    <a:pt x="144320" y="1"/>
                  </a:cubicBezTo>
                  <a:lnTo>
                    <a:pt x="1847850" y="1"/>
                  </a:lnTo>
                  <a:lnTo>
                    <a:pt x="1847850" y="3943349"/>
                  </a:lnTo>
                  <a:lnTo>
                    <a:pt x="0" y="3943349"/>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2">
                <a:hueOff val="0"/>
                <a:satOff val="0"/>
                <a:lumOff val="0"/>
                <a:alphaOff val="0"/>
              </a:schemeClr>
            </a:fillRef>
            <a:effectRef idx="1">
              <a:schemeClr val="accent2">
                <a:hueOff val="0"/>
                <a:satOff val="0"/>
                <a:lumOff val="0"/>
                <a:alphaOff val="0"/>
              </a:schemeClr>
            </a:effectRef>
            <a:fontRef idx="minor">
              <a:schemeClr val="dk1"/>
            </a:fontRef>
          </p:style>
          <p:txBody>
            <a:bodyPr spcFirstLastPara="0" vert="horz" wrap="square" lIns="142239" tIns="142239" rIns="142240" bIns="604204" numCol="1" spcCol="1270" anchor="ctr" anchorCtr="0">
              <a:noAutofit/>
            </a:bodyPr>
            <a:lstStyle/>
            <a:p>
              <a:pPr marL="0" lvl="0" indent="0" algn="ctr" defTabSz="889000">
                <a:lnSpc>
                  <a:spcPct val="90000"/>
                </a:lnSpc>
                <a:spcBef>
                  <a:spcPct val="0"/>
                </a:spcBef>
                <a:spcAft>
                  <a:spcPct val="35000"/>
                </a:spcAft>
                <a:buNone/>
              </a:pPr>
              <a:endParaRPr lang="en-US" altLang="zh-TW" sz="2000" b="1" kern="1200" dirty="0"/>
            </a:p>
            <a:p>
              <a:pPr marL="0" lvl="0" indent="0" algn="ctr" defTabSz="889000">
                <a:lnSpc>
                  <a:spcPct val="90000"/>
                </a:lnSpc>
                <a:spcBef>
                  <a:spcPct val="0"/>
                </a:spcBef>
                <a:spcAft>
                  <a:spcPct val="35000"/>
                </a:spcAft>
                <a:buNone/>
              </a:pPr>
              <a:r>
                <a:rPr lang="zh-TW" altLang="en-US" sz="2000" b="1" kern="1200" dirty="0"/>
                <a:t>優勢 </a:t>
              </a:r>
              <a:r>
                <a:rPr lang="en-US" altLang="zh-TW" sz="2000" b="1" kern="1200" dirty="0"/>
                <a:t>(Strengths)</a:t>
              </a:r>
            </a:p>
            <a:p>
              <a:pPr marL="0" lvl="0" indent="0" algn="just" defTabSz="889000">
                <a:lnSpc>
                  <a:spcPct val="90000"/>
                </a:lnSpc>
                <a:spcBef>
                  <a:spcPct val="0"/>
                </a:spcBef>
                <a:spcAft>
                  <a:spcPct val="35000"/>
                </a:spcAft>
                <a:buNone/>
              </a:pPr>
              <a:r>
                <a:rPr lang="zh-TW" altLang="en-US" sz="2000" kern="1200" dirty="0"/>
                <a:t>能在不完整解密封包的前提下，精準識別並阻斷隱蔽的惡意 </a:t>
              </a:r>
              <a:r>
                <a:rPr lang="en-US" altLang="zh-TW" sz="2000" kern="1200" dirty="0"/>
                <a:t>QUIC </a:t>
              </a:r>
              <a:r>
                <a:rPr lang="zh-TW" altLang="en-US" sz="2000" kern="1200" dirty="0"/>
                <a:t>流量。整合 </a:t>
              </a:r>
              <a:r>
                <a:rPr lang="en-US" altLang="zh-TW" sz="2000" kern="1200" dirty="0"/>
                <a:t>SOAR </a:t>
              </a:r>
              <a:r>
                <a:rPr lang="zh-TW" altLang="en-US" sz="2000" kern="1200" dirty="0"/>
                <a:t>能自動化生成工單與處置，釋放分析師時間。</a:t>
              </a:r>
            </a:p>
          </p:txBody>
        </p:sp>
        <p:sp>
          <p:nvSpPr>
            <p:cNvPr id="8" name="手繪多邊形: 圖案 7">
              <a:extLst>
                <a:ext uri="{FF2B5EF4-FFF2-40B4-BE49-F238E27FC236}">
                  <a16:creationId xmlns:a16="http://schemas.microsoft.com/office/drawing/2014/main" id="{6F0A0C63-87F8-9FAB-9752-8EE939B55A85}"/>
                </a:ext>
              </a:extLst>
            </p:cNvPr>
            <p:cNvSpPr/>
            <p:nvPr/>
          </p:nvSpPr>
          <p:spPr>
            <a:xfrm>
              <a:off x="4572000" y="1652153"/>
              <a:ext cx="3943350" cy="2270129"/>
            </a:xfrm>
            <a:custGeom>
              <a:avLst/>
              <a:gdLst>
                <a:gd name="csX0" fmla="*/ 0 w 3943350"/>
                <a:gd name="csY0" fmla="*/ 0 h 1847850"/>
                <a:gd name="csX1" fmla="*/ 3635369 w 3943350"/>
                <a:gd name="csY1" fmla="*/ 0 h 1847850"/>
                <a:gd name="csX2" fmla="*/ 3943350 w 3943350"/>
                <a:gd name="csY2" fmla="*/ 307981 h 1847850"/>
                <a:gd name="csX3" fmla="*/ 3943350 w 3943350"/>
                <a:gd name="csY3" fmla="*/ 1847850 h 1847850"/>
                <a:gd name="csX4" fmla="*/ 0 w 3943350"/>
                <a:gd name="csY4" fmla="*/ 1847850 h 1847850"/>
                <a:gd name="csX5" fmla="*/ 0 w 3943350"/>
                <a:gd name="csY5" fmla="*/ 0 h 1847850"/>
              </a:gdLst>
              <a:ahLst/>
              <a:cxnLst>
                <a:cxn ang="0">
                  <a:pos x="csX0" y="csY0"/>
                </a:cxn>
                <a:cxn ang="0">
                  <a:pos x="csX1" y="csY1"/>
                </a:cxn>
                <a:cxn ang="0">
                  <a:pos x="csX2" y="csY2"/>
                </a:cxn>
                <a:cxn ang="0">
                  <a:pos x="csX3" y="csY3"/>
                </a:cxn>
                <a:cxn ang="0">
                  <a:pos x="csX4" y="csY4"/>
                </a:cxn>
                <a:cxn ang="0">
                  <a:pos x="csX5" y="csY5"/>
                </a:cxn>
              </a:cxnLst>
              <a:rect l="l" t="t" r="r" b="b"/>
              <a:pathLst>
                <a:path w="3943350" h="1847850">
                  <a:moveTo>
                    <a:pt x="0" y="0"/>
                  </a:moveTo>
                  <a:lnTo>
                    <a:pt x="3635369" y="0"/>
                  </a:lnTo>
                  <a:cubicBezTo>
                    <a:pt x="3805462" y="0"/>
                    <a:pt x="3943350" y="137888"/>
                    <a:pt x="3943350" y="307981"/>
                  </a:cubicBezTo>
                  <a:lnTo>
                    <a:pt x="3943350" y="1847850"/>
                  </a:lnTo>
                  <a:lnTo>
                    <a:pt x="0" y="1847850"/>
                  </a:lnTo>
                  <a:lnTo>
                    <a:pt x="0" y="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2">
                <a:hueOff val="-485121"/>
                <a:satOff val="-27976"/>
                <a:lumOff val="2876"/>
                <a:alphaOff val="0"/>
              </a:schemeClr>
            </a:fillRef>
            <a:effectRef idx="1">
              <a:schemeClr val="accent2">
                <a:hueOff val="-485121"/>
                <a:satOff val="-27976"/>
                <a:lumOff val="2876"/>
                <a:alphaOff val="0"/>
              </a:schemeClr>
            </a:effectRef>
            <a:fontRef idx="minor">
              <a:schemeClr val="dk1"/>
            </a:fontRef>
          </p:style>
          <p:txBody>
            <a:bodyPr spcFirstLastPara="0" vert="horz" wrap="square" lIns="142240" tIns="142240" rIns="142240" bIns="604203" numCol="1" spcCol="1270" anchor="ctr" anchorCtr="0">
              <a:noAutofit/>
            </a:bodyPr>
            <a:lstStyle/>
            <a:p>
              <a:pPr marL="0" lvl="0" indent="0" algn="ctr" defTabSz="889000">
                <a:lnSpc>
                  <a:spcPct val="90000"/>
                </a:lnSpc>
                <a:spcBef>
                  <a:spcPct val="0"/>
                </a:spcBef>
                <a:spcAft>
                  <a:spcPct val="35000"/>
                </a:spcAft>
                <a:buNone/>
              </a:pPr>
              <a:r>
                <a:rPr lang="zh-TW" altLang="en-US" sz="2000" b="1" kern="1200" dirty="0"/>
                <a:t>劣勢 </a:t>
              </a:r>
              <a:r>
                <a:rPr lang="en-US" altLang="zh-TW" sz="2000" b="1" kern="1200" dirty="0"/>
                <a:t>(Weaknesses)</a:t>
              </a:r>
              <a:r>
                <a:rPr lang="zh-TW" altLang="en-US" sz="2000" kern="1200" dirty="0"/>
                <a:t>：</a:t>
              </a:r>
              <a:endParaRPr lang="en-US" altLang="zh-TW" sz="2000" kern="1200" dirty="0"/>
            </a:p>
            <a:p>
              <a:pPr marL="0" lvl="0" indent="0" algn="just" defTabSz="889000">
                <a:lnSpc>
                  <a:spcPct val="90000"/>
                </a:lnSpc>
                <a:spcBef>
                  <a:spcPct val="0"/>
                </a:spcBef>
                <a:spcAft>
                  <a:spcPct val="35000"/>
                </a:spcAft>
                <a:buNone/>
              </a:pPr>
              <a:r>
                <a:rPr lang="zh-TW" altLang="en-US" sz="2000" kern="1200" dirty="0"/>
                <a:t>深度學習模型在處理高維度網絡數據時，運算量較大，可能面臨延遲挑戰。</a:t>
              </a:r>
            </a:p>
          </p:txBody>
        </p:sp>
        <p:sp>
          <p:nvSpPr>
            <p:cNvPr id="9" name="手繪多邊形: 圖案 8">
              <a:extLst>
                <a:ext uri="{FF2B5EF4-FFF2-40B4-BE49-F238E27FC236}">
                  <a16:creationId xmlns:a16="http://schemas.microsoft.com/office/drawing/2014/main" id="{AF8B33CC-F6AF-0AC2-E801-38EE32E1BFBA}"/>
                </a:ext>
              </a:extLst>
            </p:cNvPr>
            <p:cNvSpPr/>
            <p:nvPr/>
          </p:nvSpPr>
          <p:spPr>
            <a:xfrm>
              <a:off x="628650" y="3922282"/>
              <a:ext cx="3943351" cy="2270126"/>
            </a:xfrm>
            <a:custGeom>
              <a:avLst/>
              <a:gdLst>
                <a:gd name="csX0" fmla="*/ 0 w 3943350"/>
                <a:gd name="csY0" fmla="*/ 0 h 1847850"/>
                <a:gd name="csX1" fmla="*/ 3635369 w 3943350"/>
                <a:gd name="csY1" fmla="*/ 0 h 1847850"/>
                <a:gd name="csX2" fmla="*/ 3943350 w 3943350"/>
                <a:gd name="csY2" fmla="*/ 307981 h 1847850"/>
                <a:gd name="csX3" fmla="*/ 3943350 w 3943350"/>
                <a:gd name="csY3" fmla="*/ 1847850 h 1847850"/>
                <a:gd name="csX4" fmla="*/ 0 w 3943350"/>
                <a:gd name="csY4" fmla="*/ 1847850 h 1847850"/>
                <a:gd name="csX5" fmla="*/ 0 w 3943350"/>
                <a:gd name="csY5" fmla="*/ 0 h 1847850"/>
              </a:gdLst>
              <a:ahLst/>
              <a:cxnLst>
                <a:cxn ang="0">
                  <a:pos x="csX0" y="csY0"/>
                </a:cxn>
                <a:cxn ang="0">
                  <a:pos x="csX1" y="csY1"/>
                </a:cxn>
                <a:cxn ang="0">
                  <a:pos x="csX2" y="csY2"/>
                </a:cxn>
                <a:cxn ang="0">
                  <a:pos x="csX3" y="csY3"/>
                </a:cxn>
                <a:cxn ang="0">
                  <a:pos x="csX4" y="csY4"/>
                </a:cxn>
                <a:cxn ang="0">
                  <a:pos x="csX5" y="csY5"/>
                </a:cxn>
              </a:cxnLst>
              <a:rect l="l" t="t" r="r" b="b"/>
              <a:pathLst>
                <a:path w="3943350" h="1847850">
                  <a:moveTo>
                    <a:pt x="3943350" y="1847849"/>
                  </a:moveTo>
                  <a:lnTo>
                    <a:pt x="307981" y="1847849"/>
                  </a:lnTo>
                  <a:cubicBezTo>
                    <a:pt x="137888" y="1847849"/>
                    <a:pt x="0" y="1709961"/>
                    <a:pt x="0" y="1539868"/>
                  </a:cubicBezTo>
                  <a:lnTo>
                    <a:pt x="0" y="1"/>
                  </a:lnTo>
                  <a:lnTo>
                    <a:pt x="3943350" y="1"/>
                  </a:lnTo>
                  <a:lnTo>
                    <a:pt x="3943350" y="1847849"/>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2">
                <a:hueOff val="-970242"/>
                <a:satOff val="-55952"/>
                <a:lumOff val="5752"/>
                <a:alphaOff val="0"/>
              </a:schemeClr>
            </a:fillRef>
            <a:effectRef idx="1">
              <a:schemeClr val="accent2">
                <a:hueOff val="-970242"/>
                <a:satOff val="-55952"/>
                <a:lumOff val="5752"/>
                <a:alphaOff val="0"/>
              </a:schemeClr>
            </a:effectRef>
            <a:fontRef idx="minor">
              <a:schemeClr val="dk1"/>
            </a:fontRef>
          </p:style>
          <p:txBody>
            <a:bodyPr spcFirstLastPara="0" vert="horz" wrap="square" lIns="142239" tIns="604203" rIns="142241" bIns="142241" numCol="1" spcCol="1270" anchor="t" anchorCtr="0">
              <a:noAutofit/>
            </a:bodyPr>
            <a:lstStyle/>
            <a:p>
              <a:pPr marL="0" lvl="0" indent="0" algn="ctr" defTabSz="889000">
                <a:lnSpc>
                  <a:spcPct val="90000"/>
                </a:lnSpc>
                <a:spcBef>
                  <a:spcPct val="0"/>
                </a:spcBef>
                <a:spcAft>
                  <a:spcPct val="35000"/>
                </a:spcAft>
                <a:buNone/>
              </a:pPr>
              <a:r>
                <a:rPr lang="zh-TW" altLang="en-US" sz="2000" b="1" kern="1200" dirty="0"/>
                <a:t>機會 </a:t>
              </a:r>
              <a:r>
                <a:rPr lang="en-US" altLang="zh-TW" sz="2000" b="1" kern="1200" dirty="0"/>
                <a:t>(Opportunities)</a:t>
              </a:r>
              <a:r>
                <a:rPr lang="zh-TW" altLang="en-US" sz="2000" kern="1200" dirty="0"/>
                <a:t>：</a:t>
              </a:r>
              <a:endParaRPr lang="en-US" altLang="zh-TW" sz="2000" kern="1200" dirty="0"/>
            </a:p>
            <a:p>
              <a:pPr marL="0" lvl="0" indent="0" algn="just" defTabSz="889000">
                <a:lnSpc>
                  <a:spcPct val="90000"/>
                </a:lnSpc>
                <a:spcBef>
                  <a:spcPct val="0"/>
                </a:spcBef>
                <a:spcAft>
                  <a:spcPct val="35000"/>
                </a:spcAft>
                <a:buNone/>
              </a:pPr>
              <a:r>
                <a:rPr lang="zh-TW" altLang="en-US" sz="2000" kern="1200" dirty="0"/>
                <a:t>網路基礎設施正經歷從 </a:t>
              </a:r>
              <a:r>
                <a:rPr lang="en-US" altLang="zh-TW" sz="2000" kern="1200" dirty="0"/>
                <a:t>TCP/TLS </a:t>
              </a:r>
              <a:r>
                <a:rPr lang="zh-TW" altLang="en-US" sz="2000" kern="1200" dirty="0"/>
                <a:t>轉向 </a:t>
              </a:r>
              <a:r>
                <a:rPr lang="en-US" altLang="zh-TW" sz="2000" kern="1200" dirty="0"/>
                <a:t>UDP/QUIC </a:t>
              </a:r>
              <a:r>
                <a:rPr lang="zh-TW" altLang="en-US" sz="2000" kern="1200" dirty="0"/>
                <a:t>的巨大變革，市場對於新一代加密流量分析的需求急遽上升。</a:t>
              </a:r>
            </a:p>
          </p:txBody>
        </p:sp>
        <p:sp>
          <p:nvSpPr>
            <p:cNvPr id="10" name="手繪多邊形: 圖案 9">
              <a:extLst>
                <a:ext uri="{FF2B5EF4-FFF2-40B4-BE49-F238E27FC236}">
                  <a16:creationId xmlns:a16="http://schemas.microsoft.com/office/drawing/2014/main" id="{A74E1847-A922-AFA2-A5B7-78748C825BFD}"/>
                </a:ext>
              </a:extLst>
            </p:cNvPr>
            <p:cNvSpPr/>
            <p:nvPr/>
          </p:nvSpPr>
          <p:spPr>
            <a:xfrm>
              <a:off x="4571999" y="3922282"/>
              <a:ext cx="3943350" cy="2270125"/>
            </a:xfrm>
            <a:custGeom>
              <a:avLst/>
              <a:gdLst>
                <a:gd name="csX0" fmla="*/ 0 w 1847850"/>
                <a:gd name="csY0" fmla="*/ 0 h 3943350"/>
                <a:gd name="csX1" fmla="*/ 1539869 w 1847850"/>
                <a:gd name="csY1" fmla="*/ 0 h 3943350"/>
                <a:gd name="csX2" fmla="*/ 1847850 w 1847850"/>
                <a:gd name="csY2" fmla="*/ 307981 h 3943350"/>
                <a:gd name="csX3" fmla="*/ 1847850 w 1847850"/>
                <a:gd name="csY3" fmla="*/ 3943350 h 3943350"/>
                <a:gd name="csX4" fmla="*/ 0 w 1847850"/>
                <a:gd name="csY4" fmla="*/ 3943350 h 3943350"/>
                <a:gd name="csX5" fmla="*/ 0 w 1847850"/>
                <a:gd name="csY5" fmla="*/ 0 h 3943350"/>
              </a:gdLst>
              <a:ahLst/>
              <a:cxnLst>
                <a:cxn ang="0">
                  <a:pos x="csX0" y="csY0"/>
                </a:cxn>
                <a:cxn ang="0">
                  <a:pos x="csX1" y="csY1"/>
                </a:cxn>
                <a:cxn ang="0">
                  <a:pos x="csX2" y="csY2"/>
                </a:cxn>
                <a:cxn ang="0">
                  <a:pos x="csX3" y="csY3"/>
                </a:cxn>
                <a:cxn ang="0">
                  <a:pos x="csX4" y="csY4"/>
                </a:cxn>
                <a:cxn ang="0">
                  <a:pos x="csX5" y="csY5"/>
                </a:cxn>
              </a:cxnLst>
              <a:rect l="l" t="t" r="r" b="b"/>
              <a:pathLst>
                <a:path w="1847850" h="3943350">
                  <a:moveTo>
                    <a:pt x="1847850" y="1"/>
                  </a:moveTo>
                  <a:lnTo>
                    <a:pt x="1847850" y="3286111"/>
                  </a:lnTo>
                  <a:cubicBezTo>
                    <a:pt x="1847850" y="3649093"/>
                    <a:pt x="1783236" y="3943349"/>
                    <a:pt x="1703530" y="3943349"/>
                  </a:cubicBezTo>
                  <a:lnTo>
                    <a:pt x="0" y="3943349"/>
                  </a:lnTo>
                  <a:lnTo>
                    <a:pt x="0" y="1"/>
                  </a:lnTo>
                  <a:lnTo>
                    <a:pt x="1847850" y="1"/>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2">
                <a:hueOff val="-1455363"/>
                <a:satOff val="-83928"/>
                <a:lumOff val="8628"/>
                <a:alphaOff val="0"/>
              </a:schemeClr>
            </a:fillRef>
            <a:effectRef idx="1">
              <a:schemeClr val="accent2">
                <a:hueOff val="-1455363"/>
                <a:satOff val="-83928"/>
                <a:lumOff val="8628"/>
                <a:alphaOff val="0"/>
              </a:schemeClr>
            </a:effectRef>
            <a:fontRef idx="minor">
              <a:schemeClr val="dk1"/>
            </a:fontRef>
          </p:style>
          <p:txBody>
            <a:bodyPr spcFirstLastPara="0" vert="horz" wrap="square" lIns="142241" tIns="604202" rIns="142239" bIns="142241" numCol="1" spcCol="1270" anchor="t" anchorCtr="0">
              <a:noAutofit/>
            </a:bodyPr>
            <a:lstStyle/>
            <a:p>
              <a:pPr marL="0" lvl="0" indent="0" algn="ctr" defTabSz="889000">
                <a:lnSpc>
                  <a:spcPct val="90000"/>
                </a:lnSpc>
                <a:spcBef>
                  <a:spcPct val="0"/>
                </a:spcBef>
                <a:spcAft>
                  <a:spcPct val="35000"/>
                </a:spcAft>
                <a:buNone/>
              </a:pPr>
              <a:r>
                <a:rPr lang="zh-TW" altLang="en-US" sz="2000" b="1" kern="1200" dirty="0"/>
                <a:t>威脅 </a:t>
              </a:r>
              <a:r>
                <a:rPr lang="en-US" altLang="zh-TW" sz="2000" b="1" kern="1200" dirty="0"/>
                <a:t>(Threats)</a:t>
              </a:r>
              <a:r>
                <a:rPr lang="zh-TW" altLang="en-US" sz="2000" kern="1200" dirty="0"/>
                <a:t>：</a:t>
              </a:r>
              <a:endParaRPr lang="en-US" altLang="zh-TW" sz="2000" kern="1200" dirty="0"/>
            </a:p>
            <a:p>
              <a:pPr marL="0" lvl="0" indent="0" algn="just" defTabSz="889000">
                <a:lnSpc>
                  <a:spcPct val="90000"/>
                </a:lnSpc>
                <a:spcBef>
                  <a:spcPct val="0"/>
                </a:spcBef>
                <a:spcAft>
                  <a:spcPct val="35000"/>
                </a:spcAft>
                <a:buNone/>
              </a:pPr>
              <a:r>
                <a:rPr lang="zh-TW" altLang="en-US" sz="2000" kern="1200" dirty="0"/>
                <a:t>攻擊者持續演進對抗式機器學習概念，若防禦系統缺乏強健性將形同虛設。</a:t>
              </a:r>
            </a:p>
          </p:txBody>
        </p:sp>
        <p:sp>
          <p:nvSpPr>
            <p:cNvPr id="11" name="手繪多邊形: 圖案 10">
              <a:extLst>
                <a:ext uri="{FF2B5EF4-FFF2-40B4-BE49-F238E27FC236}">
                  <a16:creationId xmlns:a16="http://schemas.microsoft.com/office/drawing/2014/main" id="{C55D8D6E-01D8-B35B-13F6-7960845C09B4}"/>
                </a:ext>
              </a:extLst>
            </p:cNvPr>
            <p:cNvSpPr/>
            <p:nvPr/>
          </p:nvSpPr>
          <p:spPr>
            <a:xfrm>
              <a:off x="3388994" y="3444337"/>
              <a:ext cx="2366010" cy="955890"/>
            </a:xfrm>
            <a:custGeom>
              <a:avLst/>
              <a:gdLst>
                <a:gd name="csX0" fmla="*/ 0 w 2366010"/>
                <a:gd name="csY0" fmla="*/ 153991 h 923925"/>
                <a:gd name="csX1" fmla="*/ 153991 w 2366010"/>
                <a:gd name="csY1" fmla="*/ 0 h 923925"/>
                <a:gd name="csX2" fmla="*/ 2212019 w 2366010"/>
                <a:gd name="csY2" fmla="*/ 0 h 923925"/>
                <a:gd name="csX3" fmla="*/ 2366010 w 2366010"/>
                <a:gd name="csY3" fmla="*/ 153991 h 923925"/>
                <a:gd name="csX4" fmla="*/ 2366010 w 2366010"/>
                <a:gd name="csY4" fmla="*/ 769934 h 923925"/>
                <a:gd name="csX5" fmla="*/ 2212019 w 2366010"/>
                <a:gd name="csY5" fmla="*/ 923925 h 923925"/>
                <a:gd name="csX6" fmla="*/ 153991 w 2366010"/>
                <a:gd name="csY6" fmla="*/ 923925 h 923925"/>
                <a:gd name="csX7" fmla="*/ 0 w 2366010"/>
                <a:gd name="csY7" fmla="*/ 769934 h 923925"/>
                <a:gd name="csX8" fmla="*/ 0 w 2366010"/>
                <a:gd name="csY8" fmla="*/ 153991 h 9239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66010" h="923925">
                  <a:moveTo>
                    <a:pt x="0" y="153991"/>
                  </a:moveTo>
                  <a:cubicBezTo>
                    <a:pt x="0" y="68944"/>
                    <a:pt x="68944" y="0"/>
                    <a:pt x="153991" y="0"/>
                  </a:cubicBezTo>
                  <a:lnTo>
                    <a:pt x="2212019" y="0"/>
                  </a:lnTo>
                  <a:cubicBezTo>
                    <a:pt x="2297066" y="0"/>
                    <a:pt x="2366010" y="68944"/>
                    <a:pt x="2366010" y="153991"/>
                  </a:cubicBezTo>
                  <a:lnTo>
                    <a:pt x="2366010" y="769934"/>
                  </a:lnTo>
                  <a:cubicBezTo>
                    <a:pt x="2366010" y="854981"/>
                    <a:pt x="2297066" y="923925"/>
                    <a:pt x="2212019" y="923925"/>
                  </a:cubicBezTo>
                  <a:lnTo>
                    <a:pt x="153991" y="923925"/>
                  </a:lnTo>
                  <a:cubicBezTo>
                    <a:pt x="68944" y="923925"/>
                    <a:pt x="0" y="854981"/>
                    <a:pt x="0" y="769934"/>
                  </a:cubicBezTo>
                  <a:lnTo>
                    <a:pt x="0" y="153991"/>
                  </a:lnTo>
                  <a:close/>
                </a:path>
              </a:pathLst>
            </a:custGeom>
            <a:scene3d>
              <a:camera prst="orthographicFront"/>
              <a:lightRig rig="flat" dir="t"/>
            </a:scene3d>
            <a:sp3d prstMaterial="dkEdge">
              <a:bevelT w="8200" h="38100"/>
            </a:sp3d>
          </p:spPr>
          <p:style>
            <a:lnRef idx="1">
              <a:schemeClr val="lt1">
                <a:hueOff val="0"/>
                <a:satOff val="0"/>
                <a:lumOff val="0"/>
                <a:alphaOff val="0"/>
              </a:schemeClr>
            </a:lnRef>
            <a:fillRef idx="2">
              <a:schemeClr val="accent2">
                <a:tint val="40000"/>
                <a:hueOff val="0"/>
                <a:satOff val="0"/>
                <a:lumOff val="0"/>
                <a:alphaOff val="0"/>
              </a:schemeClr>
            </a:fillRef>
            <a:effectRef idx="1">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136542" tIns="136542" rIns="136542" bIns="136542" numCol="1" spcCol="1270" anchor="ctr" anchorCtr="0">
              <a:noAutofit/>
            </a:bodyPr>
            <a:lstStyle/>
            <a:p>
              <a:pPr marL="0" lvl="0" indent="0" algn="ctr" defTabSz="1066800">
                <a:lnSpc>
                  <a:spcPct val="90000"/>
                </a:lnSpc>
                <a:spcBef>
                  <a:spcPct val="0"/>
                </a:spcBef>
                <a:spcAft>
                  <a:spcPct val="35000"/>
                </a:spcAft>
                <a:buNone/>
              </a:pPr>
              <a:r>
                <a:rPr lang="en-US" sz="2400" b="0" i="0" kern="1200" dirty="0"/>
                <a:t>SWOT</a:t>
              </a:r>
              <a:endParaRPr lang="zh-TW" altLang="en-US" sz="2400" kern="1200" dirty="0"/>
            </a:p>
          </p:txBody>
        </p:sp>
      </p:grpSp>
      <p:sp>
        <p:nvSpPr>
          <p:cNvPr id="4" name="投影片編號版面配置區 3">
            <a:extLst>
              <a:ext uri="{FF2B5EF4-FFF2-40B4-BE49-F238E27FC236}">
                <a16:creationId xmlns:a16="http://schemas.microsoft.com/office/drawing/2014/main" id="{2983EEE5-671A-1E4E-F0E6-0B195F7A291D}"/>
              </a:ext>
            </a:extLst>
          </p:cNvPr>
          <p:cNvSpPr>
            <a:spLocks noGrp="1"/>
          </p:cNvSpPr>
          <p:nvPr>
            <p:ph type="sldNum" sz="quarter" idx="12"/>
          </p:nvPr>
        </p:nvSpPr>
        <p:spPr/>
        <p:txBody>
          <a:bodyPr/>
          <a:lstStyle/>
          <a:p>
            <a:fld id="{B5CEABB6-07DC-46E8-9B57-56EC44A396E5}" type="slidenum">
              <a:rPr lang="en-US" altLang="zh-TW" sz="800" noProof="0" smtClean="0"/>
              <a:pPr/>
              <a:t>8</a:t>
            </a:fld>
            <a:endParaRPr lang="zh-TW" altLang="en-US" sz="800" noProof="0" dirty="0"/>
          </a:p>
        </p:txBody>
      </p:sp>
    </p:spTree>
    <p:extLst>
      <p:ext uri="{BB962C8B-B14F-4D97-AF65-F5344CB8AC3E}">
        <p14:creationId xmlns:p14="http://schemas.microsoft.com/office/powerpoint/2010/main" val="2984599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63563A-CD1D-7588-C01E-495329988711}"/>
              </a:ext>
            </a:extLst>
          </p:cNvPr>
          <p:cNvSpPr>
            <a:spLocks noGrp="1"/>
          </p:cNvSpPr>
          <p:nvPr>
            <p:ph type="title"/>
          </p:nvPr>
        </p:nvSpPr>
        <p:spPr>
          <a:xfrm>
            <a:off x="1413867" y="892185"/>
            <a:ext cx="6316266" cy="708016"/>
          </a:xfrm>
        </p:spPr>
        <p:txBody>
          <a:bodyPr>
            <a:normAutofit/>
          </a:bodyPr>
          <a:lstStyle/>
          <a:p>
            <a:r>
              <a:rPr lang="zh-TW" altLang="en-US" sz="3600" dirty="0"/>
              <a:t>預計產出的成果</a:t>
            </a:r>
          </a:p>
        </p:txBody>
      </p:sp>
      <p:sp>
        <p:nvSpPr>
          <p:cNvPr id="10" name="Rectangle 1">
            <a:extLst>
              <a:ext uri="{FF2B5EF4-FFF2-40B4-BE49-F238E27FC236}">
                <a16:creationId xmlns:a16="http://schemas.microsoft.com/office/drawing/2014/main" id="{9A24459D-D0C2-7E2D-AA53-B1068ACBCAFD}"/>
              </a:ext>
            </a:extLst>
          </p:cNvPr>
          <p:cNvSpPr>
            <a:spLocks noGrp="1" noChangeArrowheads="1"/>
          </p:cNvSpPr>
          <p:nvPr>
            <p:ph type="body" idx="1"/>
          </p:nvPr>
        </p:nvSpPr>
        <p:spPr bwMode="auto">
          <a:xfrm>
            <a:off x="1071219" y="1733950"/>
            <a:ext cx="6856824" cy="38420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zh-TW" sz="2000" b="0" i="0" u="none" strike="noStrike" cap="none" normalizeH="0" baseline="0" dirty="0">
                <a:ln>
                  <a:noFill/>
                </a:ln>
                <a:solidFill>
                  <a:schemeClr val="tx1"/>
                </a:solidFill>
                <a:effectLst/>
                <a:latin typeface="+mn-lt"/>
                <a:ea typeface="Google Sans Text"/>
              </a:rPr>
              <a:t>建置出一套高擬真攻防實驗場域，驗證系統在面對各類變形攻擊時的韌性。</a:t>
            </a:r>
          </a:p>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en-US" sz="2000" b="0" i="0" u="none" strike="noStrike" cap="none" normalizeH="0" baseline="0" dirty="0">
                <a:ln>
                  <a:noFill/>
                </a:ln>
                <a:solidFill>
                  <a:schemeClr val="tx1"/>
                </a:solidFill>
                <a:effectLst/>
                <a:latin typeface="+mn-lt"/>
              </a:rPr>
              <a:t>完成從流量偵測到阻斷回應的完全自動化防禦系統。</a:t>
            </a:r>
            <a:endParaRPr kumimoji="0" lang="en-US" altLang="zh-TW" sz="2000" b="0" i="0" u="none" strike="noStrike" cap="none" normalizeH="0" baseline="0" dirty="0">
              <a:ln>
                <a:noFill/>
              </a:ln>
              <a:solidFill>
                <a:schemeClr val="tx1"/>
              </a:solidFill>
              <a:effectLst/>
              <a:latin typeface="+mn-lt"/>
            </a:endParaRPr>
          </a:p>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en-US" sz="2000" b="0" i="0" u="none" strike="noStrike" cap="none" normalizeH="0" baseline="0" dirty="0">
                <a:ln>
                  <a:noFill/>
                </a:ln>
                <a:solidFill>
                  <a:schemeClr val="tx1"/>
                </a:solidFill>
                <a:effectLst/>
                <a:latin typeface="+mn-lt"/>
              </a:rPr>
              <a:t>模型偵測到異常時，能在無人工介入的情況下，於數秒內自動發送防火牆阻斷規則。</a:t>
            </a:r>
            <a:endParaRPr kumimoji="0" lang="en-US" altLang="zh-TW" sz="2000" b="0" i="0" u="none" strike="noStrike" cap="none" normalizeH="0" baseline="0" dirty="0">
              <a:ln>
                <a:noFill/>
              </a:ln>
              <a:solidFill>
                <a:schemeClr val="tx1"/>
              </a:solidFill>
              <a:effectLst/>
              <a:latin typeface="+mn-lt"/>
            </a:endParaRPr>
          </a:p>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en-US" sz="2000" b="0" i="0" u="none" strike="noStrike" cap="none" normalizeH="0" baseline="0" dirty="0">
                <a:ln>
                  <a:noFill/>
                </a:ln>
                <a:solidFill>
                  <a:schemeClr val="tx1"/>
                </a:solidFill>
                <a:effectLst/>
                <a:latin typeface="+mn-lt"/>
              </a:rPr>
              <a:t>成功透過 </a:t>
            </a:r>
            <a:r>
              <a:rPr kumimoji="0" lang="en-US" altLang="zh-TW" sz="2000" b="0" i="0" u="none" strike="noStrike" cap="none" normalizeH="0" baseline="0" dirty="0">
                <a:ln>
                  <a:noFill/>
                </a:ln>
                <a:solidFill>
                  <a:schemeClr val="tx1"/>
                </a:solidFill>
                <a:effectLst/>
                <a:latin typeface="+mn-lt"/>
              </a:rPr>
              <a:t>API </a:t>
            </a:r>
            <a:r>
              <a:rPr kumimoji="0" lang="zh-TW" altLang="en-US" sz="2000" b="0" i="0" u="none" strike="noStrike" cap="none" normalizeH="0" baseline="0" dirty="0">
                <a:ln>
                  <a:noFill/>
                </a:ln>
                <a:solidFill>
                  <a:schemeClr val="tx1"/>
                </a:solidFill>
                <a:effectLst/>
                <a:latin typeface="+mn-lt"/>
              </a:rPr>
              <a:t>將威脅指標 </a:t>
            </a:r>
            <a:r>
              <a:rPr kumimoji="0" lang="en-US" altLang="zh-TW" sz="2000" b="0" i="0" u="none" strike="noStrike" cap="none" normalizeH="0" baseline="0" dirty="0">
                <a:ln>
                  <a:noFill/>
                </a:ln>
                <a:solidFill>
                  <a:schemeClr val="tx1"/>
                </a:solidFill>
                <a:effectLst/>
                <a:latin typeface="+mn-lt"/>
              </a:rPr>
              <a:t>(IoC) </a:t>
            </a:r>
            <a:r>
              <a:rPr kumimoji="0" lang="zh-TW" altLang="en-US" sz="2000" b="0" i="0" u="none" strike="noStrike" cap="none" normalizeH="0" baseline="0" dirty="0">
                <a:ln>
                  <a:noFill/>
                </a:ln>
                <a:solidFill>
                  <a:schemeClr val="tx1"/>
                </a:solidFill>
                <a:effectLst/>
                <a:latin typeface="+mn-lt"/>
              </a:rPr>
              <a:t>回寫至自建的 </a:t>
            </a:r>
            <a:r>
              <a:rPr kumimoji="0" lang="en-US" altLang="zh-TW" sz="2000" b="0" i="0" u="none" strike="noStrike" cap="none" normalizeH="0" baseline="0" dirty="0">
                <a:ln>
                  <a:noFill/>
                </a:ln>
                <a:solidFill>
                  <a:schemeClr val="tx1"/>
                </a:solidFill>
                <a:effectLst/>
                <a:latin typeface="+mn-lt"/>
              </a:rPr>
              <a:t>MISP </a:t>
            </a:r>
            <a:r>
              <a:rPr kumimoji="0" lang="zh-TW" altLang="en-US" sz="2000" b="0" i="0" u="none" strike="noStrike" cap="none" normalizeH="0" baseline="0" dirty="0">
                <a:ln>
                  <a:noFill/>
                </a:ln>
                <a:solidFill>
                  <a:schemeClr val="tx1"/>
                </a:solidFill>
                <a:effectLst/>
                <a:latin typeface="+mn-lt"/>
              </a:rPr>
              <a:t>情資平台，實現情資動態更新。</a:t>
            </a:r>
            <a:endParaRPr kumimoji="0" lang="en-US" altLang="zh-TW" sz="2000" b="0" i="0" u="none" strike="noStrike" cap="none" normalizeH="0" baseline="0" dirty="0">
              <a:ln>
                <a:noFill/>
              </a:ln>
              <a:solidFill>
                <a:schemeClr val="tx1"/>
              </a:solidFill>
              <a:effectLst/>
              <a:latin typeface="+mn-lt"/>
            </a:endParaRPr>
          </a:p>
          <a:p>
            <a:pPr marL="285750" marR="0" lvl="0" indent="-285750" algn="just" defTabSz="914400" rtl="0" eaLnBrk="0" fontAlgn="base" latinLnBrk="0" hangingPunct="0">
              <a:lnSpc>
                <a:spcPct val="100000"/>
              </a:lnSpc>
              <a:spcBef>
                <a:spcPts val="1000"/>
              </a:spcBef>
              <a:spcAft>
                <a:spcPts val="1000"/>
              </a:spcAft>
              <a:buClrTx/>
              <a:buSzTx/>
              <a:buFont typeface="Arial" panose="020B0604020202020204" pitchFamily="34" charset="0"/>
              <a:buChar char="•"/>
              <a:tabLst/>
            </a:pPr>
            <a:r>
              <a:rPr kumimoji="0" lang="zh-TW" altLang="en-US" sz="2000" b="0" i="0" u="none" strike="noStrike" cap="none" normalizeH="0" baseline="0" dirty="0">
                <a:ln>
                  <a:noFill/>
                </a:ln>
                <a:solidFill>
                  <a:schemeClr val="tx1"/>
                </a:solidFill>
                <a:effectLst/>
                <a:latin typeface="+mn-lt"/>
              </a:rPr>
              <a:t>為後量子時代的加密網路安全提前部署，提出具前瞻性的資安解決方案</a:t>
            </a:r>
            <a:r>
              <a:rPr kumimoji="0" lang="zh-TW" altLang="en-US" sz="1400" b="0" i="0" u="none" strike="noStrike" cap="none" normalizeH="0" baseline="0" dirty="0">
                <a:ln>
                  <a:noFill/>
                </a:ln>
                <a:solidFill>
                  <a:schemeClr val="tx1"/>
                </a:solidFill>
                <a:effectLst/>
                <a:latin typeface="+mn-lt"/>
              </a:rPr>
              <a:t>。</a:t>
            </a:r>
            <a:endParaRPr kumimoji="0" lang="zh-TW" altLang="zh-TW" sz="1400" b="0" i="0" u="none" strike="noStrike" cap="none" normalizeH="0" baseline="0" dirty="0">
              <a:ln>
                <a:noFill/>
              </a:ln>
              <a:solidFill>
                <a:schemeClr val="tx1"/>
              </a:solidFill>
              <a:effectLst/>
              <a:latin typeface="+mn-lt"/>
            </a:endParaRPr>
          </a:p>
        </p:txBody>
      </p:sp>
      <p:sp>
        <p:nvSpPr>
          <p:cNvPr id="9" name="投影片編號版面配置區 8">
            <a:extLst>
              <a:ext uri="{FF2B5EF4-FFF2-40B4-BE49-F238E27FC236}">
                <a16:creationId xmlns:a16="http://schemas.microsoft.com/office/drawing/2014/main" id="{3AB5DF4F-CC0E-53B7-8A20-1BCEE07BF253}"/>
              </a:ext>
            </a:extLst>
          </p:cNvPr>
          <p:cNvSpPr>
            <a:spLocks noGrp="1"/>
          </p:cNvSpPr>
          <p:nvPr>
            <p:ph type="sldNum" sz="quarter" idx="12"/>
          </p:nvPr>
        </p:nvSpPr>
        <p:spPr/>
        <p:txBody>
          <a:bodyPr/>
          <a:lstStyle/>
          <a:p>
            <a:fld id="{B5CEABB6-07DC-46E8-9B57-56EC44A396E5}" type="slidenum">
              <a:rPr lang="en-US" altLang="zh-TW" sz="800" noProof="0" smtClean="0"/>
              <a:pPr/>
              <a:t>9</a:t>
            </a:fld>
            <a:endParaRPr lang="zh-TW" altLang="en-US" sz="800" noProof="0" dirty="0"/>
          </a:p>
        </p:txBody>
      </p:sp>
    </p:spTree>
    <p:extLst>
      <p:ext uri="{BB962C8B-B14F-4D97-AF65-F5344CB8AC3E}">
        <p14:creationId xmlns:p14="http://schemas.microsoft.com/office/powerpoint/2010/main" val="1950192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5DD892A-C95F-8E7C-1190-B6FF1D9DC790}"/>
              </a:ext>
            </a:extLst>
          </p:cNvPr>
          <p:cNvSpPr>
            <a:spLocks noGrp="1"/>
          </p:cNvSpPr>
          <p:nvPr>
            <p:ph type="title"/>
          </p:nvPr>
        </p:nvSpPr>
        <p:spPr>
          <a:xfrm>
            <a:off x="1021559" y="1671639"/>
            <a:ext cx="5077905" cy="565723"/>
          </a:xfrm>
        </p:spPr>
        <p:txBody>
          <a:bodyPr>
            <a:noAutofit/>
          </a:bodyPr>
          <a:lstStyle/>
          <a:p>
            <a:r>
              <a:rPr lang="zh-TW" altLang="en-US" sz="3600" dirty="0"/>
              <a:t>預計參加的比賽項目</a:t>
            </a:r>
          </a:p>
        </p:txBody>
      </p:sp>
      <p:sp>
        <p:nvSpPr>
          <p:cNvPr id="3" name="文字版面配置區 2">
            <a:extLst>
              <a:ext uri="{FF2B5EF4-FFF2-40B4-BE49-F238E27FC236}">
                <a16:creationId xmlns:a16="http://schemas.microsoft.com/office/drawing/2014/main" id="{1432356F-81BE-B96B-FD3E-F78DE9FFB723}"/>
              </a:ext>
            </a:extLst>
          </p:cNvPr>
          <p:cNvSpPr>
            <a:spLocks noGrp="1"/>
          </p:cNvSpPr>
          <p:nvPr>
            <p:ph type="body" idx="1"/>
          </p:nvPr>
        </p:nvSpPr>
        <p:spPr>
          <a:xfrm>
            <a:off x="928041" y="2798328"/>
            <a:ext cx="5389632" cy="1525588"/>
          </a:xfrm>
        </p:spPr>
        <p:txBody>
          <a:bodyPr>
            <a:normAutofit/>
          </a:bodyPr>
          <a:lstStyle/>
          <a:p>
            <a:pPr marL="342900" indent="-342900">
              <a:buFont typeface="Arial" panose="020B0604020202020204" pitchFamily="34" charset="0"/>
              <a:buChar char="•"/>
            </a:pPr>
            <a:r>
              <a:rPr lang="en-US" altLang="zh-TW" sz="2000" dirty="0">
                <a:latin typeface="+mn-ea"/>
                <a:ea typeface="+mn-ea"/>
              </a:rPr>
              <a:t>115</a:t>
            </a:r>
            <a:r>
              <a:rPr lang="zh-TW" altLang="en-US" sz="2000" dirty="0">
                <a:latin typeface="+mn-ea"/>
                <a:ea typeface="+mn-ea"/>
              </a:rPr>
              <a:t>資工系計算機專題競賽</a:t>
            </a:r>
            <a:endParaRPr lang="en-US" altLang="zh-TW" sz="2000" dirty="0">
              <a:latin typeface="+mn-ea"/>
              <a:ea typeface="+mn-ea"/>
            </a:endParaRPr>
          </a:p>
          <a:p>
            <a:pPr marL="342900" indent="-342900">
              <a:buFont typeface="Arial" panose="020B0604020202020204" pitchFamily="34" charset="0"/>
              <a:buChar char="•"/>
            </a:pPr>
            <a:r>
              <a:rPr lang="zh-TW" altLang="en-US" sz="2000" dirty="0">
                <a:latin typeface="+mn-ea"/>
                <a:ea typeface="+mn-ea"/>
              </a:rPr>
              <a:t>全國創意與智慧科技競賽 </a:t>
            </a:r>
            <a:r>
              <a:rPr lang="en-US" altLang="zh-TW" sz="2000" dirty="0">
                <a:latin typeface="+mn-ea"/>
                <a:ea typeface="+mn-ea"/>
              </a:rPr>
              <a:t>--</a:t>
            </a:r>
            <a:r>
              <a:rPr lang="zh-TW" altLang="en-US" sz="2000" dirty="0">
                <a:latin typeface="+mn-ea"/>
                <a:ea typeface="+mn-ea"/>
              </a:rPr>
              <a:t>人工智慧組</a:t>
            </a:r>
            <a:endParaRPr lang="en-US" altLang="zh-TW" sz="2000" dirty="0">
              <a:latin typeface="+mn-ea"/>
              <a:ea typeface="+mn-ea"/>
            </a:endParaRPr>
          </a:p>
          <a:p>
            <a:pPr marL="342900" indent="-342900">
              <a:buFont typeface="Arial" panose="020B0604020202020204" pitchFamily="34" charset="0"/>
              <a:buChar char="•"/>
            </a:pPr>
            <a:r>
              <a:rPr lang="zh-TW" altLang="en-US" sz="2000" dirty="0">
                <a:latin typeface="+mn-ea"/>
                <a:ea typeface="+mn-ea"/>
              </a:rPr>
              <a:t>大專校院資訊應用服務創新競賽</a:t>
            </a:r>
          </a:p>
        </p:txBody>
      </p:sp>
      <p:sp>
        <p:nvSpPr>
          <p:cNvPr id="4" name="投影片編號版面配置區 3">
            <a:extLst>
              <a:ext uri="{FF2B5EF4-FFF2-40B4-BE49-F238E27FC236}">
                <a16:creationId xmlns:a16="http://schemas.microsoft.com/office/drawing/2014/main" id="{2D386201-52AC-B7CA-3802-6B43BF702888}"/>
              </a:ext>
            </a:extLst>
          </p:cNvPr>
          <p:cNvSpPr>
            <a:spLocks noGrp="1"/>
          </p:cNvSpPr>
          <p:nvPr>
            <p:ph type="sldNum" sz="quarter" idx="12"/>
          </p:nvPr>
        </p:nvSpPr>
        <p:spPr/>
        <p:txBody>
          <a:bodyPr/>
          <a:lstStyle/>
          <a:p>
            <a:fld id="{B5CEABB6-07DC-46E8-9B57-56EC44A396E5}" type="slidenum">
              <a:rPr lang="en-US" altLang="zh-TW" sz="800" noProof="0" smtClean="0"/>
              <a:pPr/>
              <a:t>10</a:t>
            </a:fld>
            <a:endParaRPr lang="zh-TW" altLang="en-US" sz="800" noProof="0" dirty="0"/>
          </a:p>
        </p:txBody>
      </p:sp>
    </p:spTree>
    <p:extLst>
      <p:ext uri="{BB962C8B-B14F-4D97-AF65-F5344CB8AC3E}">
        <p14:creationId xmlns:p14="http://schemas.microsoft.com/office/powerpoint/2010/main" val="328483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29C37BF-6FC9-D4BF-4393-AD5B9E66B65C}"/>
              </a:ext>
            </a:extLst>
          </p:cNvPr>
          <p:cNvSpPr>
            <a:spLocks noGrp="1"/>
          </p:cNvSpPr>
          <p:nvPr>
            <p:ph type="title"/>
          </p:nvPr>
        </p:nvSpPr>
        <p:spPr>
          <a:xfrm>
            <a:off x="2977302" y="209254"/>
            <a:ext cx="3189395" cy="617934"/>
          </a:xfrm>
        </p:spPr>
        <p:txBody>
          <a:bodyPr>
            <a:noAutofit/>
          </a:bodyPr>
          <a:lstStyle/>
          <a:p>
            <a:pPr algn="ctr"/>
            <a:r>
              <a:rPr lang="zh-TW" altLang="en-US" sz="3600" dirty="0"/>
              <a:t>規劃時程 </a:t>
            </a:r>
          </a:p>
        </p:txBody>
      </p:sp>
      <p:sp>
        <p:nvSpPr>
          <p:cNvPr id="7" name="投影片編號版面配置區 6">
            <a:extLst>
              <a:ext uri="{FF2B5EF4-FFF2-40B4-BE49-F238E27FC236}">
                <a16:creationId xmlns:a16="http://schemas.microsoft.com/office/drawing/2014/main" id="{A8965DA3-8F81-28FA-A488-216DB54F8FBC}"/>
              </a:ext>
            </a:extLst>
          </p:cNvPr>
          <p:cNvSpPr>
            <a:spLocks noGrp="1"/>
          </p:cNvSpPr>
          <p:nvPr>
            <p:ph type="sldNum" sz="quarter" idx="12"/>
          </p:nvPr>
        </p:nvSpPr>
        <p:spPr/>
        <p:txBody>
          <a:bodyPr/>
          <a:lstStyle/>
          <a:p>
            <a:fld id="{B5CEABB6-07DC-46E8-9B57-56EC44A396E5}" type="slidenum">
              <a:rPr lang="en-US" altLang="zh-TW" noProof="0" smtClean="0"/>
              <a:pPr/>
              <a:t>11</a:t>
            </a:fld>
            <a:endParaRPr lang="zh-TW" altLang="en-US" noProof="0"/>
          </a:p>
        </p:txBody>
      </p:sp>
      <p:graphicFrame>
        <p:nvGraphicFramePr>
          <p:cNvPr id="4" name="表格 3">
            <a:extLst>
              <a:ext uri="{FF2B5EF4-FFF2-40B4-BE49-F238E27FC236}">
                <a16:creationId xmlns:a16="http://schemas.microsoft.com/office/drawing/2014/main" id="{76CEA7BA-2E19-770F-9C59-79901B796534}"/>
              </a:ext>
            </a:extLst>
          </p:cNvPr>
          <p:cNvGraphicFramePr>
            <a:graphicFrameLocks noGrp="1"/>
          </p:cNvGraphicFramePr>
          <p:nvPr>
            <p:extLst>
              <p:ext uri="{D42A27DB-BD31-4B8C-83A1-F6EECF244321}">
                <p14:modId xmlns:p14="http://schemas.microsoft.com/office/powerpoint/2010/main" val="1898960949"/>
              </p:ext>
            </p:extLst>
          </p:nvPr>
        </p:nvGraphicFramePr>
        <p:xfrm>
          <a:off x="296925" y="910886"/>
          <a:ext cx="8550148" cy="5737860"/>
        </p:xfrm>
        <a:graphic>
          <a:graphicData uri="http://schemas.openxmlformats.org/drawingml/2006/table">
            <a:tbl>
              <a:tblPr firstRow="1">
                <a:tableStyleId>{17292A2E-F333-43FB-9621-5CBBE7FDCDCB}</a:tableStyleId>
              </a:tblPr>
              <a:tblGrid>
                <a:gridCol w="1422148">
                  <a:extLst>
                    <a:ext uri="{9D8B030D-6E8A-4147-A177-3AD203B41FA5}">
                      <a16:colId xmlns:a16="http://schemas.microsoft.com/office/drawing/2014/main" val="2279423080"/>
                    </a:ext>
                  </a:extLst>
                </a:gridCol>
                <a:gridCol w="792000">
                  <a:extLst>
                    <a:ext uri="{9D8B030D-6E8A-4147-A177-3AD203B41FA5}">
                      <a16:colId xmlns:a16="http://schemas.microsoft.com/office/drawing/2014/main" val="2190934902"/>
                    </a:ext>
                  </a:extLst>
                </a:gridCol>
                <a:gridCol w="792000">
                  <a:extLst>
                    <a:ext uri="{9D8B030D-6E8A-4147-A177-3AD203B41FA5}">
                      <a16:colId xmlns:a16="http://schemas.microsoft.com/office/drawing/2014/main" val="693018727"/>
                    </a:ext>
                  </a:extLst>
                </a:gridCol>
                <a:gridCol w="792000">
                  <a:extLst>
                    <a:ext uri="{9D8B030D-6E8A-4147-A177-3AD203B41FA5}">
                      <a16:colId xmlns:a16="http://schemas.microsoft.com/office/drawing/2014/main" val="812021294"/>
                    </a:ext>
                  </a:extLst>
                </a:gridCol>
                <a:gridCol w="792000">
                  <a:extLst>
                    <a:ext uri="{9D8B030D-6E8A-4147-A177-3AD203B41FA5}">
                      <a16:colId xmlns:a16="http://schemas.microsoft.com/office/drawing/2014/main" val="2593094880"/>
                    </a:ext>
                  </a:extLst>
                </a:gridCol>
                <a:gridCol w="792000">
                  <a:extLst>
                    <a:ext uri="{9D8B030D-6E8A-4147-A177-3AD203B41FA5}">
                      <a16:colId xmlns:a16="http://schemas.microsoft.com/office/drawing/2014/main" val="4050546068"/>
                    </a:ext>
                  </a:extLst>
                </a:gridCol>
                <a:gridCol w="792000">
                  <a:extLst>
                    <a:ext uri="{9D8B030D-6E8A-4147-A177-3AD203B41FA5}">
                      <a16:colId xmlns:a16="http://schemas.microsoft.com/office/drawing/2014/main" val="1427226634"/>
                    </a:ext>
                  </a:extLst>
                </a:gridCol>
                <a:gridCol w="792000">
                  <a:extLst>
                    <a:ext uri="{9D8B030D-6E8A-4147-A177-3AD203B41FA5}">
                      <a16:colId xmlns:a16="http://schemas.microsoft.com/office/drawing/2014/main" val="11404893"/>
                    </a:ext>
                  </a:extLst>
                </a:gridCol>
                <a:gridCol w="792000">
                  <a:extLst>
                    <a:ext uri="{9D8B030D-6E8A-4147-A177-3AD203B41FA5}">
                      <a16:colId xmlns:a16="http://schemas.microsoft.com/office/drawing/2014/main" val="2880679725"/>
                    </a:ext>
                  </a:extLst>
                </a:gridCol>
                <a:gridCol w="792000">
                  <a:extLst>
                    <a:ext uri="{9D8B030D-6E8A-4147-A177-3AD203B41FA5}">
                      <a16:colId xmlns:a16="http://schemas.microsoft.com/office/drawing/2014/main" val="1167367535"/>
                    </a:ext>
                  </a:extLst>
                </a:gridCol>
              </a:tblGrid>
              <a:tr h="774368">
                <a:tc>
                  <a:txBody>
                    <a:bodyPr/>
                    <a:lstStyle/>
                    <a:p>
                      <a:pPr algn="ctr"/>
                      <a:r>
                        <a:rPr lang="zh-TW" altLang="en-US" sz="1600" b="0" dirty="0">
                          <a:solidFill>
                            <a:schemeClr val="tx1"/>
                          </a:solidFill>
                        </a:rPr>
                        <a:t>研究計畫時程表</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3</a:t>
                      </a:r>
                      <a:r>
                        <a:rPr lang="zh-TW" altLang="en-US" sz="1600" b="0" dirty="0">
                          <a:solidFill>
                            <a:schemeClr val="tx1"/>
                          </a:solidFill>
                        </a:rPr>
                        <a:t>月</a:t>
                      </a:r>
                      <a:endParaRPr lang="en-US" altLang="zh-TW" sz="16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zh-TW" sz="1600" b="0" dirty="0">
                          <a:solidFill>
                            <a:schemeClr val="tx1"/>
                          </a:solidFill>
                        </a:rPr>
                        <a:t>4</a:t>
                      </a:r>
                      <a:r>
                        <a:rPr lang="zh-TW" altLang="en-US" sz="1600" b="0" dirty="0">
                          <a:solidFill>
                            <a:schemeClr val="tx1"/>
                          </a:solidFill>
                        </a:rPr>
                        <a:t>月</a:t>
                      </a:r>
                      <a:endParaRPr lang="en-US" altLang="zh-TW" sz="16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5</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6</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7</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8</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endParaRPr lang="en-US" altLang="zh-TW" sz="1600" b="0" dirty="0">
                        <a:solidFill>
                          <a:schemeClr val="tx1"/>
                        </a:solidFill>
                      </a:endParaRPr>
                    </a:p>
                    <a:p>
                      <a:pPr algn="ctr"/>
                      <a:r>
                        <a:rPr lang="en-US" altLang="zh-TW" sz="1600" b="0" dirty="0">
                          <a:solidFill>
                            <a:schemeClr val="tx1"/>
                          </a:solidFill>
                        </a:rPr>
                        <a:t>9</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r>
                        <a:rPr lang="en-US" altLang="zh-TW" sz="1600" b="0" dirty="0">
                          <a:solidFill>
                            <a:schemeClr val="tx1"/>
                          </a:solidFill>
                        </a:rPr>
                        <a:t>115</a:t>
                      </a:r>
                      <a:r>
                        <a:rPr lang="zh-TW" altLang="en-US" sz="1600" b="0" dirty="0">
                          <a:solidFill>
                            <a:schemeClr val="tx1"/>
                          </a:solidFill>
                        </a:rPr>
                        <a:t>年</a:t>
                      </a:r>
                      <a:r>
                        <a:rPr lang="en-US" altLang="zh-TW" sz="1600" b="0" dirty="0">
                          <a:solidFill>
                            <a:schemeClr val="tx1"/>
                          </a:solidFill>
                        </a:rPr>
                        <a:t>10</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altLang="zh-TW" sz="1600" b="0" dirty="0">
                          <a:solidFill>
                            <a:schemeClr val="tx1"/>
                          </a:solidFill>
                        </a:rPr>
                        <a:t>115</a:t>
                      </a:r>
                      <a:r>
                        <a:rPr lang="zh-TW" altLang="en-US" sz="1600" b="0" dirty="0">
                          <a:solidFill>
                            <a:schemeClr val="tx1"/>
                          </a:solidFill>
                        </a:rPr>
                        <a:t>年</a:t>
                      </a:r>
                      <a:r>
                        <a:rPr lang="en-US" altLang="zh-TW" sz="1600" b="0" dirty="0">
                          <a:solidFill>
                            <a:schemeClr val="tx1"/>
                          </a:solidFill>
                        </a:rPr>
                        <a:t>11-12</a:t>
                      </a:r>
                      <a:r>
                        <a:rPr lang="zh-TW" altLang="en-US" sz="1600" b="0" dirty="0">
                          <a:solidFill>
                            <a:schemeClr val="tx1"/>
                          </a:solidFill>
                        </a:rPr>
                        <a:t>月</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extLst>
                  <a:ext uri="{0D108BD9-81ED-4DB2-BD59-A6C34878D82A}">
                    <a16:rowId xmlns:a16="http://schemas.microsoft.com/office/drawing/2014/main" val="1589332996"/>
                  </a:ext>
                </a:extLst>
              </a:tr>
              <a:tr h="1010366">
                <a:tc>
                  <a:txBody>
                    <a:bodyPr/>
                    <a:lstStyle/>
                    <a:p>
                      <a:pPr algn="ctr"/>
                      <a:r>
                        <a:rPr lang="zh-TW" altLang="en-US" sz="1600" b="0" dirty="0">
                          <a:solidFill>
                            <a:schemeClr val="tx1"/>
                          </a:solidFill>
                        </a:rPr>
                        <a:t>了解虛擬網路架構和封包傳遞、分析及偵測方式</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25676576"/>
                  </a:ext>
                </a:extLst>
              </a:tr>
              <a:tr h="774368">
                <a:tc>
                  <a:txBody>
                    <a:bodyPr/>
                    <a:lstStyle/>
                    <a:p>
                      <a:pPr algn="ctr"/>
                      <a:r>
                        <a:rPr lang="zh-TW" altLang="en-US" sz="1600" b="0" dirty="0">
                          <a:solidFill>
                            <a:schemeClr val="tx1"/>
                          </a:solidFill>
                        </a:rPr>
                        <a:t>了解情資整合與資安自動化回應</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11029501"/>
                  </a:ext>
                </a:extLst>
              </a:tr>
              <a:tr h="302372">
                <a:tc>
                  <a:txBody>
                    <a:bodyPr/>
                    <a:lstStyle/>
                    <a:p>
                      <a:pPr algn="ctr"/>
                      <a:r>
                        <a:rPr lang="zh-TW" altLang="en-US" sz="1600" b="0" dirty="0">
                          <a:solidFill>
                            <a:schemeClr val="tx1"/>
                          </a:solidFill>
                        </a:rPr>
                        <a:t>虛擬環境建置</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46509967"/>
                  </a:ext>
                </a:extLst>
              </a:tr>
              <a:tr h="538370">
                <a:tc>
                  <a:txBody>
                    <a:bodyPr/>
                    <a:lstStyle/>
                    <a:p>
                      <a:pPr algn="ctr"/>
                      <a:r>
                        <a:rPr lang="zh-TW" altLang="en-US" sz="1600" b="0" dirty="0">
                          <a:solidFill>
                            <a:schemeClr val="tx1"/>
                          </a:solidFill>
                        </a:rPr>
                        <a:t>資料生成與特徵工程</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164657"/>
                  </a:ext>
                </a:extLst>
              </a:tr>
              <a:tr h="538370">
                <a:tc>
                  <a:txBody>
                    <a:bodyPr/>
                    <a:lstStyle/>
                    <a:p>
                      <a:pPr algn="ctr"/>
                      <a:r>
                        <a:rPr lang="zh-TW" altLang="en-US" sz="1600" b="0" dirty="0">
                          <a:solidFill>
                            <a:schemeClr val="tx1"/>
                          </a:solidFill>
                        </a:rPr>
                        <a:t>監督式模型建構</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45532419"/>
                  </a:ext>
                </a:extLst>
              </a:tr>
              <a:tr h="538370">
                <a:tc>
                  <a:txBody>
                    <a:bodyPr/>
                    <a:lstStyle/>
                    <a:p>
                      <a:pPr algn="ctr"/>
                      <a:r>
                        <a:rPr lang="zh-TW" altLang="en-US" sz="1600" b="0" dirty="0">
                          <a:solidFill>
                            <a:schemeClr val="tx1"/>
                          </a:solidFill>
                        </a:rPr>
                        <a:t>情資整合與自動化回應</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82783767"/>
                  </a:ext>
                </a:extLst>
              </a:tr>
              <a:tr h="538370">
                <a:tc>
                  <a:txBody>
                    <a:bodyPr/>
                    <a:lstStyle/>
                    <a:p>
                      <a:pPr algn="ctr"/>
                      <a:r>
                        <a:rPr lang="zh-TW" altLang="en-US" sz="1600" b="0" dirty="0">
                          <a:solidFill>
                            <a:schemeClr val="tx1"/>
                          </a:solidFill>
                        </a:rPr>
                        <a:t>系統整合測試與評估</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extLst>
                  <a:ext uri="{0D108BD9-81ED-4DB2-BD59-A6C34878D82A}">
                    <a16:rowId xmlns:a16="http://schemas.microsoft.com/office/drawing/2014/main" val="3442204387"/>
                  </a:ext>
                </a:extLst>
              </a:tr>
              <a:tr h="538370">
                <a:tc>
                  <a:txBody>
                    <a:bodyPr/>
                    <a:lstStyle/>
                    <a:p>
                      <a:pPr algn="ctr"/>
                      <a:r>
                        <a:rPr lang="zh-TW" altLang="en-US" sz="1600" b="0" dirty="0">
                          <a:solidFill>
                            <a:schemeClr val="tx1"/>
                          </a:solidFill>
                        </a:rPr>
                        <a:t>研究成果報告撰寫</a:t>
                      </a: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schemeClr>
                    </a:solidFill>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TW" altLang="en-US" sz="1200" b="0" dirty="0">
                        <a:solidFill>
                          <a:schemeClr val="tx1"/>
                        </a:solidFill>
                      </a:endParaRPr>
                    </a:p>
                  </a:txBody>
                  <a:tcPr marL="68580" marR="68580" marT="34290" marB="3429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DB3E2"/>
                    </a:solidFill>
                  </a:tcPr>
                </a:tc>
                <a:extLst>
                  <a:ext uri="{0D108BD9-81ED-4DB2-BD59-A6C34878D82A}">
                    <a16:rowId xmlns:a16="http://schemas.microsoft.com/office/drawing/2014/main" val="2478411769"/>
                  </a:ext>
                </a:extLst>
              </a:tr>
            </a:tbl>
          </a:graphicData>
        </a:graphic>
      </p:graphicFrame>
    </p:spTree>
    <p:extLst>
      <p:ext uri="{BB962C8B-B14F-4D97-AF65-F5344CB8AC3E}">
        <p14:creationId xmlns:p14="http://schemas.microsoft.com/office/powerpoint/2010/main" val="2157247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BA9E2D-C94E-7AE6-AB84-C3D5D1068B3E}"/>
              </a:ext>
            </a:extLst>
          </p:cNvPr>
          <p:cNvSpPr>
            <a:spLocks noGrp="1"/>
          </p:cNvSpPr>
          <p:nvPr>
            <p:ph type="title"/>
          </p:nvPr>
        </p:nvSpPr>
        <p:spPr>
          <a:xfrm>
            <a:off x="351346" y="1595999"/>
            <a:ext cx="6044259" cy="571096"/>
          </a:xfrm>
        </p:spPr>
        <p:txBody>
          <a:bodyPr>
            <a:noAutofit/>
          </a:bodyPr>
          <a:lstStyle/>
          <a:p>
            <a:r>
              <a:rPr lang="zh-TW" altLang="en-US" sz="3600" dirty="0"/>
              <a:t> 參與人員分工與時數分配</a:t>
            </a:r>
          </a:p>
        </p:txBody>
      </p:sp>
      <p:sp>
        <p:nvSpPr>
          <p:cNvPr id="4" name="投影片編號版面配置區 3">
            <a:extLst>
              <a:ext uri="{FF2B5EF4-FFF2-40B4-BE49-F238E27FC236}">
                <a16:creationId xmlns:a16="http://schemas.microsoft.com/office/drawing/2014/main" id="{7948FF86-B9BC-F381-5C53-42F82E4224AB}"/>
              </a:ext>
            </a:extLst>
          </p:cNvPr>
          <p:cNvSpPr>
            <a:spLocks noGrp="1"/>
          </p:cNvSpPr>
          <p:nvPr>
            <p:ph type="sldNum" sz="quarter" idx="12"/>
          </p:nvPr>
        </p:nvSpPr>
        <p:spPr/>
        <p:txBody>
          <a:bodyPr/>
          <a:lstStyle/>
          <a:p>
            <a:fld id="{B5CEABB6-07DC-46E8-9B57-56EC44A396E5}" type="slidenum">
              <a:rPr lang="en-US" altLang="zh-TW" sz="800" noProof="0" smtClean="0"/>
              <a:pPr/>
              <a:t>12</a:t>
            </a:fld>
            <a:endParaRPr lang="zh-TW" altLang="en-US" sz="800" noProof="0" dirty="0"/>
          </a:p>
        </p:txBody>
      </p:sp>
      <p:graphicFrame>
        <p:nvGraphicFramePr>
          <p:cNvPr id="5" name="表格 4">
            <a:extLst>
              <a:ext uri="{FF2B5EF4-FFF2-40B4-BE49-F238E27FC236}">
                <a16:creationId xmlns:a16="http://schemas.microsoft.com/office/drawing/2014/main" id="{7AEBDD59-ADBE-157B-C2A8-8ADB136BEF4E}"/>
              </a:ext>
            </a:extLst>
          </p:cNvPr>
          <p:cNvGraphicFramePr>
            <a:graphicFrameLocks noGrp="1"/>
          </p:cNvGraphicFramePr>
          <p:nvPr>
            <p:extLst>
              <p:ext uri="{D42A27DB-BD31-4B8C-83A1-F6EECF244321}">
                <p14:modId xmlns:p14="http://schemas.microsoft.com/office/powerpoint/2010/main" val="2464703671"/>
              </p:ext>
            </p:extLst>
          </p:nvPr>
        </p:nvGraphicFramePr>
        <p:xfrm>
          <a:off x="537760" y="3193509"/>
          <a:ext cx="5444751" cy="1507788"/>
        </p:xfrm>
        <a:graphic>
          <a:graphicData uri="http://schemas.openxmlformats.org/drawingml/2006/table">
            <a:tbl>
              <a:tblPr>
                <a:tableStyleId>{22838BEF-8BB2-4498-84A7-C5851F593DF1}</a:tableStyleId>
              </a:tblPr>
              <a:tblGrid>
                <a:gridCol w="1339678">
                  <a:extLst>
                    <a:ext uri="{9D8B030D-6E8A-4147-A177-3AD203B41FA5}">
                      <a16:colId xmlns:a16="http://schemas.microsoft.com/office/drawing/2014/main" val="2787415378"/>
                    </a:ext>
                  </a:extLst>
                </a:gridCol>
                <a:gridCol w="2704290">
                  <a:extLst>
                    <a:ext uri="{9D8B030D-6E8A-4147-A177-3AD203B41FA5}">
                      <a16:colId xmlns:a16="http://schemas.microsoft.com/office/drawing/2014/main" val="4126416573"/>
                    </a:ext>
                  </a:extLst>
                </a:gridCol>
                <a:gridCol w="1400783">
                  <a:extLst>
                    <a:ext uri="{9D8B030D-6E8A-4147-A177-3AD203B41FA5}">
                      <a16:colId xmlns:a16="http://schemas.microsoft.com/office/drawing/2014/main" val="1709548441"/>
                    </a:ext>
                  </a:extLst>
                </a:gridCol>
              </a:tblGrid>
              <a:tr h="753894">
                <a:tc>
                  <a:txBody>
                    <a:bodyPr/>
                    <a:lstStyle/>
                    <a:p>
                      <a:pPr algn="ctr"/>
                      <a:r>
                        <a:rPr lang="zh-TW" altLang="en-US" sz="2000" dirty="0"/>
                        <a:t>莊博宇</a:t>
                      </a:r>
                    </a:p>
                  </a:txBody>
                  <a:tcPr anchor="ctr"/>
                </a:tc>
                <a:tc>
                  <a:txBody>
                    <a:bodyPr/>
                    <a:lstStyle/>
                    <a:p>
                      <a:pPr algn="ctr"/>
                      <a:r>
                        <a:rPr lang="zh-TW" altLang="en-US" sz="2000" dirty="0"/>
                        <a:t>模型生成與系統整合</a:t>
                      </a:r>
                    </a:p>
                  </a:txBody>
                  <a:tcPr anchor="ctr"/>
                </a:tc>
                <a:tc>
                  <a:txBody>
                    <a:bodyPr/>
                    <a:lstStyle/>
                    <a:p>
                      <a:pPr algn="ctr"/>
                      <a:r>
                        <a:rPr lang="en-US" altLang="zh-TW" sz="2000" dirty="0"/>
                        <a:t>50%</a:t>
                      </a:r>
                      <a:endParaRPr lang="zh-TW" altLang="en-US" sz="2000" dirty="0"/>
                    </a:p>
                  </a:txBody>
                  <a:tcPr anchor="ctr"/>
                </a:tc>
                <a:extLst>
                  <a:ext uri="{0D108BD9-81ED-4DB2-BD59-A6C34878D82A}">
                    <a16:rowId xmlns:a16="http://schemas.microsoft.com/office/drawing/2014/main" val="1955665932"/>
                  </a:ext>
                </a:extLst>
              </a:tr>
              <a:tr h="753894">
                <a:tc>
                  <a:txBody>
                    <a:bodyPr/>
                    <a:lstStyle/>
                    <a:p>
                      <a:pPr algn="ctr"/>
                      <a:r>
                        <a:rPr lang="zh-TW" altLang="en-US" sz="2000" dirty="0"/>
                        <a:t>闕帝軒</a:t>
                      </a:r>
                    </a:p>
                  </a:txBody>
                  <a:tcPr anchor="ctr"/>
                </a:tc>
                <a:tc>
                  <a:txBody>
                    <a:bodyPr/>
                    <a:lstStyle/>
                    <a:p>
                      <a:pPr algn="ctr"/>
                      <a:r>
                        <a:rPr lang="zh-TW" altLang="en-US" sz="2000" dirty="0"/>
                        <a:t>資料收集與數據採集</a:t>
                      </a:r>
                    </a:p>
                  </a:txBody>
                  <a:tcPr anchor="ctr"/>
                </a:tc>
                <a:tc>
                  <a:txBody>
                    <a:bodyPr/>
                    <a:lstStyle/>
                    <a:p>
                      <a:pPr algn="ctr"/>
                      <a:r>
                        <a:rPr lang="en-US" altLang="zh-TW" sz="2000" dirty="0"/>
                        <a:t>50%</a:t>
                      </a:r>
                      <a:endParaRPr lang="zh-TW" altLang="en-US" sz="2000" dirty="0"/>
                    </a:p>
                  </a:txBody>
                  <a:tcPr anchor="ctr"/>
                </a:tc>
                <a:extLst>
                  <a:ext uri="{0D108BD9-81ED-4DB2-BD59-A6C34878D82A}">
                    <a16:rowId xmlns:a16="http://schemas.microsoft.com/office/drawing/2014/main" val="1379375631"/>
                  </a:ext>
                </a:extLst>
              </a:tr>
            </a:tbl>
          </a:graphicData>
        </a:graphic>
      </p:graphicFrame>
    </p:spTree>
    <p:extLst>
      <p:ext uri="{BB962C8B-B14F-4D97-AF65-F5344CB8AC3E}">
        <p14:creationId xmlns:p14="http://schemas.microsoft.com/office/powerpoint/2010/main" val="91376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BBC859E-2107-805A-EBA4-01109CB8EA23}"/>
              </a:ext>
            </a:extLst>
          </p:cNvPr>
          <p:cNvSpPr>
            <a:spLocks noGrp="1"/>
          </p:cNvSpPr>
          <p:nvPr>
            <p:ph type="title"/>
          </p:nvPr>
        </p:nvSpPr>
        <p:spPr>
          <a:xfrm>
            <a:off x="3767764" y="1128408"/>
            <a:ext cx="2354580" cy="666784"/>
          </a:xfrm>
        </p:spPr>
        <p:txBody>
          <a:bodyPr>
            <a:normAutofit/>
          </a:bodyPr>
          <a:lstStyle/>
          <a:p>
            <a:pPr algn="ctr"/>
            <a:r>
              <a:rPr lang="zh-TW" altLang="en-US" sz="3600" dirty="0"/>
              <a:t>結論</a:t>
            </a:r>
          </a:p>
        </p:txBody>
      </p:sp>
      <p:sp>
        <p:nvSpPr>
          <p:cNvPr id="10" name="文字版面配置區 9">
            <a:extLst>
              <a:ext uri="{FF2B5EF4-FFF2-40B4-BE49-F238E27FC236}">
                <a16:creationId xmlns:a16="http://schemas.microsoft.com/office/drawing/2014/main" id="{8579C60B-2DDC-7E3E-98A7-8F940667A7BD}"/>
              </a:ext>
            </a:extLst>
          </p:cNvPr>
          <p:cNvSpPr>
            <a:spLocks noGrp="1"/>
          </p:cNvSpPr>
          <p:nvPr>
            <p:ph type="body" sz="quarter" idx="28"/>
          </p:nvPr>
        </p:nvSpPr>
        <p:spPr>
          <a:xfrm>
            <a:off x="1672935" y="2134146"/>
            <a:ext cx="6525491" cy="3102872"/>
          </a:xfrm>
        </p:spPr>
        <p:txBody>
          <a:bodyPr>
            <a:noAutofit/>
          </a:bodyPr>
          <a:lstStyle/>
          <a:p>
            <a:pPr algn="just">
              <a:lnSpc>
                <a:spcPts val="3500"/>
              </a:lnSpc>
              <a:spcBef>
                <a:spcPts val="1000"/>
              </a:spcBef>
            </a:pPr>
            <a:r>
              <a:rPr lang="zh-TW" altLang="en-US" sz="2000" dirty="0">
                <a:latin typeface="+mn-ea"/>
                <a:ea typeface="+mn-ea"/>
              </a:rPr>
              <a:t>本計畫針對協定典範轉移帶來的防禦真空，提出了一套整合威脅情資、非監督式深度學習與資安事件自動化回應的混合式防禦架構。透過自建的高擬真攻防實驗場域，我們預期能有效驗證系統在面對對抗式攻擊時的強健性，並實現從偵測到阻斷的完全自動化，並將為後量子時代的加密網路安全提前部署，設計出具前瞻性且能實際落地應用於資安維運的解決方案。</a:t>
            </a:r>
          </a:p>
        </p:txBody>
      </p:sp>
      <p:sp>
        <p:nvSpPr>
          <p:cNvPr id="11" name="投影片編號版面配置區 10">
            <a:extLst>
              <a:ext uri="{FF2B5EF4-FFF2-40B4-BE49-F238E27FC236}">
                <a16:creationId xmlns:a16="http://schemas.microsoft.com/office/drawing/2014/main" id="{0BB4C944-D184-FD7A-6328-8B7CB32395E4}"/>
              </a:ext>
            </a:extLst>
          </p:cNvPr>
          <p:cNvSpPr>
            <a:spLocks noGrp="1"/>
          </p:cNvSpPr>
          <p:nvPr>
            <p:ph type="sldNum" sz="quarter" idx="22"/>
          </p:nvPr>
        </p:nvSpPr>
        <p:spPr>
          <a:xfrm>
            <a:off x="7953497" y="6337504"/>
            <a:ext cx="489857" cy="365125"/>
          </a:xfrm>
        </p:spPr>
        <p:txBody>
          <a:bodyPr/>
          <a:lstStyle/>
          <a:p>
            <a:r>
              <a:rPr lang="en-US" altLang="zh-TW" sz="800" noProof="0" dirty="0"/>
              <a:t>13</a:t>
            </a:r>
            <a:endParaRPr lang="zh-TW" altLang="en-US" sz="800" noProof="0" dirty="0"/>
          </a:p>
        </p:txBody>
      </p:sp>
    </p:spTree>
    <p:extLst>
      <p:ext uri="{BB962C8B-B14F-4D97-AF65-F5344CB8AC3E}">
        <p14:creationId xmlns:p14="http://schemas.microsoft.com/office/powerpoint/2010/main" val="4709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150D08B-2225-6295-4A91-E6D23C68ACA5}"/>
              </a:ext>
            </a:extLst>
          </p:cNvPr>
          <p:cNvSpPr>
            <a:spLocks noGrp="1"/>
          </p:cNvSpPr>
          <p:nvPr>
            <p:ph type="title"/>
          </p:nvPr>
        </p:nvSpPr>
        <p:spPr>
          <a:xfrm>
            <a:off x="807147" y="1084128"/>
            <a:ext cx="1635430" cy="430745"/>
          </a:xfrm>
        </p:spPr>
        <p:txBody>
          <a:bodyPr/>
          <a:lstStyle/>
          <a:p>
            <a:r>
              <a:rPr lang="zh-TW" altLang="en-US" dirty="0"/>
              <a:t>參考文獻</a:t>
            </a:r>
          </a:p>
        </p:txBody>
      </p:sp>
      <p:sp>
        <p:nvSpPr>
          <p:cNvPr id="4" name="投影片編號版面配置區 3">
            <a:extLst>
              <a:ext uri="{FF2B5EF4-FFF2-40B4-BE49-F238E27FC236}">
                <a16:creationId xmlns:a16="http://schemas.microsoft.com/office/drawing/2014/main" id="{C73EF51A-B562-A39C-9586-3488A297383C}"/>
              </a:ext>
            </a:extLst>
          </p:cNvPr>
          <p:cNvSpPr>
            <a:spLocks noGrp="1"/>
          </p:cNvSpPr>
          <p:nvPr>
            <p:ph type="sldNum" sz="quarter" idx="12"/>
          </p:nvPr>
        </p:nvSpPr>
        <p:spPr/>
        <p:txBody>
          <a:bodyPr/>
          <a:lstStyle/>
          <a:p>
            <a:fld id="{B5CEABB6-07DC-46E8-9B57-56EC44A396E5}" type="slidenum">
              <a:rPr lang="en-US" altLang="zh-TW" noProof="0" smtClean="0"/>
              <a:pPr/>
              <a:t>14</a:t>
            </a:fld>
            <a:endParaRPr lang="zh-TW" altLang="en-US" noProof="0"/>
          </a:p>
        </p:txBody>
      </p:sp>
      <p:sp>
        <p:nvSpPr>
          <p:cNvPr id="5" name="文字方塊 4">
            <a:extLst>
              <a:ext uri="{FF2B5EF4-FFF2-40B4-BE49-F238E27FC236}">
                <a16:creationId xmlns:a16="http://schemas.microsoft.com/office/drawing/2014/main" id="{FCE9AACE-F424-8AB3-FDAC-3679C5D5F065}"/>
              </a:ext>
            </a:extLst>
          </p:cNvPr>
          <p:cNvSpPr txBox="1"/>
          <p:nvPr/>
        </p:nvSpPr>
        <p:spPr>
          <a:xfrm>
            <a:off x="807147" y="1628507"/>
            <a:ext cx="7826027" cy="5047536"/>
          </a:xfrm>
          <a:prstGeom prst="rect">
            <a:avLst/>
          </a:prstGeom>
          <a:noFill/>
        </p:spPr>
        <p:txBody>
          <a:bodyPr wrap="square" rtlCol="0">
            <a:spAutoFit/>
          </a:bodyPr>
          <a:lstStyle/>
          <a:p>
            <a:r>
              <a:rPr lang="en-US" altLang="zh-TW" sz="1400" dirty="0"/>
              <a:t>[1]</a:t>
            </a:r>
            <a:r>
              <a:rPr lang="zh-TW" altLang="en-US" sz="1400" dirty="0"/>
              <a:t>    </a:t>
            </a:r>
            <a:r>
              <a:rPr lang="en-US" altLang="zh-TW" sz="1400" dirty="0"/>
              <a:t>M. Shen, K. Ye, X. Liu, L. Zhu, J. Kang, S. YU, “Machine Learning-Powered Encrypted Network Traffic Analysis: A Comprehensive Survey,” in IEEE Communications Surveys &amp; Tutorials, vol. 25, no. 1, pp. 791-824, </a:t>
            </a:r>
            <a:r>
              <a:rPr lang="en-US" altLang="zh-TW" sz="1400" dirty="0" err="1"/>
              <a:t>Firstquarter</a:t>
            </a:r>
            <a:r>
              <a:rPr lang="en-US" altLang="zh-TW" sz="1400" dirty="0"/>
              <a:t> 2023, </a:t>
            </a:r>
            <a:r>
              <a:rPr lang="en-US" altLang="zh-TW" sz="1400" dirty="0" err="1"/>
              <a:t>doi</a:t>
            </a:r>
            <a:r>
              <a:rPr lang="en-US" altLang="zh-TW" sz="1400" dirty="0"/>
              <a:t>: 10.1109/COMST.2022.3208196.</a:t>
            </a:r>
          </a:p>
          <a:p>
            <a:r>
              <a:rPr lang="en-US" altLang="zh-TW" sz="1400" dirty="0"/>
              <a:t>[2]</a:t>
            </a:r>
            <a:r>
              <a:rPr lang="zh-TW" altLang="en-US" sz="1400" dirty="0"/>
              <a:t>    </a:t>
            </a:r>
            <a:r>
              <a:rPr lang="en-US" altLang="zh-TW" sz="1400" dirty="0"/>
              <a:t>W. Lim, K. S. C. Yong, B. T. Lau, and C. C. L. Tan. “Future of Generative Adversarial Networks (GAN) for Anomaly Detection in Network Security: A Review,” Computers &amp; Security, vol. 139, Apr. 2024, Art. no. 103733. doi:10.1016/j.cose.2024.103733.</a:t>
            </a:r>
          </a:p>
          <a:p>
            <a:r>
              <a:rPr lang="en-US" altLang="zh-TW" sz="1400" dirty="0"/>
              <a:t>[3]</a:t>
            </a:r>
            <a:r>
              <a:rPr lang="zh-TW" altLang="en-US" sz="1400" dirty="0"/>
              <a:t>    </a:t>
            </a:r>
            <a:r>
              <a:rPr lang="en-US" altLang="zh-TW" sz="1400" dirty="0"/>
              <a:t>A. S. Iliyasu and H. Deng, “Semi-Supervised Encrypted Traffic Classification with Deep Convolutional Generative Adversarial Networks,” in IEEE Access, vol. 8, pp. 118-126, 2020, </a:t>
            </a:r>
            <a:r>
              <a:rPr lang="en-US" altLang="zh-TW" sz="1400" dirty="0" err="1"/>
              <a:t>doi</a:t>
            </a:r>
            <a:r>
              <a:rPr lang="en-US" altLang="zh-TW" sz="1400" dirty="0"/>
              <a:t>: 10.1109/ACCESS.2019.2962106.</a:t>
            </a:r>
          </a:p>
          <a:p>
            <a:r>
              <a:rPr lang="en-US" altLang="zh-TW" sz="1400" dirty="0"/>
              <a:t>[4]</a:t>
            </a:r>
            <a:r>
              <a:rPr lang="zh-TW" altLang="en-US" sz="1400" dirty="0"/>
              <a:t>    </a:t>
            </a:r>
            <a:r>
              <a:rPr lang="en-US" altLang="zh-TW" sz="1400" dirty="0"/>
              <a:t>J. Li, L. Zhou, H. Li, L. Yan and H. Zhu, “Dynamic Traffic Feature Camouflaging via Generative Adversarial Networks,” 2019 IEEE Conference on Communications and Network Security (CNS), Washington, DC, USA, 2019, pp. 268-276, </a:t>
            </a:r>
            <a:r>
              <a:rPr lang="en-US" altLang="zh-TW" sz="1400" dirty="0" err="1"/>
              <a:t>doi</a:t>
            </a:r>
            <a:r>
              <a:rPr lang="en-US" altLang="zh-TW" sz="1400" dirty="0"/>
              <a:t>: 10.1109/CNS.2019.8802772.</a:t>
            </a:r>
          </a:p>
          <a:p>
            <a:r>
              <a:rPr lang="en-US" altLang="zh-TW" sz="1400" dirty="0"/>
              <a:t>[5]</a:t>
            </a:r>
            <a:r>
              <a:rPr lang="zh-TW" altLang="en-US" sz="1400" dirty="0"/>
              <a:t>    </a:t>
            </a:r>
            <a:r>
              <a:rPr lang="en-US" altLang="zh-TW" sz="1400" dirty="0"/>
              <a:t>J. </a:t>
            </a:r>
            <a:r>
              <a:rPr lang="en-US" altLang="zh-TW" sz="1400" dirty="0" err="1"/>
              <a:t>Luxemburk</a:t>
            </a:r>
            <a:r>
              <a:rPr lang="en-US" altLang="zh-TW" sz="1400" dirty="0"/>
              <a:t>, K. Hynek and T. Čejka, “Encrypted Traffic Classification: The QUIC Case,” 2023 7th Network Traffic Measurement and Analysis Conference (TMA), Naples, Italy, 2023, pp. 1-10, </a:t>
            </a:r>
            <a:r>
              <a:rPr lang="en-US" altLang="zh-TW" sz="1400" dirty="0" err="1"/>
              <a:t>doi</a:t>
            </a:r>
            <a:r>
              <a:rPr lang="en-US" altLang="zh-TW" sz="1400" dirty="0"/>
              <a:t>: 10.23919/TMA58422.2023.10199052.</a:t>
            </a:r>
          </a:p>
          <a:p>
            <a:r>
              <a:rPr lang="en-US" altLang="zh-TW" sz="1400" dirty="0"/>
              <a:t>[6]</a:t>
            </a:r>
            <a:r>
              <a:rPr lang="zh-TW" altLang="en-US" sz="1400" dirty="0"/>
              <a:t>    </a:t>
            </a:r>
            <a:r>
              <a:rPr lang="en-US" altLang="zh-TW" sz="1400" dirty="0"/>
              <a:t>N. B. Kilaru, S. K. M. </a:t>
            </a:r>
            <a:r>
              <a:rPr lang="en-US" altLang="zh-TW" sz="1400" dirty="0" err="1"/>
              <a:t>Cheemakurthi</a:t>
            </a:r>
            <a:r>
              <a:rPr lang="en-US" altLang="zh-TW" sz="1400" dirty="0"/>
              <a:t> and V. Gunnam, “SOAR Solutions in PCI Compliance: Orchestrating Incident Response for Regulatory Security,” ESP Journal of Engineering &amp; Technology Advancements, vol. 1, Issue 2, pp. 78-84, 2021, doi:10.56472/25832646/JETA-V1I2P111.</a:t>
            </a:r>
          </a:p>
          <a:p>
            <a:r>
              <a:rPr lang="en-US" altLang="zh-TW" sz="1400" dirty="0"/>
              <a:t>[7]</a:t>
            </a:r>
            <a:r>
              <a:rPr lang="zh-TW" altLang="en-US" sz="1400" dirty="0"/>
              <a:t>    </a:t>
            </a:r>
            <a:r>
              <a:rPr lang="en-US" altLang="zh-TW" sz="1400" dirty="0"/>
              <a:t>S. Subudhi, “Effectiveness of AI/ML in SOAR (Security Automation and Orchestration) Platforms,” International Journal of Science and Research (IJSR), volume 13, issue 8, pp. 201-206, Aug. 2024, </a:t>
            </a:r>
            <a:r>
              <a:rPr lang="en-US" altLang="zh-TW" sz="1400" dirty="0" err="1"/>
              <a:t>doi</a:t>
            </a:r>
            <a:r>
              <a:rPr lang="en-US" altLang="zh-TW" sz="1400" dirty="0"/>
              <a:t>: 10.21275/MR24802085215.</a:t>
            </a:r>
            <a:br>
              <a:rPr lang="en-US" altLang="zh-TW" sz="1400" dirty="0"/>
            </a:br>
            <a:r>
              <a:rPr lang="en-US" altLang="zh-TW" sz="1400" dirty="0"/>
              <a:t>[8]     J. Iyengar, M. Thomson, “QUIC: A UDP-Based Multiplexed and Secure Transport,” IETF, https://datatracker.ietf.org/doc/rfc9000/, FEB. 2022</a:t>
            </a:r>
            <a:endParaRPr lang="zh-TW" altLang="en-US" sz="1400" dirty="0"/>
          </a:p>
        </p:txBody>
      </p:sp>
    </p:spTree>
    <p:extLst>
      <p:ext uri="{BB962C8B-B14F-4D97-AF65-F5344CB8AC3E}">
        <p14:creationId xmlns:p14="http://schemas.microsoft.com/office/powerpoint/2010/main" val="3465299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圖片 5">
            <a:extLst>
              <a:ext uri="{FF2B5EF4-FFF2-40B4-BE49-F238E27FC236}">
                <a16:creationId xmlns:a16="http://schemas.microsoft.com/office/drawing/2014/main" id="{E1E674D0-5969-BFC5-78CC-3B015989515C}"/>
              </a:ext>
            </a:extLst>
          </p:cNvPr>
          <p:cNvPicPr>
            <a:picLocks noChangeAspect="1"/>
          </p:cNvPicPr>
          <p:nvPr/>
        </p:nvPicPr>
        <p:blipFill>
          <a:blip r:embed="rId2"/>
          <a:srcRect t="5205" r="-1" b="4288"/>
          <a:stretch>
            <a:fillRect/>
          </a:stretch>
        </p:blipFill>
        <p:spPr>
          <a:xfrm>
            <a:off x="0" y="1877257"/>
            <a:ext cx="4572000" cy="3103483"/>
          </a:xfrm>
          <a:prstGeom prst="rect">
            <a:avLst/>
          </a:prstGeom>
          <a:noFill/>
        </p:spPr>
      </p:pic>
      <p:pic>
        <p:nvPicPr>
          <p:cNvPr id="8" name="圖片 7">
            <a:extLst>
              <a:ext uri="{FF2B5EF4-FFF2-40B4-BE49-F238E27FC236}">
                <a16:creationId xmlns:a16="http://schemas.microsoft.com/office/drawing/2014/main" id="{D97052CD-BD7A-0B71-E145-984078944935}"/>
              </a:ext>
            </a:extLst>
          </p:cNvPr>
          <p:cNvPicPr>
            <a:picLocks noChangeAspect="1"/>
          </p:cNvPicPr>
          <p:nvPr/>
        </p:nvPicPr>
        <p:blipFill>
          <a:blip r:embed="rId3"/>
          <a:srcRect t="2779" r="-4" b="7154"/>
          <a:stretch>
            <a:fillRect/>
          </a:stretch>
        </p:blipFill>
        <p:spPr>
          <a:xfrm>
            <a:off x="4572000" y="1884863"/>
            <a:ext cx="4572000" cy="3088273"/>
          </a:xfrm>
          <a:prstGeom prst="rect">
            <a:avLst/>
          </a:prstGeom>
          <a:noFill/>
        </p:spPr>
      </p:pic>
      <p:sp>
        <p:nvSpPr>
          <p:cNvPr id="4" name="投影片編號版面配置區 3">
            <a:extLst>
              <a:ext uri="{FF2B5EF4-FFF2-40B4-BE49-F238E27FC236}">
                <a16:creationId xmlns:a16="http://schemas.microsoft.com/office/drawing/2014/main" id="{17D4E0D8-85CE-AC9F-282B-03AFA5883FA3}"/>
              </a:ext>
            </a:extLst>
          </p:cNvPr>
          <p:cNvSpPr>
            <a:spLocks noGrp="1"/>
          </p:cNvSpPr>
          <p:nvPr>
            <p:ph type="sldNum" sz="quarter" idx="12"/>
          </p:nvPr>
        </p:nvSpPr>
        <p:spPr>
          <a:xfrm>
            <a:off x="6457950" y="6356357"/>
            <a:ext cx="2057400" cy="365125"/>
          </a:xfrm>
        </p:spPr>
        <p:txBody>
          <a:bodyPr anchor="ctr">
            <a:normAutofit/>
          </a:bodyPr>
          <a:lstStyle/>
          <a:p>
            <a:pPr>
              <a:spcAft>
                <a:spcPts val="600"/>
              </a:spcAft>
            </a:pPr>
            <a:fld id="{B5CEABB6-07DC-46E8-9B57-56EC44A396E5}" type="slidenum">
              <a:rPr lang="en-US" altLang="zh-TW" noProof="0" smtClean="0"/>
              <a:pPr>
                <a:spcAft>
                  <a:spcPts val="600"/>
                </a:spcAft>
              </a:pPr>
              <a:t>15</a:t>
            </a:fld>
            <a:endParaRPr lang="zh-TW" altLang="en-US" noProof="0"/>
          </a:p>
        </p:txBody>
      </p:sp>
    </p:spTree>
    <p:extLst>
      <p:ext uri="{BB962C8B-B14F-4D97-AF65-F5344CB8AC3E}">
        <p14:creationId xmlns:p14="http://schemas.microsoft.com/office/powerpoint/2010/main" val="3635361224"/>
      </p:ext>
    </p:extLst>
  </p:cSld>
  <p:clrMapOvr>
    <a:masterClrMapping/>
  </p:clrMapOvr>
</p:sld>
</file>

<file path=ppt/theme/theme1.xml><?xml version="1.0" encoding="utf-8"?>
<a:theme xmlns:a="http://schemas.openxmlformats.org/drawingml/2006/main" name="單線">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3328869_TF22318419_Win32" id="{484791FE-B89A-4873-A14B-ACF71875DAAB}" vid="{F8EC1E10-9DF0-490B-83D2-9448824E2826}"/>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BA3906-9696-4247-AC0D-DD5C26B2A70A}">
  <ds:schemaRefs>
    <ds:schemaRef ds:uri="http://www.w3.org/XML/1998/namespace"/>
    <ds:schemaRef ds:uri="http://schemas.microsoft.com/office/2006/documentManagement/types"/>
    <ds:schemaRef ds:uri="http://purl.org/dc/terms/"/>
    <ds:schemaRef ds:uri="71af3243-3dd4-4a8d-8c0d-dd76da1f02a5"/>
    <ds:schemaRef ds:uri="http://purl.org/dc/dcmitype/"/>
    <ds:schemaRef ds:uri="http://schemas.microsoft.com/office/infopath/2007/PartnerControls"/>
    <ds:schemaRef ds:uri="http://purl.org/dc/elements/1.1/"/>
    <ds:schemaRef ds:uri="http://schemas.openxmlformats.org/package/2006/metadata/core-properties"/>
    <ds:schemaRef ds:uri="230e9df3-be65-4c73-a93b-d1236ebd677e"/>
    <ds:schemaRef ds:uri="16c05727-aa75-4e4a-9b5f-8a80a1165891"/>
    <ds:schemaRef ds:uri="http://schemas.microsoft.com/sharepoint/v3"/>
    <ds:schemaRef ds:uri="http://schemas.microsoft.com/office/2006/metadata/properties"/>
  </ds:schemaRefs>
</ds:datastoreItem>
</file>

<file path=customXml/itemProps2.xml><?xml version="1.0" encoding="utf-8"?>
<ds:datastoreItem xmlns:ds="http://schemas.openxmlformats.org/officeDocument/2006/customXml" ds:itemID="{01E84A1C-2814-43A7-9448-348326113A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D446390-8521-40A2-A462-EA068123BED9}">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2149</TotalTime>
  <Words>4162</Words>
  <Application>Microsoft Office PowerPoint</Application>
  <PresentationFormat>如螢幕大小 (4:3)</PresentationFormat>
  <Paragraphs>185</Paragraphs>
  <Slides>15</Slides>
  <Notes>14</Notes>
  <HiddenSlides>0</HiddenSlides>
  <MMClips>0</MMClips>
  <ScaleCrop>false</ScaleCrop>
  <HeadingPairs>
    <vt:vector size="6" baseType="variant">
      <vt:variant>
        <vt:lpstr>使用字型</vt:lpstr>
      </vt:variant>
      <vt:variant>
        <vt:i4>2</vt:i4>
      </vt:variant>
      <vt:variant>
        <vt:lpstr>佈景主題</vt:lpstr>
      </vt:variant>
      <vt:variant>
        <vt:i4>1</vt:i4>
      </vt:variant>
      <vt:variant>
        <vt:lpstr>投影片標題</vt:lpstr>
      </vt:variant>
      <vt:variant>
        <vt:i4>15</vt:i4>
      </vt:variant>
    </vt:vector>
  </HeadingPairs>
  <TitlesOfParts>
    <vt:vector size="18" baseType="lpstr">
      <vt:lpstr>Microsoft JhengHei UI</vt:lpstr>
      <vt:lpstr>Arial</vt:lpstr>
      <vt:lpstr>單線</vt:lpstr>
      <vt:lpstr>基於對抗式攻擊與情資平台之 HTTP/3 加密流量自動化安全防禦框架</vt:lpstr>
      <vt:lpstr>研究動機</vt:lpstr>
      <vt:lpstr>文獻/既有系統服務探討 </vt:lpstr>
      <vt:lpstr>文獻/既有系統服務探討 </vt:lpstr>
      <vt:lpstr>文獻/既有系統服務探討 </vt:lpstr>
      <vt:lpstr>預計提出的方法與系統開發的相關技術</vt:lpstr>
      <vt:lpstr>預計提出的方法與系統開發的相關技術</vt:lpstr>
      <vt:lpstr>SWOT 分析</vt:lpstr>
      <vt:lpstr>預計產出的成果</vt:lpstr>
      <vt:lpstr>預計參加的比賽項目</vt:lpstr>
      <vt:lpstr>規劃時程 </vt:lpstr>
      <vt:lpstr> 參與人員分工與時數分配</vt:lpstr>
      <vt:lpstr>結論</vt:lpstr>
      <vt:lpstr>參考文獻</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博宇 莊</dc:creator>
  <cp:lastModifiedBy>博宇 莊</cp:lastModifiedBy>
  <cp:revision>9</cp:revision>
  <dcterms:created xsi:type="dcterms:W3CDTF">2026-03-30T05:57:29Z</dcterms:created>
  <dcterms:modified xsi:type="dcterms:W3CDTF">2026-04-17T11:40:09Z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