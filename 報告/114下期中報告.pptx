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theme/theme1.xml" ContentType="application/vnd.openxmlformats-officedocument.theme+xml"/>
  <Override PartName="/ppt/theme/theme21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media/OOXDiagramDataRels1_2.svg" ContentType="image/svg"/>
  <Override PartName="/ppt/media/OOXDiagramDrawingRels1_2.svg" ContentType="image/svg"/>
  <Override PartName="/ppt/media/image6.svg" ContentType="image/svg"/>
  <Override PartName="/ppt/media/image2.svg" ContentType="image/svg"/>
  <Override PartName="/ppt/media/image8.svg" ContentType="image/svg"/>
  <Override PartName="/ppt/media/OOXDiagramDataRels3_2.svg" ContentType="image/svg"/>
  <Override PartName="/ppt/media/OOXDiagramDrawingRels1_0.svg" ContentType="image/svg"/>
  <Override PartName="/ppt/media/image4.svg" ContentType="image/svg"/>
  <Override PartName="/ppt/media/image10.svg" ContentType="image/svg"/>
  <Override PartName="/ppt/media/image12.svg" ContentType="image/svg"/>
  <Override PartName="/ppt/media/OOXDiagramDrawingRels3_0.svg" ContentType="image/svg"/>
  <Override PartName="/ppt/media/OOXDiagramDataRels1_1.svg" ContentType="image/svg"/>
  <Override PartName="/ppt/media/image14.svg" ContentType="image/svg"/>
  <Override PartName="/ppt/media/OOXDiagramDrawingRels3_2.svg" ContentType="image/svg"/>
  <Override PartName="/ppt/media/image16.svg" ContentType="image/svg"/>
  <Override PartName="/ppt/media/OOXDiagramDataRels3_1.svg" ContentType="image/svg"/>
  <Override PartName="/ppt/media/image18.svg" ContentType="image/svg"/>
  <Override PartName="/ppt/media/image20.svg" ContentType="image/svg"/>
  <Override PartName="/ppt/media/image22.svg" ContentType="image/svg"/>
  <Override PartName="/ppt/media/OOXDiagramDrawingRels3_1.svg" ContentType="image/svg"/>
  <Override PartName="/ppt/media/image24.svg" ContentType="image/svg"/>
  <Override PartName="/ppt/media/OOXDiagramDataRels1_0.svg" ContentType="image/svg"/>
  <Override PartName="/ppt/media/OOXDiagramDrawingRels1_1.svg" ContentType="image/svg"/>
  <Override PartName="/ppt/media/OOXDiagramDataRels3_0.svg" ContentType="image/sv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diagrams/drawing1.xml" ContentType="application/vnd.ms-office.drawingml.diagramDrawing+xml"/>
  <Override PartName="/ppt/diagrams/data1.xml" ContentType="application/vnd.openxmlformats-officedocument.drawingml.diagramData+xml"/>
  <Override PartName="/ppt/diagrams/quickStyle3.xml" ContentType="application/vnd.openxmlformats-officedocument.drawingml.diagramStyle+xml"/>
  <Override PartName="/ppt/diagrams/data2.xml" ContentType="application/vnd.openxmlformats-officedocument.drawingml.diagramData+xml"/>
  <Override PartName="/ppt/diagrams/drawing2.xml" ContentType="application/vnd.ms-office.drawingml.diagramDrawing+xml"/>
  <Override PartName="/ppt/diagrams/colors1.xml" ContentType="application/vnd.openxmlformats-officedocument.drawingml.diagramColors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layout2.xml" ContentType="application/vnd.openxmlformats-officedocument.drawingml.diagramLayout+xml"/>
  <Override PartName="/ppt/diagrams/drawing3.xml" ContentType="application/vnd.ms-office.drawingml.diagramDrawing+xml"/>
  <Override PartName="/ppt/diagrams/colors2.xml" ContentType="application/vnd.openxmlformats-officedocument.drawingml.diagramColors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colors3.xml" ContentType="application/vnd.openxmlformats-officedocument.drawingml.diagramColor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6858000"/>
  <p:notesSz cx="9144000" cy="6858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diagrams/_rels/data1.xml.rels><?xml version="1.0" encoding="UTF-8"?>
<Relationships xmlns="http://schemas.openxmlformats.org/package/2006/relationships"><Relationship Id="rId1" Type="http://schemas.openxmlformats.org/officeDocument/2006/relationships/image" Target="../media/OOXDiagramDataRels1_0.svg"/><Relationship Id="rId2" Type="http://schemas.openxmlformats.org/officeDocument/2006/relationships/image" Target="../media/OOXDiagramDataRels1_1.svg"/><Relationship Id="rId3" Type="http://schemas.openxmlformats.org/officeDocument/2006/relationships/image" Target="../media/OOXDiagramDataRels1_2.svg"/>
</Relationships>
</file>

<file path=ppt/diagrams/_rels/data3.xml.rels><?xml version="1.0" encoding="UTF-8"?>
<Relationships xmlns="http://schemas.openxmlformats.org/package/2006/relationships"><Relationship Id="rId1" Type="http://schemas.openxmlformats.org/officeDocument/2006/relationships/image" Target="../media/OOXDiagramDataRels3_0.svg"/><Relationship Id="rId2" Type="http://schemas.openxmlformats.org/officeDocument/2006/relationships/image" Target="../media/OOXDiagramDataRels3_1.svg"/><Relationship Id="rId3" Type="http://schemas.openxmlformats.org/officeDocument/2006/relationships/image" Target="../media/OOXDiagramDataRels3_2.svg"/>
</Relationships>
</file>

<file path=ppt/diagrams/_rels/drawing1.xml.rels><?xml version="1.0" encoding="UTF-8"?>
<Relationships xmlns="http://schemas.openxmlformats.org/package/2006/relationships"><Relationship Id="rId1" Type="http://schemas.openxmlformats.org/officeDocument/2006/relationships/image" Target="../media/OOXDiagramDrawingRels1_0.svg"/><Relationship Id="rId2" Type="http://schemas.openxmlformats.org/officeDocument/2006/relationships/image" Target="../media/OOXDiagramDrawingRels1_1.svg"/><Relationship Id="rId3" Type="http://schemas.openxmlformats.org/officeDocument/2006/relationships/image" Target="../media/OOXDiagramDrawingRels1_2.svg"/>
</Relationships>
</file>

<file path=ppt/diagrams/_rels/drawing3.xml.rels><?xml version="1.0" encoding="UTF-8"?>
<Relationships xmlns="http://schemas.openxmlformats.org/package/2006/relationships"><Relationship Id="rId1" Type="http://schemas.openxmlformats.org/officeDocument/2006/relationships/image" Target="../media/OOXDiagramDrawingRels3_0.svg"/><Relationship Id="rId2" Type="http://schemas.openxmlformats.org/officeDocument/2006/relationships/image" Target="../media/OOXDiagramDrawingRels3_1.svg"/><Relationship Id="rId3" Type="http://schemas.openxmlformats.org/officeDocument/2006/relationships/image" Target="../media/OOXDiagramDrawingRels3_2.svg"/>
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D31A49-B68D-48FE-89CE-68829666A70B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65139AB7-EF38-480E-AD6D-417E10A074BB}">
      <dgm:prSet custT="1"/>
      <dgm:spPr/>
      <dgm:t>
        <a:bodyPr/>
        <a:lstStyle/>
        <a:p>
          <a:pPr algn="just"/>
          <a:r>
            <a:rPr lang="zh-TW" sz="2000" b="1" i="0" baseline="0" dirty="0"/>
            <a:t>HTTP/3 帶來的防禦真空</a:t>
          </a:r>
          <a:r>
            <a:rPr lang="zh-TW" sz="2000" b="0" i="0" baseline="0" dirty="0"/>
            <a:t>：HTTP/3</a:t>
          </a:r>
          <a:r>
            <a:rPr lang="zh-TW" altLang="en-US" sz="2000" b="0" i="0" baseline="0" dirty="0"/>
            <a:t> </a:t>
          </a:r>
          <a:r>
            <a:rPr lang="en-US" altLang="zh-TW" sz="2000" b="0" i="0" baseline="0" dirty="0"/>
            <a:t>(</a:t>
          </a:r>
          <a:r>
            <a:rPr lang="zh-TW" sz="2000" b="0" i="0" baseline="0" dirty="0"/>
            <a:t>基於 QUIC 協定</a:t>
          </a:r>
          <a:r>
            <a:rPr lang="en-US" altLang="zh-TW" sz="2000" b="0" i="0" baseline="0" dirty="0"/>
            <a:t>)</a:t>
          </a:r>
          <a:r>
            <a:rPr lang="zh-TW" altLang="en-US" sz="2000" b="0" i="0" baseline="0" dirty="0"/>
            <a:t> </a:t>
          </a:r>
          <a:r>
            <a:rPr lang="zh-TW" sz="2000" b="0" i="0" baseline="0" dirty="0"/>
            <a:t>已成為新世代傳輸標準，但其基於 UDP 且強制 TLS 1.3 加密的特性，導致傳統基於特徵碼 (Signature-based) 與深度封包檢測 (DPI) 的防火牆完全失效。</a:t>
          </a:r>
          <a:endParaRPr lang="en-US" sz="2000" dirty="0"/>
        </a:p>
      </dgm:t>
    </dgm:pt>
    <dgm:pt modelId="{D3CC8A80-B0CD-46AC-918F-2B011B28507F}" type="parTrans" cxnId="{86D9CAA0-DF90-43BE-B1C8-D92D762095F1}">
      <dgm:prSet/>
      <dgm:spPr/>
      <dgm:t>
        <a:bodyPr/>
        <a:lstStyle/>
        <a:p>
          <a:endParaRPr lang="en-US"/>
        </a:p>
      </dgm:t>
    </dgm:pt>
    <dgm:pt modelId="{A5301E28-E2C8-4258-A247-2A86B6A14354}" type="sibTrans" cxnId="{86D9CAA0-DF90-43BE-B1C8-D92D762095F1}">
      <dgm:prSet/>
      <dgm:spPr/>
      <dgm:t>
        <a:bodyPr/>
        <a:lstStyle/>
        <a:p>
          <a:endParaRPr lang="en-US"/>
        </a:p>
      </dgm:t>
    </dgm:pt>
    <dgm:pt modelId="{E6C69D53-B051-4F44-B0AE-284F59F42B99}">
      <dgm:prSet custT="1"/>
      <dgm:spPr/>
      <dgm:t>
        <a:bodyPr/>
        <a:lstStyle/>
        <a:p>
          <a:pPr algn="just"/>
          <a:r>
            <a:rPr lang="zh-TW" sz="2000" b="1" i="0" baseline="0" dirty="0"/>
            <a:t>對抗式規避技術 (Adversarial Evasion)</a:t>
          </a:r>
          <a:r>
            <a:rPr lang="zh-TW" sz="2000" b="0" i="0" baseline="0" dirty="0"/>
            <a:t>：惡意攻擊者透過封包切割、時序干擾等手法偽裝成正常流量，改變統計特徵以騙過傳統模型。</a:t>
          </a:r>
          <a:endParaRPr lang="en-US" sz="2000" dirty="0"/>
        </a:p>
      </dgm:t>
    </dgm:pt>
    <dgm:pt modelId="{27B8BEB2-71C9-4622-95DD-82313CB26C29}" type="parTrans" cxnId="{92E23C44-0BCA-4226-A055-97D9BC83C846}">
      <dgm:prSet/>
      <dgm:spPr/>
      <dgm:t>
        <a:bodyPr/>
        <a:lstStyle/>
        <a:p>
          <a:endParaRPr lang="en-US"/>
        </a:p>
      </dgm:t>
    </dgm:pt>
    <dgm:pt modelId="{0090C12E-3A41-44F9-AFBF-023C3EA317DE}" type="sibTrans" cxnId="{92E23C44-0BCA-4226-A055-97D9BC83C846}">
      <dgm:prSet/>
      <dgm:spPr/>
      <dgm:t>
        <a:bodyPr/>
        <a:lstStyle/>
        <a:p>
          <a:endParaRPr lang="en-US"/>
        </a:p>
      </dgm:t>
    </dgm:pt>
    <dgm:pt modelId="{EDF977B0-CF6A-42B3-A596-42236107D972}">
      <dgm:prSet custT="1"/>
      <dgm:spPr/>
      <dgm:t>
        <a:bodyPr/>
        <a:lstStyle/>
        <a:p>
          <a:pPr algn="just"/>
          <a:r>
            <a:rPr lang="zh-TW" sz="2000" b="1" i="0" baseline="0" dirty="0"/>
            <a:t>標記成本與告警疲勞</a:t>
          </a:r>
          <a:r>
            <a:rPr lang="zh-TW" sz="2000" b="0" i="0" baseline="0" dirty="0"/>
            <a:t>：真實網路環境中攻擊手法變幻莫測，要蒐集並標記大量的最新攻擊樣本是不切實際的。面對層出不窮的警告，資安人員往往面臨告警疲勞。</a:t>
          </a:r>
          <a:endParaRPr lang="en-US" sz="2000" dirty="0"/>
        </a:p>
      </dgm:t>
    </dgm:pt>
    <dgm:pt modelId="{5B55CBBB-005F-4A9F-9A38-B0AAEF4E860E}" type="parTrans" cxnId="{FBD1DE8C-EA49-4065-99CC-9856B45782D9}">
      <dgm:prSet/>
      <dgm:spPr/>
      <dgm:t>
        <a:bodyPr/>
        <a:lstStyle/>
        <a:p>
          <a:endParaRPr lang="en-US"/>
        </a:p>
      </dgm:t>
    </dgm:pt>
    <dgm:pt modelId="{54CEBD1C-B3F0-4DBF-9211-5487270C4A2A}" type="sibTrans" cxnId="{FBD1DE8C-EA49-4065-99CC-9856B45782D9}">
      <dgm:prSet/>
      <dgm:spPr/>
      <dgm:t>
        <a:bodyPr/>
        <a:lstStyle/>
        <a:p>
          <a:endParaRPr lang="en-US"/>
        </a:p>
      </dgm:t>
    </dgm:pt>
    <dgm:pt modelId="{E050C78D-CB9A-46FE-8A5A-A74772D27AE2}" type="pres">
      <dgm:prSet presAssocID="{B8D31A49-B68D-48FE-89CE-68829666A70B}" presName="root" presStyleCnt="0">
        <dgm:presLayoutVars>
          <dgm:dir/>
          <dgm:resizeHandles val="exact"/>
        </dgm:presLayoutVars>
      </dgm:prSet>
      <dgm:spPr/>
    </dgm:pt>
    <dgm:pt modelId="{37BDBB96-D327-4935-8070-8E3D11DE30AF}" type="pres">
      <dgm:prSet presAssocID="{65139AB7-EF38-480E-AD6D-417E10A074BB}" presName="compNode" presStyleCnt="0"/>
      <dgm:spPr/>
    </dgm:pt>
    <dgm:pt modelId="{0256C400-4925-48C1-9840-DCF43C150F09}" type="pres">
      <dgm:prSet presAssocID="{65139AB7-EF38-480E-AD6D-417E10A074BB}" presName="bgRect" presStyleLbl="bgShp" presStyleIdx="0" presStyleCnt="3"/>
      <dgm:spPr/>
    </dgm:pt>
    <dgm:pt modelId="{4C76697F-96B5-4565-ACCA-EB872D912BE0}" type="pres">
      <dgm:prSet presAssocID="{65139AB7-EF38-480E-AD6D-417E10A074BB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處理器"/>
        </a:ext>
      </dgm:extLst>
    </dgm:pt>
    <dgm:pt modelId="{C5714518-4FBA-4BF0-BBDC-309547E4853A}" type="pres">
      <dgm:prSet presAssocID="{65139AB7-EF38-480E-AD6D-417E10A074BB}" presName="spaceRect" presStyleCnt="0"/>
      <dgm:spPr/>
    </dgm:pt>
    <dgm:pt modelId="{D255D1D9-382F-4CB4-AF9F-A0CF6E492613}" type="pres">
      <dgm:prSet presAssocID="{65139AB7-EF38-480E-AD6D-417E10A074BB}" presName="parTx" presStyleLbl="revTx" presStyleIdx="0" presStyleCnt="3">
        <dgm:presLayoutVars>
          <dgm:chMax val="0"/>
          <dgm:chPref val="0"/>
        </dgm:presLayoutVars>
      </dgm:prSet>
      <dgm:spPr/>
    </dgm:pt>
    <dgm:pt modelId="{B54B0F3F-07E2-4D9B-AA0D-FACFA7EAE1FD}" type="pres">
      <dgm:prSet presAssocID="{A5301E28-E2C8-4258-A247-2A86B6A14354}" presName="sibTrans" presStyleCnt="0"/>
      <dgm:spPr/>
    </dgm:pt>
    <dgm:pt modelId="{862D1D76-C57B-4720-A42D-C771C1F55691}" type="pres">
      <dgm:prSet presAssocID="{E6C69D53-B051-4F44-B0AE-284F59F42B99}" presName="compNode" presStyleCnt="0"/>
      <dgm:spPr/>
    </dgm:pt>
    <dgm:pt modelId="{099F117A-EFF2-47E2-B118-157F252005C8}" type="pres">
      <dgm:prSet presAssocID="{E6C69D53-B051-4F44-B0AE-284F59F42B99}" presName="bgRect" presStyleLbl="bgShp" presStyleIdx="1" presStyleCnt="3"/>
      <dgm:spPr/>
    </dgm:pt>
    <dgm:pt modelId="{DAEADB4B-EA05-463D-9A98-177504B06BC0}" type="pres">
      <dgm:prSet presAssocID="{E6C69D53-B051-4F44-B0AE-284F59F42B99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骰子"/>
        </a:ext>
      </dgm:extLst>
    </dgm:pt>
    <dgm:pt modelId="{DEAECF44-5442-4E6E-9C2E-10A1C79674DB}" type="pres">
      <dgm:prSet presAssocID="{E6C69D53-B051-4F44-B0AE-284F59F42B99}" presName="spaceRect" presStyleCnt="0"/>
      <dgm:spPr/>
    </dgm:pt>
    <dgm:pt modelId="{C76CB3C1-33E1-4A3C-9A98-2DFEE9160545}" type="pres">
      <dgm:prSet presAssocID="{E6C69D53-B051-4F44-B0AE-284F59F42B99}" presName="parTx" presStyleLbl="revTx" presStyleIdx="1" presStyleCnt="3">
        <dgm:presLayoutVars>
          <dgm:chMax val="0"/>
          <dgm:chPref val="0"/>
        </dgm:presLayoutVars>
      </dgm:prSet>
      <dgm:spPr/>
    </dgm:pt>
    <dgm:pt modelId="{51880A8B-86E8-4ACC-989F-E9C728E3BB8E}" type="pres">
      <dgm:prSet presAssocID="{0090C12E-3A41-44F9-AFBF-023C3EA317DE}" presName="sibTrans" presStyleCnt="0"/>
      <dgm:spPr/>
    </dgm:pt>
    <dgm:pt modelId="{CE92E8B7-C568-4F3D-A438-B87210DBFF4B}" type="pres">
      <dgm:prSet presAssocID="{EDF977B0-CF6A-42B3-A596-42236107D972}" presName="compNode" presStyleCnt="0"/>
      <dgm:spPr/>
    </dgm:pt>
    <dgm:pt modelId="{9830C586-1C1E-4837-9248-3C1172C75E59}" type="pres">
      <dgm:prSet presAssocID="{EDF977B0-CF6A-42B3-A596-42236107D972}" presName="bgRect" presStyleLbl="bgShp" presStyleIdx="2" presStyleCnt="3"/>
      <dgm:spPr/>
    </dgm:pt>
    <dgm:pt modelId="{B3E49C2E-C8DB-45F0-BEDC-44ECA06533AE}" type="pres">
      <dgm:prSet presAssocID="{EDF977B0-CF6A-42B3-A596-42236107D972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字幕"/>
        </a:ext>
      </dgm:extLst>
    </dgm:pt>
    <dgm:pt modelId="{33E7D865-07CB-46A5-B518-3DA5A7C60934}" type="pres">
      <dgm:prSet presAssocID="{EDF977B0-CF6A-42B3-A596-42236107D972}" presName="spaceRect" presStyleCnt="0"/>
      <dgm:spPr/>
    </dgm:pt>
    <dgm:pt modelId="{F8B1E1CB-63EC-4057-B345-3774A4530389}" type="pres">
      <dgm:prSet presAssocID="{EDF977B0-CF6A-42B3-A596-42236107D9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2BF360A-499D-48EB-9D35-FE75C741A4DC}" type="presOf" srcId="{E6C69D53-B051-4F44-B0AE-284F59F42B99}" destId="{C76CB3C1-33E1-4A3C-9A98-2DFEE9160545}" srcOrd="0" destOrd="0" presId="urn:microsoft.com/office/officeart/2018/2/layout/IconVerticalSolidList"/>
    <dgm:cxn modelId="{92E23C44-0BCA-4226-A055-97D9BC83C846}" srcId="{B8D31A49-B68D-48FE-89CE-68829666A70B}" destId="{E6C69D53-B051-4F44-B0AE-284F59F42B99}" srcOrd="1" destOrd="0" parTransId="{27B8BEB2-71C9-4622-95DD-82313CB26C29}" sibTransId="{0090C12E-3A41-44F9-AFBF-023C3EA317DE}"/>
    <dgm:cxn modelId="{D0905751-5746-4CC0-BCF3-3DB33E4399F7}" type="presOf" srcId="{B8D31A49-B68D-48FE-89CE-68829666A70B}" destId="{E050C78D-CB9A-46FE-8A5A-A74772D27AE2}" srcOrd="0" destOrd="0" presId="urn:microsoft.com/office/officeart/2018/2/layout/IconVerticalSolidList"/>
    <dgm:cxn modelId="{FBD1DE8C-EA49-4065-99CC-9856B45782D9}" srcId="{B8D31A49-B68D-48FE-89CE-68829666A70B}" destId="{EDF977B0-CF6A-42B3-A596-42236107D972}" srcOrd="2" destOrd="0" parTransId="{5B55CBBB-005F-4A9F-9A38-B0AAEF4E860E}" sibTransId="{54CEBD1C-B3F0-4DBF-9211-5487270C4A2A}"/>
    <dgm:cxn modelId="{A12A929D-DDF3-4FAD-B636-FACE468C7298}" type="presOf" srcId="{EDF977B0-CF6A-42B3-A596-42236107D972}" destId="{F8B1E1CB-63EC-4057-B345-3774A4530389}" srcOrd="0" destOrd="0" presId="urn:microsoft.com/office/officeart/2018/2/layout/IconVerticalSolidList"/>
    <dgm:cxn modelId="{86D9CAA0-DF90-43BE-B1C8-D92D762095F1}" srcId="{B8D31A49-B68D-48FE-89CE-68829666A70B}" destId="{65139AB7-EF38-480E-AD6D-417E10A074BB}" srcOrd="0" destOrd="0" parTransId="{D3CC8A80-B0CD-46AC-918F-2B011B28507F}" sibTransId="{A5301E28-E2C8-4258-A247-2A86B6A14354}"/>
    <dgm:cxn modelId="{4C5060D8-E11F-459D-8F9B-9DBCE87AC956}" type="presOf" srcId="{65139AB7-EF38-480E-AD6D-417E10A074BB}" destId="{D255D1D9-382F-4CB4-AF9F-A0CF6E492613}" srcOrd="0" destOrd="0" presId="urn:microsoft.com/office/officeart/2018/2/layout/IconVerticalSolidList"/>
    <dgm:cxn modelId="{24615A76-F235-42D9-AD93-D1A59ED52492}" type="presParOf" srcId="{E050C78D-CB9A-46FE-8A5A-A74772D27AE2}" destId="{37BDBB96-D327-4935-8070-8E3D11DE30AF}" srcOrd="0" destOrd="0" presId="urn:microsoft.com/office/officeart/2018/2/layout/IconVerticalSolidList"/>
    <dgm:cxn modelId="{99C0792C-5C59-4A1F-A270-5050E8372029}" type="presParOf" srcId="{37BDBB96-D327-4935-8070-8E3D11DE30AF}" destId="{0256C400-4925-48C1-9840-DCF43C150F09}" srcOrd="0" destOrd="0" presId="urn:microsoft.com/office/officeart/2018/2/layout/IconVerticalSolidList"/>
    <dgm:cxn modelId="{36569850-ED2A-4368-A2F5-1C549D2C3867}" type="presParOf" srcId="{37BDBB96-D327-4935-8070-8E3D11DE30AF}" destId="{4C76697F-96B5-4565-ACCA-EB872D912BE0}" srcOrd="1" destOrd="0" presId="urn:microsoft.com/office/officeart/2018/2/layout/IconVerticalSolidList"/>
    <dgm:cxn modelId="{9D982440-929E-4065-8FB7-956D851D7636}" type="presParOf" srcId="{37BDBB96-D327-4935-8070-8E3D11DE30AF}" destId="{C5714518-4FBA-4BF0-BBDC-309547E4853A}" srcOrd="2" destOrd="0" presId="urn:microsoft.com/office/officeart/2018/2/layout/IconVerticalSolidList"/>
    <dgm:cxn modelId="{D02C85F6-A98D-4488-AD70-4F63F370B891}" type="presParOf" srcId="{37BDBB96-D327-4935-8070-8E3D11DE30AF}" destId="{D255D1D9-382F-4CB4-AF9F-A0CF6E492613}" srcOrd="3" destOrd="0" presId="urn:microsoft.com/office/officeart/2018/2/layout/IconVerticalSolidList"/>
    <dgm:cxn modelId="{0B7C3449-9D64-4946-B71D-2A2B837650AC}" type="presParOf" srcId="{E050C78D-CB9A-46FE-8A5A-A74772D27AE2}" destId="{B54B0F3F-07E2-4D9B-AA0D-FACFA7EAE1FD}" srcOrd="1" destOrd="0" presId="urn:microsoft.com/office/officeart/2018/2/layout/IconVerticalSolidList"/>
    <dgm:cxn modelId="{A2C83F67-E39C-4C46-BE19-C0E2D3CFCAD7}" type="presParOf" srcId="{E050C78D-CB9A-46FE-8A5A-A74772D27AE2}" destId="{862D1D76-C57B-4720-A42D-C771C1F55691}" srcOrd="2" destOrd="0" presId="urn:microsoft.com/office/officeart/2018/2/layout/IconVerticalSolidList"/>
    <dgm:cxn modelId="{567CFDD1-F621-4543-8080-2213C5BE3928}" type="presParOf" srcId="{862D1D76-C57B-4720-A42D-C771C1F55691}" destId="{099F117A-EFF2-47E2-B118-157F252005C8}" srcOrd="0" destOrd="0" presId="urn:microsoft.com/office/officeart/2018/2/layout/IconVerticalSolidList"/>
    <dgm:cxn modelId="{BCB1B3B5-8424-42B9-BFB2-7038364314F2}" type="presParOf" srcId="{862D1D76-C57B-4720-A42D-C771C1F55691}" destId="{DAEADB4B-EA05-463D-9A98-177504B06BC0}" srcOrd="1" destOrd="0" presId="urn:microsoft.com/office/officeart/2018/2/layout/IconVerticalSolidList"/>
    <dgm:cxn modelId="{C468D51F-F93D-438F-A1D7-75559BBFC40E}" type="presParOf" srcId="{862D1D76-C57B-4720-A42D-C771C1F55691}" destId="{DEAECF44-5442-4E6E-9C2E-10A1C79674DB}" srcOrd="2" destOrd="0" presId="urn:microsoft.com/office/officeart/2018/2/layout/IconVerticalSolidList"/>
    <dgm:cxn modelId="{915D7C8D-4B71-484B-ABB2-43A38CFA921C}" type="presParOf" srcId="{862D1D76-C57B-4720-A42D-C771C1F55691}" destId="{C76CB3C1-33E1-4A3C-9A98-2DFEE9160545}" srcOrd="3" destOrd="0" presId="urn:microsoft.com/office/officeart/2018/2/layout/IconVerticalSolidList"/>
    <dgm:cxn modelId="{96CDF5B4-DD3C-4FF3-B466-7C6E3E15C8B3}" type="presParOf" srcId="{E050C78D-CB9A-46FE-8A5A-A74772D27AE2}" destId="{51880A8B-86E8-4ACC-989F-E9C728E3BB8E}" srcOrd="3" destOrd="0" presId="urn:microsoft.com/office/officeart/2018/2/layout/IconVerticalSolidList"/>
    <dgm:cxn modelId="{A458D684-9CDD-4584-A64F-770E50FFCACF}" type="presParOf" srcId="{E050C78D-CB9A-46FE-8A5A-A74772D27AE2}" destId="{CE92E8B7-C568-4F3D-A438-B87210DBFF4B}" srcOrd="4" destOrd="0" presId="urn:microsoft.com/office/officeart/2018/2/layout/IconVerticalSolidList"/>
    <dgm:cxn modelId="{B557CA2F-8CFB-4A6C-919A-81AD673963E7}" type="presParOf" srcId="{CE92E8B7-C568-4F3D-A438-B87210DBFF4B}" destId="{9830C586-1C1E-4837-9248-3C1172C75E59}" srcOrd="0" destOrd="0" presId="urn:microsoft.com/office/officeart/2018/2/layout/IconVerticalSolidList"/>
    <dgm:cxn modelId="{FD31DAF4-AFC6-4C0E-BFA8-70C73CBCCBB3}" type="presParOf" srcId="{CE92E8B7-C568-4F3D-A438-B87210DBFF4B}" destId="{B3E49C2E-C8DB-45F0-BEDC-44ECA06533AE}" srcOrd="1" destOrd="0" presId="urn:microsoft.com/office/officeart/2018/2/layout/IconVerticalSolidList"/>
    <dgm:cxn modelId="{44993C60-04FE-4C93-B89F-AE8EAE3FFC27}" type="presParOf" srcId="{CE92E8B7-C568-4F3D-A438-B87210DBFF4B}" destId="{33E7D865-07CB-46A5-B518-3DA5A7C60934}" srcOrd="2" destOrd="0" presId="urn:microsoft.com/office/officeart/2018/2/layout/IconVerticalSolidList"/>
    <dgm:cxn modelId="{B9838A65-AAEF-4C66-90D1-AA16A9C75720}" type="presParOf" srcId="{CE92E8B7-C568-4F3D-A438-B87210DBFF4B}" destId="{F8B1E1CB-63EC-4057-B345-3774A453038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6928ACA-2688-4187-A056-F87AE73CF130}" type="doc">
      <dgm:prSet loTypeId="urn:microsoft.com/office/officeart/2008/layout/LinedList" loCatId="list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83883367-9E93-46EA-B3F1-D55BCA30C721}">
      <dgm:prSet custT="1"/>
      <dgm:spPr/>
      <dgm:t>
        <a:bodyPr/>
        <a:lstStyle/>
        <a:p>
          <a:pPr algn="just">
            <a:lnSpc>
              <a:spcPts val="3000"/>
            </a:lnSpc>
            <a:spcBef>
              <a:spcPts val="1000"/>
            </a:spcBef>
          </a:pPr>
          <a:r>
            <a:rPr lang="zh-TW" sz="2000" b="1" i="0" baseline="0" dirty="0"/>
            <a:t>機器學習驅動的加密網路流量分析</a:t>
          </a:r>
          <a:r>
            <a:rPr lang="zh-TW" sz="2000" b="0" i="0" baseline="0" dirty="0"/>
            <a:t>：現有技術能在不解密的情況下，透過提取流量的統計特徵</a:t>
          </a:r>
          <a:r>
            <a:rPr lang="en-US" altLang="zh-TW" sz="2000" b="0" i="0" baseline="0" dirty="0"/>
            <a:t> (</a:t>
          </a:r>
          <a:r>
            <a:rPr lang="zh-TW" sz="2000" b="0" i="0" baseline="0" dirty="0"/>
            <a:t>如封包長度、時間間隔</a:t>
          </a:r>
          <a:r>
            <a:rPr lang="en-US" altLang="zh-TW" sz="2000" b="0" i="0" baseline="0" dirty="0"/>
            <a:t>) </a:t>
          </a:r>
          <a:r>
            <a:rPr lang="zh-TW" sz="2000" b="0" i="0" baseline="0" dirty="0"/>
            <a:t>或行為模式來識別流量屬性。然而，過度依賴握手階段的特徵</a:t>
          </a:r>
          <a:r>
            <a:rPr lang="zh-TW" altLang="en-US" sz="2000" b="0" i="0" baseline="0" dirty="0"/>
            <a:t> </a:t>
          </a:r>
          <a:r>
            <a:rPr lang="en-US" altLang="zh-TW" sz="2000" b="0" i="0" baseline="0" dirty="0"/>
            <a:t>(</a:t>
          </a:r>
          <a:r>
            <a:rPr lang="zh-TW" sz="2000" b="0" i="0" baseline="0" dirty="0"/>
            <a:t>如憑證資料大小</a:t>
          </a:r>
          <a:r>
            <a:rPr lang="en-US" altLang="zh-TW" sz="2000" b="0" i="0" baseline="0" dirty="0"/>
            <a:t>) </a:t>
          </a:r>
          <a:r>
            <a:rPr lang="zh-TW" sz="2000" b="0" i="0" baseline="0" dirty="0"/>
            <a:t>可能導致模型在真實環境中快速失效。</a:t>
          </a:r>
          <a:endParaRPr lang="en-US" sz="2000" dirty="0"/>
        </a:p>
      </dgm:t>
    </dgm:pt>
    <dgm:pt modelId="{8349D712-8D25-4357-92C3-4E6A7E573849}" type="parTrans" cxnId="{DEE49AED-66BC-4A12-A00B-9EEE06CA8DE4}">
      <dgm:prSet/>
      <dgm:spPr/>
      <dgm:t>
        <a:bodyPr/>
        <a:lstStyle/>
        <a:p>
          <a:endParaRPr lang="en-US"/>
        </a:p>
      </dgm:t>
    </dgm:pt>
    <dgm:pt modelId="{11999433-2413-4654-BA06-B5849283D7CD}" type="sibTrans" cxnId="{DEE49AED-66BC-4A12-A00B-9EEE06CA8DE4}">
      <dgm:prSet/>
      <dgm:spPr/>
      <dgm:t>
        <a:bodyPr/>
        <a:lstStyle/>
        <a:p>
          <a:endParaRPr lang="en-US"/>
        </a:p>
      </dgm:t>
    </dgm:pt>
    <dgm:pt modelId="{4725A267-389C-4E6B-9692-B2CCE4E03C44}">
      <dgm:prSet custT="1"/>
      <dgm:spPr/>
      <dgm:t>
        <a:bodyPr/>
        <a:lstStyle/>
        <a:p>
          <a:pPr algn="just">
            <a:lnSpc>
              <a:spcPts val="3000"/>
            </a:lnSpc>
            <a:spcBef>
              <a:spcPts val="1000"/>
            </a:spcBef>
          </a:pPr>
          <a:r>
            <a:rPr lang="zh-TW" sz="2000" b="1" i="0" baseline="0" dirty="0"/>
            <a:t>非監督式學習與生成對抗網路 (GAN) 的應用</a:t>
          </a:r>
          <a:r>
            <a:rPr lang="zh-TW" sz="2000" b="0" i="0" baseline="0" dirty="0"/>
            <a:t>：傳統異常偵測高度依賴先驗知識，而 GAN 等非監督式深度學習模型透過引入少量惡意樣本進行弱監督學習，或採用自編碼器 (Autoencoder) 架構，能有效縮短訓練時間並提升對未知攻擊的偵測能力。</a:t>
          </a:r>
          <a:endParaRPr lang="en-US" sz="2000" dirty="0"/>
        </a:p>
      </dgm:t>
    </dgm:pt>
    <dgm:pt modelId="{383426CE-C896-40B2-9C89-68FAD5906D5E}" type="parTrans" cxnId="{E17487A3-ECA7-40DF-9284-67776328919B}">
      <dgm:prSet/>
      <dgm:spPr/>
      <dgm:t>
        <a:bodyPr/>
        <a:lstStyle/>
        <a:p>
          <a:endParaRPr lang="en-US"/>
        </a:p>
      </dgm:t>
    </dgm:pt>
    <dgm:pt modelId="{A8E5941E-3958-404C-A7D6-CF341C55A9CA}" type="sibTrans" cxnId="{E17487A3-ECA7-40DF-9284-67776328919B}">
      <dgm:prSet/>
      <dgm:spPr/>
      <dgm:t>
        <a:bodyPr/>
        <a:lstStyle/>
        <a:p>
          <a:endParaRPr lang="en-US"/>
        </a:p>
      </dgm:t>
    </dgm:pt>
    <dgm:pt modelId="{E07192AB-A959-4C8E-9BB2-5E242EEC2FB8}">
      <dgm:prSet custT="1"/>
      <dgm:spPr/>
      <dgm:t>
        <a:bodyPr/>
        <a:lstStyle/>
        <a:p>
          <a:pPr algn="just">
            <a:lnSpc>
              <a:spcPts val="3000"/>
            </a:lnSpc>
            <a:spcBef>
              <a:spcPts val="1000"/>
            </a:spcBef>
          </a:pPr>
          <a:r>
            <a:rPr lang="zh-TW" sz="2000" b="1" i="0" baseline="0" dirty="0"/>
            <a:t>SOAR 與人工智慧的整合</a:t>
          </a:r>
          <a:r>
            <a:rPr lang="zh-TW" sz="2000" b="0" i="0" baseline="0" dirty="0"/>
            <a:t>：安全維運中心 (SOC) 導入 SOAR 平台能自動化執行重複性任務，有效釋放分析師的時間。整合 AI 後，模型能分析大量數據以識別微小的異常行為，並針對低風險威脅自動執行處置，顯著縮短平均回應時間 (MTTR)。</a:t>
          </a:r>
          <a:endParaRPr lang="en-US" sz="2000" dirty="0"/>
        </a:p>
      </dgm:t>
    </dgm:pt>
    <dgm:pt modelId="{C5601AC9-19F1-4C6C-AFC0-C97799C5CC21}" type="parTrans" cxnId="{B7F77198-8242-4DF5-8A80-DEC6542B99B2}">
      <dgm:prSet/>
      <dgm:spPr/>
      <dgm:t>
        <a:bodyPr/>
        <a:lstStyle/>
        <a:p>
          <a:endParaRPr lang="en-US"/>
        </a:p>
      </dgm:t>
    </dgm:pt>
    <dgm:pt modelId="{0DF0189A-0986-47B6-85D3-B0311E647ECF}" type="sibTrans" cxnId="{B7F77198-8242-4DF5-8A80-DEC6542B99B2}">
      <dgm:prSet/>
      <dgm:spPr/>
      <dgm:t>
        <a:bodyPr/>
        <a:lstStyle/>
        <a:p>
          <a:endParaRPr lang="en-US"/>
        </a:p>
      </dgm:t>
    </dgm:pt>
    <dgm:pt modelId="{E3495BEA-7EB3-44BD-94FA-3E5C8C110007}" type="pres">
      <dgm:prSet presAssocID="{16928ACA-2688-4187-A056-F87AE73CF130}" presName="vert0" presStyleCnt="0">
        <dgm:presLayoutVars>
          <dgm:dir/>
          <dgm:animOne val="branch"/>
          <dgm:animLvl val="lvl"/>
        </dgm:presLayoutVars>
      </dgm:prSet>
      <dgm:spPr/>
    </dgm:pt>
    <dgm:pt modelId="{1D5BD4E5-1BA3-4F7E-8FE9-33F85485E991}" type="pres">
      <dgm:prSet presAssocID="{83883367-9E93-46EA-B3F1-D55BCA30C721}" presName="thickLine" presStyleLbl="alignNode1" presStyleIdx="0" presStyleCnt="3"/>
      <dgm:spPr/>
    </dgm:pt>
    <dgm:pt modelId="{1C7107C0-E4A5-4D85-AD8C-2A62CD5147D7}" type="pres">
      <dgm:prSet presAssocID="{83883367-9E93-46EA-B3F1-D55BCA30C721}" presName="horz1" presStyleCnt="0"/>
      <dgm:spPr/>
    </dgm:pt>
    <dgm:pt modelId="{2DC0909B-D946-49B6-B3E4-CCFA354B673D}" type="pres">
      <dgm:prSet presAssocID="{83883367-9E93-46EA-B3F1-D55BCA30C721}" presName="tx1" presStyleLbl="revTx" presStyleIdx="0" presStyleCnt="3"/>
      <dgm:spPr/>
    </dgm:pt>
    <dgm:pt modelId="{50105306-5139-4118-81FA-968855CD9CD6}" type="pres">
      <dgm:prSet presAssocID="{83883367-9E93-46EA-B3F1-D55BCA30C721}" presName="vert1" presStyleCnt="0"/>
      <dgm:spPr/>
    </dgm:pt>
    <dgm:pt modelId="{FBE8B023-D52A-448F-8300-17CB34185840}" type="pres">
      <dgm:prSet presAssocID="{4725A267-389C-4E6B-9692-B2CCE4E03C44}" presName="thickLine" presStyleLbl="alignNode1" presStyleIdx="1" presStyleCnt="3"/>
      <dgm:spPr/>
    </dgm:pt>
    <dgm:pt modelId="{F70DFBFA-5406-4C2C-9695-B4AD04A3D33C}" type="pres">
      <dgm:prSet presAssocID="{4725A267-389C-4E6B-9692-B2CCE4E03C44}" presName="horz1" presStyleCnt="0"/>
      <dgm:spPr/>
    </dgm:pt>
    <dgm:pt modelId="{1594BE68-74D1-4A71-9079-A56FC2A4EB27}" type="pres">
      <dgm:prSet presAssocID="{4725A267-389C-4E6B-9692-B2CCE4E03C44}" presName="tx1" presStyleLbl="revTx" presStyleIdx="1" presStyleCnt="3"/>
      <dgm:spPr/>
    </dgm:pt>
    <dgm:pt modelId="{1B2BAD8A-7453-40C2-8259-C2A58E3A7A8F}" type="pres">
      <dgm:prSet presAssocID="{4725A267-389C-4E6B-9692-B2CCE4E03C44}" presName="vert1" presStyleCnt="0"/>
      <dgm:spPr/>
    </dgm:pt>
    <dgm:pt modelId="{D9AF9126-106B-40B4-9E7A-8004995A355C}" type="pres">
      <dgm:prSet presAssocID="{E07192AB-A959-4C8E-9BB2-5E242EEC2FB8}" presName="thickLine" presStyleLbl="alignNode1" presStyleIdx="2" presStyleCnt="3"/>
      <dgm:spPr/>
    </dgm:pt>
    <dgm:pt modelId="{B35B9F23-84F2-4A34-AD18-1D069203EED3}" type="pres">
      <dgm:prSet presAssocID="{E07192AB-A959-4C8E-9BB2-5E242EEC2FB8}" presName="horz1" presStyleCnt="0"/>
      <dgm:spPr/>
    </dgm:pt>
    <dgm:pt modelId="{EEDD226D-20C6-4808-A681-468C9AFE89FA}" type="pres">
      <dgm:prSet presAssocID="{E07192AB-A959-4C8E-9BB2-5E242EEC2FB8}" presName="tx1" presStyleLbl="revTx" presStyleIdx="2" presStyleCnt="3"/>
      <dgm:spPr/>
    </dgm:pt>
    <dgm:pt modelId="{2A8819C3-9A08-4EEF-9A15-635B12D9B0E3}" type="pres">
      <dgm:prSet presAssocID="{E07192AB-A959-4C8E-9BB2-5E242EEC2FB8}" presName="vert1" presStyleCnt="0"/>
      <dgm:spPr/>
    </dgm:pt>
  </dgm:ptLst>
  <dgm:cxnLst>
    <dgm:cxn modelId="{AB6CBC2D-A143-411B-B936-BFD9DFD0D75C}" type="presOf" srcId="{E07192AB-A959-4C8E-9BB2-5E242EEC2FB8}" destId="{EEDD226D-20C6-4808-A681-468C9AFE89FA}" srcOrd="0" destOrd="0" presId="urn:microsoft.com/office/officeart/2008/layout/LinedList"/>
    <dgm:cxn modelId="{0AF62E72-29B0-419D-AD93-F360CFEE3184}" type="presOf" srcId="{16928ACA-2688-4187-A056-F87AE73CF130}" destId="{E3495BEA-7EB3-44BD-94FA-3E5C8C110007}" srcOrd="0" destOrd="0" presId="urn:microsoft.com/office/officeart/2008/layout/LinedList"/>
    <dgm:cxn modelId="{B7F77198-8242-4DF5-8A80-DEC6542B99B2}" srcId="{16928ACA-2688-4187-A056-F87AE73CF130}" destId="{E07192AB-A959-4C8E-9BB2-5E242EEC2FB8}" srcOrd="2" destOrd="0" parTransId="{C5601AC9-19F1-4C6C-AFC0-C97799C5CC21}" sibTransId="{0DF0189A-0986-47B6-85D3-B0311E647ECF}"/>
    <dgm:cxn modelId="{E17487A3-ECA7-40DF-9284-67776328919B}" srcId="{16928ACA-2688-4187-A056-F87AE73CF130}" destId="{4725A267-389C-4E6B-9692-B2CCE4E03C44}" srcOrd="1" destOrd="0" parTransId="{383426CE-C896-40B2-9C89-68FAD5906D5E}" sibTransId="{A8E5941E-3958-404C-A7D6-CF341C55A9CA}"/>
    <dgm:cxn modelId="{57CC39C2-B92A-4416-A115-B2025133E831}" type="presOf" srcId="{4725A267-389C-4E6B-9692-B2CCE4E03C44}" destId="{1594BE68-74D1-4A71-9079-A56FC2A4EB27}" srcOrd="0" destOrd="0" presId="urn:microsoft.com/office/officeart/2008/layout/LinedList"/>
    <dgm:cxn modelId="{7C94F8C2-95B3-4BBA-BE22-C557D809C4D0}" type="presOf" srcId="{83883367-9E93-46EA-B3F1-D55BCA30C721}" destId="{2DC0909B-D946-49B6-B3E4-CCFA354B673D}" srcOrd="0" destOrd="0" presId="urn:microsoft.com/office/officeart/2008/layout/LinedList"/>
    <dgm:cxn modelId="{DEE49AED-66BC-4A12-A00B-9EEE06CA8DE4}" srcId="{16928ACA-2688-4187-A056-F87AE73CF130}" destId="{83883367-9E93-46EA-B3F1-D55BCA30C721}" srcOrd="0" destOrd="0" parTransId="{8349D712-8D25-4357-92C3-4E6A7E573849}" sibTransId="{11999433-2413-4654-BA06-B5849283D7CD}"/>
    <dgm:cxn modelId="{AB9D7783-A8D4-4A98-9FF3-6FB400C8B944}" type="presParOf" srcId="{E3495BEA-7EB3-44BD-94FA-3E5C8C110007}" destId="{1D5BD4E5-1BA3-4F7E-8FE9-33F85485E991}" srcOrd="0" destOrd="0" presId="urn:microsoft.com/office/officeart/2008/layout/LinedList"/>
    <dgm:cxn modelId="{02A86114-4D9F-422E-A1FD-C8B3350C0772}" type="presParOf" srcId="{E3495BEA-7EB3-44BD-94FA-3E5C8C110007}" destId="{1C7107C0-E4A5-4D85-AD8C-2A62CD5147D7}" srcOrd="1" destOrd="0" presId="urn:microsoft.com/office/officeart/2008/layout/LinedList"/>
    <dgm:cxn modelId="{F2586144-85D6-448B-94B7-590D24F0A237}" type="presParOf" srcId="{1C7107C0-E4A5-4D85-AD8C-2A62CD5147D7}" destId="{2DC0909B-D946-49B6-B3E4-CCFA354B673D}" srcOrd="0" destOrd="0" presId="urn:microsoft.com/office/officeart/2008/layout/LinedList"/>
    <dgm:cxn modelId="{CCBF8858-EC2F-451E-B40B-1F5515CD1A5A}" type="presParOf" srcId="{1C7107C0-E4A5-4D85-AD8C-2A62CD5147D7}" destId="{50105306-5139-4118-81FA-968855CD9CD6}" srcOrd="1" destOrd="0" presId="urn:microsoft.com/office/officeart/2008/layout/LinedList"/>
    <dgm:cxn modelId="{2EE071C5-29FD-4E78-9AD7-03177F474F62}" type="presParOf" srcId="{E3495BEA-7EB3-44BD-94FA-3E5C8C110007}" destId="{FBE8B023-D52A-448F-8300-17CB34185840}" srcOrd="2" destOrd="0" presId="urn:microsoft.com/office/officeart/2008/layout/LinedList"/>
    <dgm:cxn modelId="{426F638A-721F-4910-8290-E1ECC2A7F5D7}" type="presParOf" srcId="{E3495BEA-7EB3-44BD-94FA-3E5C8C110007}" destId="{F70DFBFA-5406-4C2C-9695-B4AD04A3D33C}" srcOrd="3" destOrd="0" presId="urn:microsoft.com/office/officeart/2008/layout/LinedList"/>
    <dgm:cxn modelId="{66B99602-6428-49F8-AC05-6AA663137A7C}" type="presParOf" srcId="{F70DFBFA-5406-4C2C-9695-B4AD04A3D33C}" destId="{1594BE68-74D1-4A71-9079-A56FC2A4EB27}" srcOrd="0" destOrd="0" presId="urn:microsoft.com/office/officeart/2008/layout/LinedList"/>
    <dgm:cxn modelId="{BB671D8A-44D2-426D-A3E6-C64AD182A7D0}" type="presParOf" srcId="{F70DFBFA-5406-4C2C-9695-B4AD04A3D33C}" destId="{1B2BAD8A-7453-40C2-8259-C2A58E3A7A8F}" srcOrd="1" destOrd="0" presId="urn:microsoft.com/office/officeart/2008/layout/LinedList"/>
    <dgm:cxn modelId="{C249FBD1-FB08-4318-BCF4-64666E93B538}" type="presParOf" srcId="{E3495BEA-7EB3-44BD-94FA-3E5C8C110007}" destId="{D9AF9126-106B-40B4-9E7A-8004995A355C}" srcOrd="4" destOrd="0" presId="urn:microsoft.com/office/officeart/2008/layout/LinedList"/>
    <dgm:cxn modelId="{E537B3B6-AC1A-4159-A61C-3F472144A336}" type="presParOf" srcId="{E3495BEA-7EB3-44BD-94FA-3E5C8C110007}" destId="{B35B9F23-84F2-4A34-AD18-1D069203EED3}" srcOrd="5" destOrd="0" presId="urn:microsoft.com/office/officeart/2008/layout/LinedList"/>
    <dgm:cxn modelId="{DE3A348E-EF61-4358-8565-92AB121F1169}" type="presParOf" srcId="{B35B9F23-84F2-4A34-AD18-1D069203EED3}" destId="{EEDD226D-20C6-4808-A681-468C9AFE89FA}" srcOrd="0" destOrd="0" presId="urn:microsoft.com/office/officeart/2008/layout/LinedList"/>
    <dgm:cxn modelId="{1D107C07-097B-40A2-A496-075CA19E0318}" type="presParOf" srcId="{B35B9F23-84F2-4A34-AD18-1D069203EED3}" destId="{2A8819C3-9A08-4EEF-9A15-635B12D9B0E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7A652BD-D9CE-4D68-A397-945FED5E838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4B43281E-93C2-46CD-B3B0-02056DC3C89C}">
      <dgm:prSet custT="1"/>
      <dgm:spPr/>
      <dgm:t>
        <a:bodyPr/>
        <a:lstStyle/>
        <a:p>
          <a:pPr algn="just"/>
          <a:r>
            <a:rPr lang="zh-TW" sz="2000" b="1" i="0" baseline="0" dirty="0"/>
            <a:t>提取有效指紋</a:t>
          </a:r>
          <a:r>
            <a:rPr lang="zh-TW" sz="2000" b="0" i="0" baseline="0" dirty="0"/>
            <a:t>：在不解密的情況下，提取 HTTP/3 加密流量的有效特徵</a:t>
          </a:r>
          <a:r>
            <a:rPr lang="zh-TW" altLang="en-US" sz="2000" b="0" i="0" baseline="0" dirty="0"/>
            <a:t> </a:t>
          </a:r>
          <a:r>
            <a:rPr lang="en-US" altLang="zh-TW" sz="2000" b="0" i="0" baseline="0" dirty="0"/>
            <a:t>(</a:t>
          </a:r>
          <a:r>
            <a:rPr lang="zh-TW" sz="2000" b="0" i="0" baseline="0" dirty="0"/>
            <a:t>如封包長度、到達時間間隔</a:t>
          </a:r>
          <a:r>
            <a:rPr lang="en-US" altLang="zh-TW" sz="2000" b="0" i="0" baseline="0" dirty="0"/>
            <a:t>)</a:t>
          </a:r>
          <a:r>
            <a:rPr lang="zh-TW" sz="2000" b="0" i="0" baseline="0" dirty="0"/>
            <a:t>。</a:t>
          </a:r>
          <a:endParaRPr lang="en-US" sz="2000" dirty="0"/>
        </a:p>
      </dgm:t>
    </dgm:pt>
    <dgm:pt modelId="{10F1FD50-69FC-4540-BF9C-0E599EDF68F8}" type="parTrans" cxnId="{4DA1BB81-7A13-429E-A532-6443EC805918}">
      <dgm:prSet/>
      <dgm:spPr/>
      <dgm:t>
        <a:bodyPr/>
        <a:lstStyle/>
        <a:p>
          <a:endParaRPr lang="en-US" sz="1400"/>
        </a:p>
      </dgm:t>
    </dgm:pt>
    <dgm:pt modelId="{1FEAECF5-6BBE-46D5-941B-47F72BE9B4E9}" type="sibTrans" cxnId="{4DA1BB81-7A13-429E-A532-6443EC805918}">
      <dgm:prSet/>
      <dgm:spPr/>
      <dgm:t>
        <a:bodyPr/>
        <a:lstStyle/>
        <a:p>
          <a:endParaRPr lang="en-US" sz="1400"/>
        </a:p>
      </dgm:t>
    </dgm:pt>
    <dgm:pt modelId="{D9F2950B-B199-4860-819B-564755821A80}">
      <dgm:prSet custT="1"/>
      <dgm:spPr/>
      <dgm:t>
        <a:bodyPr/>
        <a:lstStyle/>
        <a:p>
          <a:pPr algn="just"/>
          <a:r>
            <a:rPr lang="zh-TW" sz="2000" b="1" i="0" baseline="0" dirty="0"/>
            <a:t>非監督式學習防禦未知威脅</a:t>
          </a:r>
          <a:r>
            <a:rPr lang="zh-TW" sz="2000" b="0" i="0" baseline="0" dirty="0"/>
            <a:t>：在缺乏惡意標記數據的環境下，利用深度學習進行非監督式學習，實現對零時差攻擊的偵測。</a:t>
          </a:r>
          <a:endParaRPr lang="en-US" sz="2000" dirty="0"/>
        </a:p>
      </dgm:t>
    </dgm:pt>
    <dgm:pt modelId="{10254A03-DB04-4762-8365-A2DB3B819766}" type="parTrans" cxnId="{FF6561F0-3BFA-4CA8-B692-242F4985D1DC}">
      <dgm:prSet/>
      <dgm:spPr/>
      <dgm:t>
        <a:bodyPr/>
        <a:lstStyle/>
        <a:p>
          <a:endParaRPr lang="en-US" sz="1400"/>
        </a:p>
      </dgm:t>
    </dgm:pt>
    <dgm:pt modelId="{DF5F2C4D-0F3D-4B04-A94F-27A04F92A335}" type="sibTrans" cxnId="{FF6561F0-3BFA-4CA8-B692-242F4985D1DC}">
      <dgm:prSet/>
      <dgm:spPr/>
      <dgm:t>
        <a:bodyPr/>
        <a:lstStyle/>
        <a:p>
          <a:endParaRPr lang="en-US" sz="1400"/>
        </a:p>
      </dgm:t>
    </dgm:pt>
    <dgm:pt modelId="{6AF35E4E-7F75-44C8-AB89-517C38AF8DA7}">
      <dgm:prSet custT="1"/>
      <dgm:spPr/>
      <dgm:t>
        <a:bodyPr/>
        <a:lstStyle/>
        <a:p>
          <a:pPr algn="just"/>
          <a:r>
            <a:rPr lang="zh-TW" sz="2000" b="1" i="0" baseline="0" dirty="0"/>
            <a:t>情資與自動化閉環</a:t>
          </a:r>
          <a:r>
            <a:rPr lang="zh-TW" sz="2000" b="0" i="0" baseline="0" dirty="0"/>
            <a:t>：整合 MISP 威脅情資平台與</a:t>
          </a:r>
          <a:r>
            <a:rPr lang="zh-TW" sz="2000" dirty="0"/>
            <a:t>資安協作自動化應變</a:t>
          </a:r>
          <a:r>
            <a:rPr lang="en-US" sz="2000" dirty="0"/>
            <a:t> (SOAR)</a:t>
          </a:r>
          <a:r>
            <a:rPr lang="zh-TW" altLang="en-US" sz="2000" dirty="0"/>
            <a:t> </a:t>
          </a:r>
          <a:r>
            <a:rPr lang="zh-TW" sz="2000" b="0" i="0" baseline="0" dirty="0"/>
            <a:t>機制，實現異常自動化回應。</a:t>
          </a:r>
          <a:endParaRPr lang="en-US" sz="2000" dirty="0"/>
        </a:p>
      </dgm:t>
    </dgm:pt>
    <dgm:pt modelId="{EDEDEB85-2E9E-4353-86AD-BEEE0626CC99}" type="parTrans" cxnId="{53DCE50D-D08C-4456-A857-08B1F2287A97}">
      <dgm:prSet/>
      <dgm:spPr/>
      <dgm:t>
        <a:bodyPr/>
        <a:lstStyle/>
        <a:p>
          <a:endParaRPr lang="en-US" sz="1400"/>
        </a:p>
      </dgm:t>
    </dgm:pt>
    <dgm:pt modelId="{FD897446-1626-45AC-8F21-EE600AA43EC5}" type="sibTrans" cxnId="{53DCE50D-D08C-4456-A857-08B1F2287A97}">
      <dgm:prSet/>
      <dgm:spPr/>
      <dgm:t>
        <a:bodyPr/>
        <a:lstStyle/>
        <a:p>
          <a:endParaRPr lang="en-US" sz="1400"/>
        </a:p>
      </dgm:t>
    </dgm:pt>
    <dgm:pt modelId="{E81D440D-8AC7-42AB-B910-E5728A1694DF}" type="pres">
      <dgm:prSet presAssocID="{77A652BD-D9CE-4D68-A397-945FED5E8385}" presName="root" presStyleCnt="0">
        <dgm:presLayoutVars>
          <dgm:dir/>
          <dgm:resizeHandles val="exact"/>
        </dgm:presLayoutVars>
      </dgm:prSet>
      <dgm:spPr/>
    </dgm:pt>
    <dgm:pt modelId="{01D373F8-E253-43F9-BEC0-CBCD6FC930A4}" type="pres">
      <dgm:prSet presAssocID="{4B43281E-93C2-46CD-B3B0-02056DC3C89C}" presName="compNode" presStyleCnt="0"/>
      <dgm:spPr/>
    </dgm:pt>
    <dgm:pt modelId="{57722572-0515-4ACE-930E-426A0CEE5BC1}" type="pres">
      <dgm:prSet presAssocID="{4B43281E-93C2-46CD-B3B0-02056DC3C89C}" presName="bgRect" presStyleLbl="bgShp" presStyleIdx="0" presStyleCnt="3" custLinFactNeighborX="-2465" custLinFactNeighborY="-2766"/>
      <dgm:spPr/>
    </dgm:pt>
    <dgm:pt modelId="{734D1439-FEC6-4416-A5FD-0E72B6462510}" type="pres">
      <dgm:prSet presAssocID="{4B43281E-93C2-46CD-B3B0-02056DC3C89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程式設計師"/>
        </a:ext>
      </dgm:extLst>
    </dgm:pt>
    <dgm:pt modelId="{4F7F272C-5B60-4A4D-8D0B-532502BF85EC}" type="pres">
      <dgm:prSet presAssocID="{4B43281E-93C2-46CD-B3B0-02056DC3C89C}" presName="spaceRect" presStyleCnt="0"/>
      <dgm:spPr/>
    </dgm:pt>
    <dgm:pt modelId="{3C000D28-0CD0-4397-84EE-AD2CBC718708}" type="pres">
      <dgm:prSet presAssocID="{4B43281E-93C2-46CD-B3B0-02056DC3C89C}" presName="parTx" presStyleLbl="revTx" presStyleIdx="0" presStyleCnt="3">
        <dgm:presLayoutVars>
          <dgm:chMax val="0"/>
          <dgm:chPref val="0"/>
        </dgm:presLayoutVars>
      </dgm:prSet>
      <dgm:spPr/>
    </dgm:pt>
    <dgm:pt modelId="{D1EAC610-FF72-4F69-AFDD-02AE3A449F40}" type="pres">
      <dgm:prSet presAssocID="{1FEAECF5-6BBE-46D5-941B-47F72BE9B4E9}" presName="sibTrans" presStyleCnt="0"/>
      <dgm:spPr/>
    </dgm:pt>
    <dgm:pt modelId="{A187CB96-682B-423F-91AC-D3439029DDC0}" type="pres">
      <dgm:prSet presAssocID="{D9F2950B-B199-4860-819B-564755821A80}" presName="compNode" presStyleCnt="0"/>
      <dgm:spPr/>
    </dgm:pt>
    <dgm:pt modelId="{D14CADD4-4F0C-40FD-9285-627EA6018DB1}" type="pres">
      <dgm:prSet presAssocID="{D9F2950B-B199-4860-819B-564755821A80}" presName="bgRect" presStyleLbl="bgShp" presStyleIdx="1" presStyleCnt="3"/>
      <dgm:spPr/>
    </dgm:pt>
    <dgm:pt modelId="{5E0DBD9E-6085-4A5C-8524-72460981F7B4}" type="pres">
      <dgm:prSet presAssocID="{D9F2950B-B199-4860-819B-564755821A80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字幕"/>
        </a:ext>
      </dgm:extLst>
    </dgm:pt>
    <dgm:pt modelId="{E79950DC-18B5-48EA-A2B0-E9D71450D808}" type="pres">
      <dgm:prSet presAssocID="{D9F2950B-B199-4860-819B-564755821A80}" presName="spaceRect" presStyleCnt="0"/>
      <dgm:spPr/>
    </dgm:pt>
    <dgm:pt modelId="{59D70CC6-6BEC-477C-9E82-351F5C1EFB53}" type="pres">
      <dgm:prSet presAssocID="{D9F2950B-B199-4860-819B-564755821A80}" presName="parTx" presStyleLbl="revTx" presStyleIdx="1" presStyleCnt="3">
        <dgm:presLayoutVars>
          <dgm:chMax val="0"/>
          <dgm:chPref val="0"/>
        </dgm:presLayoutVars>
      </dgm:prSet>
      <dgm:spPr/>
    </dgm:pt>
    <dgm:pt modelId="{9A4F9EDE-405F-45BE-AA97-05BA2A72DA84}" type="pres">
      <dgm:prSet presAssocID="{DF5F2C4D-0F3D-4B04-A94F-27A04F92A335}" presName="sibTrans" presStyleCnt="0"/>
      <dgm:spPr/>
    </dgm:pt>
    <dgm:pt modelId="{BE74606C-F039-4A05-9FAB-28F882F3A363}" type="pres">
      <dgm:prSet presAssocID="{6AF35E4E-7F75-44C8-AB89-517C38AF8DA7}" presName="compNode" presStyleCnt="0"/>
      <dgm:spPr/>
    </dgm:pt>
    <dgm:pt modelId="{678C9336-E14E-4917-8E85-901F65361DB1}" type="pres">
      <dgm:prSet presAssocID="{6AF35E4E-7F75-44C8-AB89-517C38AF8DA7}" presName="bgRect" presStyleLbl="bgShp" presStyleIdx="2" presStyleCnt="3"/>
      <dgm:spPr/>
    </dgm:pt>
    <dgm:pt modelId="{D1B3EE23-A117-4A9F-A6E8-AD79A9A92118}" type="pres">
      <dgm:prSet presAssocID="{6AF35E4E-7F75-44C8-AB89-517C38AF8DA7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EF0D1751-88BC-44D4-860F-DD4649EF34F9}" type="pres">
      <dgm:prSet presAssocID="{6AF35E4E-7F75-44C8-AB89-517C38AF8DA7}" presName="spaceRect" presStyleCnt="0"/>
      <dgm:spPr/>
    </dgm:pt>
    <dgm:pt modelId="{3352F786-B4B4-434D-B7DA-DC5C00BC76D7}" type="pres">
      <dgm:prSet presAssocID="{6AF35E4E-7F75-44C8-AB89-517C38AF8DA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3DCE50D-D08C-4456-A857-08B1F2287A97}" srcId="{77A652BD-D9CE-4D68-A397-945FED5E8385}" destId="{6AF35E4E-7F75-44C8-AB89-517C38AF8DA7}" srcOrd="2" destOrd="0" parTransId="{EDEDEB85-2E9E-4353-86AD-BEEE0626CC99}" sibTransId="{FD897446-1626-45AC-8F21-EE600AA43EC5}"/>
    <dgm:cxn modelId="{E59DA978-821A-4593-879D-C5F7C52076AF}" type="presOf" srcId="{4B43281E-93C2-46CD-B3B0-02056DC3C89C}" destId="{3C000D28-0CD0-4397-84EE-AD2CBC718708}" srcOrd="0" destOrd="0" presId="urn:microsoft.com/office/officeart/2018/2/layout/IconVerticalSolidList"/>
    <dgm:cxn modelId="{4DA1BB81-7A13-429E-A532-6443EC805918}" srcId="{77A652BD-D9CE-4D68-A397-945FED5E8385}" destId="{4B43281E-93C2-46CD-B3B0-02056DC3C89C}" srcOrd="0" destOrd="0" parTransId="{10F1FD50-69FC-4540-BF9C-0E599EDF68F8}" sibTransId="{1FEAECF5-6BBE-46D5-941B-47F72BE9B4E9}"/>
    <dgm:cxn modelId="{73F17CA2-8CCD-431F-B8F5-90CC23EDE878}" type="presOf" srcId="{6AF35E4E-7F75-44C8-AB89-517C38AF8DA7}" destId="{3352F786-B4B4-434D-B7DA-DC5C00BC76D7}" srcOrd="0" destOrd="0" presId="urn:microsoft.com/office/officeart/2018/2/layout/IconVerticalSolidList"/>
    <dgm:cxn modelId="{2A76D7D4-D2BE-4AFA-BCDA-5C37D0554862}" type="presOf" srcId="{77A652BD-D9CE-4D68-A397-945FED5E8385}" destId="{E81D440D-8AC7-42AB-B910-E5728A1694DF}" srcOrd="0" destOrd="0" presId="urn:microsoft.com/office/officeart/2018/2/layout/IconVerticalSolidList"/>
    <dgm:cxn modelId="{FF6561F0-3BFA-4CA8-B692-242F4985D1DC}" srcId="{77A652BD-D9CE-4D68-A397-945FED5E8385}" destId="{D9F2950B-B199-4860-819B-564755821A80}" srcOrd="1" destOrd="0" parTransId="{10254A03-DB04-4762-8365-A2DB3B819766}" sibTransId="{DF5F2C4D-0F3D-4B04-A94F-27A04F92A335}"/>
    <dgm:cxn modelId="{CD5592F8-2255-49DA-9DF4-50FE5A45F13C}" type="presOf" srcId="{D9F2950B-B199-4860-819B-564755821A80}" destId="{59D70CC6-6BEC-477C-9E82-351F5C1EFB53}" srcOrd="0" destOrd="0" presId="urn:microsoft.com/office/officeart/2018/2/layout/IconVerticalSolidList"/>
    <dgm:cxn modelId="{3BA2E7CE-34E0-4E44-85BC-B738350953CC}" type="presParOf" srcId="{E81D440D-8AC7-42AB-B910-E5728A1694DF}" destId="{01D373F8-E253-43F9-BEC0-CBCD6FC930A4}" srcOrd="0" destOrd="0" presId="urn:microsoft.com/office/officeart/2018/2/layout/IconVerticalSolidList"/>
    <dgm:cxn modelId="{1A310553-D5E2-4BC1-99CA-4FEBA3E6D8F2}" type="presParOf" srcId="{01D373F8-E253-43F9-BEC0-CBCD6FC930A4}" destId="{57722572-0515-4ACE-930E-426A0CEE5BC1}" srcOrd="0" destOrd="0" presId="urn:microsoft.com/office/officeart/2018/2/layout/IconVerticalSolidList"/>
    <dgm:cxn modelId="{A01CA80C-DB37-4E09-93E4-21036A7ADC9C}" type="presParOf" srcId="{01D373F8-E253-43F9-BEC0-CBCD6FC930A4}" destId="{734D1439-FEC6-4416-A5FD-0E72B6462510}" srcOrd="1" destOrd="0" presId="urn:microsoft.com/office/officeart/2018/2/layout/IconVerticalSolidList"/>
    <dgm:cxn modelId="{C427170F-21A4-48B9-8D77-5156092B771F}" type="presParOf" srcId="{01D373F8-E253-43F9-BEC0-CBCD6FC930A4}" destId="{4F7F272C-5B60-4A4D-8D0B-532502BF85EC}" srcOrd="2" destOrd="0" presId="urn:microsoft.com/office/officeart/2018/2/layout/IconVerticalSolidList"/>
    <dgm:cxn modelId="{8520D1CA-CB6A-4587-AA0E-027818E5AA70}" type="presParOf" srcId="{01D373F8-E253-43F9-BEC0-CBCD6FC930A4}" destId="{3C000D28-0CD0-4397-84EE-AD2CBC718708}" srcOrd="3" destOrd="0" presId="urn:microsoft.com/office/officeart/2018/2/layout/IconVerticalSolidList"/>
    <dgm:cxn modelId="{D89E7BA1-D382-453D-982C-FC25F6E07CCE}" type="presParOf" srcId="{E81D440D-8AC7-42AB-B910-E5728A1694DF}" destId="{D1EAC610-FF72-4F69-AFDD-02AE3A449F40}" srcOrd="1" destOrd="0" presId="urn:microsoft.com/office/officeart/2018/2/layout/IconVerticalSolidList"/>
    <dgm:cxn modelId="{888F9B3D-2689-405B-A21D-869C6468D8C3}" type="presParOf" srcId="{E81D440D-8AC7-42AB-B910-E5728A1694DF}" destId="{A187CB96-682B-423F-91AC-D3439029DDC0}" srcOrd="2" destOrd="0" presId="urn:microsoft.com/office/officeart/2018/2/layout/IconVerticalSolidList"/>
    <dgm:cxn modelId="{10D84220-8D10-4EB6-A491-0828C125E12C}" type="presParOf" srcId="{A187CB96-682B-423F-91AC-D3439029DDC0}" destId="{D14CADD4-4F0C-40FD-9285-627EA6018DB1}" srcOrd="0" destOrd="0" presId="urn:microsoft.com/office/officeart/2018/2/layout/IconVerticalSolidList"/>
    <dgm:cxn modelId="{86F72331-BF2E-422A-98F8-56126E24076B}" type="presParOf" srcId="{A187CB96-682B-423F-91AC-D3439029DDC0}" destId="{5E0DBD9E-6085-4A5C-8524-72460981F7B4}" srcOrd="1" destOrd="0" presId="urn:microsoft.com/office/officeart/2018/2/layout/IconVerticalSolidList"/>
    <dgm:cxn modelId="{E345A762-F22C-463A-9B79-F51A80ADE07A}" type="presParOf" srcId="{A187CB96-682B-423F-91AC-D3439029DDC0}" destId="{E79950DC-18B5-48EA-A2B0-E9D71450D808}" srcOrd="2" destOrd="0" presId="urn:microsoft.com/office/officeart/2018/2/layout/IconVerticalSolidList"/>
    <dgm:cxn modelId="{399FCC9F-CC1F-48D3-A731-C2F5AAF32F4B}" type="presParOf" srcId="{A187CB96-682B-423F-91AC-D3439029DDC0}" destId="{59D70CC6-6BEC-477C-9E82-351F5C1EFB53}" srcOrd="3" destOrd="0" presId="urn:microsoft.com/office/officeart/2018/2/layout/IconVerticalSolidList"/>
    <dgm:cxn modelId="{E400E127-73C3-4E74-87BA-748193970185}" type="presParOf" srcId="{E81D440D-8AC7-42AB-B910-E5728A1694DF}" destId="{9A4F9EDE-405F-45BE-AA97-05BA2A72DA84}" srcOrd="3" destOrd="0" presId="urn:microsoft.com/office/officeart/2018/2/layout/IconVerticalSolidList"/>
    <dgm:cxn modelId="{E37FFA32-23C5-4452-8C2E-DF2F21CF4292}" type="presParOf" srcId="{E81D440D-8AC7-42AB-B910-E5728A1694DF}" destId="{BE74606C-F039-4A05-9FAB-28F882F3A363}" srcOrd="4" destOrd="0" presId="urn:microsoft.com/office/officeart/2018/2/layout/IconVerticalSolidList"/>
    <dgm:cxn modelId="{08DACA2F-410A-49D6-8861-95A0673A661B}" type="presParOf" srcId="{BE74606C-F039-4A05-9FAB-28F882F3A363}" destId="{678C9336-E14E-4917-8E85-901F65361DB1}" srcOrd="0" destOrd="0" presId="urn:microsoft.com/office/officeart/2018/2/layout/IconVerticalSolidList"/>
    <dgm:cxn modelId="{2BE0806A-37A3-4F4D-808F-4401C280E61C}" type="presParOf" srcId="{BE74606C-F039-4A05-9FAB-28F882F3A363}" destId="{D1B3EE23-A117-4A9F-A6E8-AD79A9A92118}" srcOrd="1" destOrd="0" presId="urn:microsoft.com/office/officeart/2018/2/layout/IconVerticalSolidList"/>
    <dgm:cxn modelId="{26EAD535-021B-4701-A32D-D82A71675A27}" type="presParOf" srcId="{BE74606C-F039-4A05-9FAB-28F882F3A363}" destId="{EF0D1751-88BC-44D4-860F-DD4649EF34F9}" srcOrd="2" destOrd="0" presId="urn:microsoft.com/office/officeart/2018/2/layout/IconVerticalSolidList"/>
    <dgm:cxn modelId="{13AE684E-51ED-4996-BED8-DAAC3B7A6B34}" type="presParOf" srcId="{BE74606C-F039-4A05-9FAB-28F882F3A363}" destId="{3352F786-B4B4-434D-B7DA-DC5C00BC76D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56C400-4925-48C1-9840-DCF43C150F09}">
      <dsp:nvSpPr>
        <dsp:cNvPr id="0" name=""/>
        <dsp:cNvSpPr/>
      </dsp:nvSpPr>
      <dsp:spPr>
        <a:xfrm>
          <a:off x="0" y="2296"/>
          <a:ext cx="7886700" cy="128719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C76697F-96B5-4565-ACCA-EB872D912BE0}">
      <dsp:nvSpPr>
        <dsp:cNvPr id="0" name=""/>
        <dsp:cNvSpPr/>
      </dsp:nvSpPr>
      <dsp:spPr>
        <a:xfrm>
          <a:off x="389376" y="291915"/>
          <a:ext cx="708649" cy="7079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55D1D9-382F-4CB4-AF9F-A0CF6E492613}">
      <dsp:nvSpPr>
        <dsp:cNvPr id="0" name=""/>
        <dsp:cNvSpPr/>
      </dsp:nvSpPr>
      <dsp:spPr>
        <a:xfrm>
          <a:off x="1487401" y="2296"/>
          <a:ext cx="6261812" cy="1288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361" tIns="136361" rIns="136361" bIns="136361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HTTP/3 帶來的防禦真空</a:t>
          </a:r>
          <a:r>
            <a:rPr lang="zh-TW" sz="2000" b="0" i="0" kern="1200" baseline="0" dirty="0"/>
            <a:t>：HTTP/3</a:t>
          </a:r>
          <a:r>
            <a:rPr lang="zh-TW" altLang="en-US" sz="2000" b="0" i="0" kern="1200" baseline="0" dirty="0"/>
            <a:t> </a:t>
          </a:r>
          <a:r>
            <a:rPr lang="en-US" altLang="zh-TW" sz="2000" b="0" i="0" kern="1200" baseline="0" dirty="0"/>
            <a:t>(</a:t>
          </a:r>
          <a:r>
            <a:rPr lang="zh-TW" sz="2000" b="0" i="0" kern="1200" baseline="0" dirty="0"/>
            <a:t>基於 QUIC 協定</a:t>
          </a:r>
          <a:r>
            <a:rPr lang="en-US" altLang="zh-TW" sz="2000" b="0" i="0" kern="1200" baseline="0" dirty="0"/>
            <a:t>)</a:t>
          </a:r>
          <a:r>
            <a:rPr lang="zh-TW" altLang="en-US" sz="2000" b="0" i="0" kern="1200" baseline="0" dirty="0"/>
            <a:t> </a:t>
          </a:r>
          <a:r>
            <a:rPr lang="zh-TW" sz="2000" b="0" i="0" kern="1200" baseline="0" dirty="0"/>
            <a:t>已成為新世代傳輸標準，但其基於 UDP 且強制 TLS 1.3 加密的特性，導致傳統基於特徵碼 (Signature-based) 與深度封包檢測 (DPI) 的防火牆完全失效。</a:t>
          </a:r>
          <a:endParaRPr lang="en-US" sz="2000" kern="1200" dirty="0"/>
        </a:p>
      </dsp:txBody>
      <dsp:txXfrm>
        <a:off x="1487401" y="2296"/>
        <a:ext cx="6261812" cy="1288452"/>
      </dsp:txXfrm>
    </dsp:sp>
    <dsp:sp modelId="{099F117A-EFF2-47E2-B118-157F252005C8}">
      <dsp:nvSpPr>
        <dsp:cNvPr id="0" name=""/>
        <dsp:cNvSpPr/>
      </dsp:nvSpPr>
      <dsp:spPr>
        <a:xfrm>
          <a:off x="0" y="1569334"/>
          <a:ext cx="7886700" cy="128719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EADB4B-EA05-463D-9A98-177504B06BC0}">
      <dsp:nvSpPr>
        <dsp:cNvPr id="0" name=""/>
        <dsp:cNvSpPr/>
      </dsp:nvSpPr>
      <dsp:spPr>
        <a:xfrm>
          <a:off x="389376" y="1858952"/>
          <a:ext cx="708649" cy="7079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6CB3C1-33E1-4A3C-9A98-2DFEE9160545}">
      <dsp:nvSpPr>
        <dsp:cNvPr id="0" name=""/>
        <dsp:cNvSpPr/>
      </dsp:nvSpPr>
      <dsp:spPr>
        <a:xfrm>
          <a:off x="1487401" y="1569334"/>
          <a:ext cx="6261812" cy="1288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361" tIns="136361" rIns="136361" bIns="136361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對抗式規避技術 (Adversarial Evasion)</a:t>
          </a:r>
          <a:r>
            <a:rPr lang="zh-TW" sz="2000" b="0" i="0" kern="1200" baseline="0" dirty="0"/>
            <a:t>：惡意攻擊者透過封包切割、時序干擾等手法偽裝成正常流量，改變統計特徵以騙過傳統模型。</a:t>
          </a:r>
          <a:endParaRPr lang="en-US" sz="2000" kern="1200" dirty="0"/>
        </a:p>
      </dsp:txBody>
      <dsp:txXfrm>
        <a:off x="1487401" y="1569334"/>
        <a:ext cx="6261812" cy="1288452"/>
      </dsp:txXfrm>
    </dsp:sp>
    <dsp:sp modelId="{9830C586-1C1E-4837-9248-3C1172C75E59}">
      <dsp:nvSpPr>
        <dsp:cNvPr id="0" name=""/>
        <dsp:cNvSpPr/>
      </dsp:nvSpPr>
      <dsp:spPr>
        <a:xfrm>
          <a:off x="0" y="3136371"/>
          <a:ext cx="7886700" cy="1287194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E49C2E-C8DB-45F0-BEDC-44ECA06533AE}">
      <dsp:nvSpPr>
        <dsp:cNvPr id="0" name=""/>
        <dsp:cNvSpPr/>
      </dsp:nvSpPr>
      <dsp:spPr>
        <a:xfrm>
          <a:off x="389376" y="3425990"/>
          <a:ext cx="708649" cy="7079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B1E1CB-63EC-4057-B345-3774A4530389}">
      <dsp:nvSpPr>
        <dsp:cNvPr id="0" name=""/>
        <dsp:cNvSpPr/>
      </dsp:nvSpPr>
      <dsp:spPr>
        <a:xfrm>
          <a:off x="1487401" y="3136371"/>
          <a:ext cx="6261812" cy="12884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361" tIns="136361" rIns="136361" bIns="136361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標記成本與告警疲勞</a:t>
          </a:r>
          <a:r>
            <a:rPr lang="zh-TW" sz="2000" b="0" i="0" kern="1200" baseline="0" dirty="0"/>
            <a:t>：真實網路環境中攻擊手法變幻莫測，要蒐集並標記大量的最新攻擊樣本是不切實際的。面對層出不窮的警告，資安人員往往面臨告警疲勞。</a:t>
          </a:r>
          <a:endParaRPr lang="en-US" sz="2000" kern="1200" dirty="0"/>
        </a:p>
      </dsp:txBody>
      <dsp:txXfrm>
        <a:off x="1487401" y="3136371"/>
        <a:ext cx="6261812" cy="128845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5BD4E5-1BA3-4F7E-8FE9-33F85485E991}">
      <dsp:nvSpPr>
        <dsp:cNvPr id="0" name=""/>
        <dsp:cNvSpPr/>
      </dsp:nvSpPr>
      <dsp:spPr>
        <a:xfrm>
          <a:off x="0" y="2394"/>
          <a:ext cx="7886700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DC0909B-D946-49B6-B3E4-CCFA354B673D}">
      <dsp:nvSpPr>
        <dsp:cNvPr id="0" name=""/>
        <dsp:cNvSpPr/>
      </dsp:nvSpPr>
      <dsp:spPr>
        <a:xfrm>
          <a:off x="0" y="2394"/>
          <a:ext cx="7886700" cy="16332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just" defTabSz="889000">
            <a:lnSpc>
              <a:spcPts val="3000"/>
            </a:lnSpc>
            <a:spcBef>
              <a:spcPts val="100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機器學習驅動的加密網路流量分析</a:t>
          </a:r>
          <a:r>
            <a:rPr lang="zh-TW" sz="2000" b="0" i="0" kern="1200" baseline="0" dirty="0"/>
            <a:t>：現有技術能在不解密的情況下，透過提取流量的統計特徵</a:t>
          </a:r>
          <a:r>
            <a:rPr lang="en-US" altLang="zh-TW" sz="2000" b="0" i="0" kern="1200" baseline="0" dirty="0"/>
            <a:t> (</a:t>
          </a:r>
          <a:r>
            <a:rPr lang="zh-TW" sz="2000" b="0" i="0" kern="1200" baseline="0" dirty="0"/>
            <a:t>如封包長度、時間間隔</a:t>
          </a:r>
          <a:r>
            <a:rPr lang="en-US" altLang="zh-TW" sz="2000" b="0" i="0" kern="1200" baseline="0" dirty="0"/>
            <a:t>) </a:t>
          </a:r>
          <a:r>
            <a:rPr lang="zh-TW" sz="2000" b="0" i="0" kern="1200" baseline="0" dirty="0"/>
            <a:t>或行為模式來識別流量屬性。然而，過度依賴握手階段的特徵</a:t>
          </a:r>
          <a:r>
            <a:rPr lang="zh-TW" altLang="en-US" sz="2000" b="0" i="0" kern="1200" baseline="0" dirty="0"/>
            <a:t> </a:t>
          </a:r>
          <a:r>
            <a:rPr lang="en-US" altLang="zh-TW" sz="2000" b="0" i="0" kern="1200" baseline="0" dirty="0"/>
            <a:t>(</a:t>
          </a:r>
          <a:r>
            <a:rPr lang="zh-TW" sz="2000" b="0" i="0" kern="1200" baseline="0" dirty="0"/>
            <a:t>如憑證資料大小</a:t>
          </a:r>
          <a:r>
            <a:rPr lang="en-US" altLang="zh-TW" sz="2000" b="0" i="0" kern="1200" baseline="0" dirty="0"/>
            <a:t>) </a:t>
          </a:r>
          <a:r>
            <a:rPr lang="zh-TW" sz="2000" b="0" i="0" kern="1200" baseline="0" dirty="0"/>
            <a:t>可能導致模型在真實環境中快速失效。</a:t>
          </a:r>
          <a:endParaRPr lang="en-US" sz="2000" kern="1200" dirty="0"/>
        </a:p>
      </dsp:txBody>
      <dsp:txXfrm>
        <a:off x="0" y="2394"/>
        <a:ext cx="7886700" cy="1633239"/>
      </dsp:txXfrm>
    </dsp:sp>
    <dsp:sp modelId="{FBE8B023-D52A-448F-8300-17CB34185840}">
      <dsp:nvSpPr>
        <dsp:cNvPr id="0" name=""/>
        <dsp:cNvSpPr/>
      </dsp:nvSpPr>
      <dsp:spPr>
        <a:xfrm>
          <a:off x="0" y="1635634"/>
          <a:ext cx="7886700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594BE68-74D1-4A71-9079-A56FC2A4EB27}">
      <dsp:nvSpPr>
        <dsp:cNvPr id="0" name=""/>
        <dsp:cNvSpPr/>
      </dsp:nvSpPr>
      <dsp:spPr>
        <a:xfrm>
          <a:off x="0" y="1635634"/>
          <a:ext cx="7886700" cy="16332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just" defTabSz="889000">
            <a:lnSpc>
              <a:spcPts val="3000"/>
            </a:lnSpc>
            <a:spcBef>
              <a:spcPts val="100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非監督式學習與生成對抗網路 (GAN) 的應用</a:t>
          </a:r>
          <a:r>
            <a:rPr lang="zh-TW" sz="2000" b="0" i="0" kern="1200" baseline="0" dirty="0"/>
            <a:t>：傳統異常偵測高度依賴先驗知識，而 GAN 等非監督式深度學習模型透過引入少量惡意樣本進行弱監督學習，或採用自編碼器 (Autoencoder) 架構，能有效縮短訓練時間並提升對未知攻擊的偵測能力。</a:t>
          </a:r>
          <a:endParaRPr lang="en-US" sz="2000" kern="1200" dirty="0"/>
        </a:p>
      </dsp:txBody>
      <dsp:txXfrm>
        <a:off x="0" y="1635634"/>
        <a:ext cx="7886700" cy="1633239"/>
      </dsp:txXfrm>
    </dsp:sp>
    <dsp:sp modelId="{D9AF9126-106B-40B4-9E7A-8004995A355C}">
      <dsp:nvSpPr>
        <dsp:cNvPr id="0" name=""/>
        <dsp:cNvSpPr/>
      </dsp:nvSpPr>
      <dsp:spPr>
        <a:xfrm>
          <a:off x="0" y="3268874"/>
          <a:ext cx="7886700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EDD226D-20C6-4808-A681-468C9AFE89FA}">
      <dsp:nvSpPr>
        <dsp:cNvPr id="0" name=""/>
        <dsp:cNvSpPr/>
      </dsp:nvSpPr>
      <dsp:spPr>
        <a:xfrm>
          <a:off x="0" y="3268874"/>
          <a:ext cx="7886700" cy="16332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just" defTabSz="889000">
            <a:lnSpc>
              <a:spcPts val="3000"/>
            </a:lnSpc>
            <a:spcBef>
              <a:spcPts val="100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SOAR 與人工智慧的整合</a:t>
          </a:r>
          <a:r>
            <a:rPr lang="zh-TW" sz="2000" b="0" i="0" kern="1200" baseline="0" dirty="0"/>
            <a:t>：安全維運中心 (SOC) 導入 SOAR 平台能自動化執行重複性任務，有效釋放分析師的時間。整合 AI 後，模型能分析大量數據以識別微小的異常行為，並針對低風險威脅自動執行處置，顯著縮短平均回應時間 (MTTR)。</a:t>
          </a:r>
          <a:endParaRPr lang="en-US" sz="2000" kern="1200" dirty="0"/>
        </a:p>
      </dsp:txBody>
      <dsp:txXfrm>
        <a:off x="0" y="3268874"/>
        <a:ext cx="7886700" cy="163323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722572-0515-4ACE-930E-426A0CEE5BC1}">
      <dsp:nvSpPr>
        <dsp:cNvPr id="0" name=""/>
        <dsp:cNvSpPr/>
      </dsp:nvSpPr>
      <dsp:spPr>
        <a:xfrm>
          <a:off x="0" y="0"/>
          <a:ext cx="8219209" cy="892577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4D1439-FEC6-4416-A5FD-0E72B6462510}">
      <dsp:nvSpPr>
        <dsp:cNvPr id="0" name=""/>
        <dsp:cNvSpPr/>
      </dsp:nvSpPr>
      <dsp:spPr>
        <a:xfrm>
          <a:off x="270004" y="201211"/>
          <a:ext cx="490917" cy="4909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000D28-0CD0-4397-84EE-AD2CBC718708}">
      <dsp:nvSpPr>
        <dsp:cNvPr id="0" name=""/>
        <dsp:cNvSpPr/>
      </dsp:nvSpPr>
      <dsp:spPr>
        <a:xfrm>
          <a:off x="1030927" y="381"/>
          <a:ext cx="7188281" cy="8925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464" tIns="94464" rIns="94464" bIns="94464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提取有效指紋</a:t>
          </a:r>
          <a:r>
            <a:rPr lang="zh-TW" sz="2000" b="0" i="0" kern="1200" baseline="0" dirty="0"/>
            <a:t>：在不解密的情況下，提取 HTTP/3 加密流量的有效特徵</a:t>
          </a:r>
          <a:r>
            <a:rPr lang="zh-TW" altLang="en-US" sz="2000" b="0" i="0" kern="1200" baseline="0" dirty="0"/>
            <a:t> </a:t>
          </a:r>
          <a:r>
            <a:rPr lang="en-US" altLang="zh-TW" sz="2000" b="0" i="0" kern="1200" baseline="0" dirty="0"/>
            <a:t>(</a:t>
          </a:r>
          <a:r>
            <a:rPr lang="zh-TW" sz="2000" b="0" i="0" kern="1200" baseline="0" dirty="0"/>
            <a:t>如封包長度、到達時間間隔</a:t>
          </a:r>
          <a:r>
            <a:rPr lang="en-US" altLang="zh-TW" sz="2000" b="0" i="0" kern="1200" baseline="0" dirty="0"/>
            <a:t>)</a:t>
          </a:r>
          <a:r>
            <a:rPr lang="zh-TW" sz="2000" b="0" i="0" kern="1200" baseline="0" dirty="0"/>
            <a:t>。</a:t>
          </a:r>
          <a:endParaRPr lang="en-US" sz="2000" kern="1200" dirty="0"/>
        </a:p>
      </dsp:txBody>
      <dsp:txXfrm>
        <a:off x="1030927" y="381"/>
        <a:ext cx="7188281" cy="892577"/>
      </dsp:txXfrm>
    </dsp:sp>
    <dsp:sp modelId="{D14CADD4-4F0C-40FD-9285-627EA6018DB1}">
      <dsp:nvSpPr>
        <dsp:cNvPr id="0" name=""/>
        <dsp:cNvSpPr/>
      </dsp:nvSpPr>
      <dsp:spPr>
        <a:xfrm>
          <a:off x="0" y="1116103"/>
          <a:ext cx="8219209" cy="892577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0DBD9E-6085-4A5C-8524-72460981F7B4}">
      <dsp:nvSpPr>
        <dsp:cNvPr id="0" name=""/>
        <dsp:cNvSpPr/>
      </dsp:nvSpPr>
      <dsp:spPr>
        <a:xfrm>
          <a:off x="270004" y="1316933"/>
          <a:ext cx="490917" cy="4909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D70CC6-6BEC-477C-9E82-351F5C1EFB53}">
      <dsp:nvSpPr>
        <dsp:cNvPr id="0" name=""/>
        <dsp:cNvSpPr/>
      </dsp:nvSpPr>
      <dsp:spPr>
        <a:xfrm>
          <a:off x="1030927" y="1116103"/>
          <a:ext cx="7188281" cy="8925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464" tIns="94464" rIns="94464" bIns="94464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非監督式學習防禦未知威脅</a:t>
          </a:r>
          <a:r>
            <a:rPr lang="zh-TW" sz="2000" b="0" i="0" kern="1200" baseline="0" dirty="0"/>
            <a:t>：在缺乏惡意標記數據的環境下，利用深度學習進行非監督式學習，實現對零時差攻擊的偵測。</a:t>
          </a:r>
          <a:endParaRPr lang="en-US" sz="2000" kern="1200" dirty="0"/>
        </a:p>
      </dsp:txBody>
      <dsp:txXfrm>
        <a:off x="1030927" y="1116103"/>
        <a:ext cx="7188281" cy="892577"/>
      </dsp:txXfrm>
    </dsp:sp>
    <dsp:sp modelId="{678C9336-E14E-4917-8E85-901F65361DB1}">
      <dsp:nvSpPr>
        <dsp:cNvPr id="0" name=""/>
        <dsp:cNvSpPr/>
      </dsp:nvSpPr>
      <dsp:spPr>
        <a:xfrm>
          <a:off x="0" y="2231825"/>
          <a:ext cx="8219209" cy="892577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B3EE23-A117-4A9F-A6E8-AD79A9A92118}">
      <dsp:nvSpPr>
        <dsp:cNvPr id="0" name=""/>
        <dsp:cNvSpPr/>
      </dsp:nvSpPr>
      <dsp:spPr>
        <a:xfrm>
          <a:off x="270004" y="2432655"/>
          <a:ext cx="490917" cy="4909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52F786-B4B4-434D-B7DA-DC5C00BC76D7}">
      <dsp:nvSpPr>
        <dsp:cNvPr id="0" name=""/>
        <dsp:cNvSpPr/>
      </dsp:nvSpPr>
      <dsp:spPr>
        <a:xfrm>
          <a:off x="1030927" y="2231825"/>
          <a:ext cx="7188281" cy="8925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464" tIns="94464" rIns="94464" bIns="94464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000" b="1" i="0" kern="1200" baseline="0" dirty="0"/>
            <a:t>情資與自動化閉環</a:t>
          </a:r>
          <a:r>
            <a:rPr lang="zh-TW" sz="2000" b="0" i="0" kern="1200" baseline="0" dirty="0"/>
            <a:t>：整合 MISP 威脅情資平台與</a:t>
          </a:r>
          <a:r>
            <a:rPr lang="zh-TW" sz="2000" kern="1200" dirty="0"/>
            <a:t>資安協作自動化應變</a:t>
          </a:r>
          <a:r>
            <a:rPr lang="en-US" sz="2000" kern="1200" dirty="0"/>
            <a:t> (SOAR)</a:t>
          </a:r>
          <a:r>
            <a:rPr lang="zh-TW" altLang="en-US" sz="2000" kern="1200" dirty="0"/>
            <a:t> </a:t>
          </a:r>
          <a:r>
            <a:rPr lang="zh-TW" sz="2000" b="0" i="0" kern="1200" baseline="0" dirty="0"/>
            <a:t>機制，實現異常自動化回應。</a:t>
          </a:r>
          <a:endParaRPr lang="en-US" sz="2000" kern="1200" dirty="0"/>
        </a:p>
      </dsp:txBody>
      <dsp:txXfrm>
        <a:off x="1030927" y="2231825"/>
        <a:ext cx="7188281" cy="89257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zh-TW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請按這裡移動投影片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&lt;頁首&gt;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PlaceHolder 4"/>
          <p:cNvSpPr>
            <a:spLocks noGrp="1"/>
          </p:cNvSpPr>
          <p:nvPr>
            <p:ph type="dt" idx="5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PlaceHolder 5"/>
          <p:cNvSpPr>
            <a:spLocks noGrp="1"/>
          </p:cNvSpPr>
          <p:nvPr>
            <p:ph type="ftr" idx="5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PlaceHolder 6"/>
          <p:cNvSpPr>
            <a:spLocks noGrp="1"/>
          </p:cNvSpPr>
          <p:nvPr>
            <p:ph type="sldNum" idx="5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2CFD9D7-C483-4B25-B40A-A6A31D87ED6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3029040" y="857160"/>
            <a:ext cx="3085560" cy="231372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914400" y="3300480"/>
            <a:ext cx="7314480" cy="26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70"/>
          </p:nvPr>
        </p:nvSpPr>
        <p:spPr>
          <a:xfrm>
            <a:off x="5179320" y="6513840"/>
            <a:ext cx="396180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63F0DC-B7F8-4971-9F0F-1E4F473FF38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3029040" y="857160"/>
            <a:ext cx="3085560" cy="231372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914400" y="3300480"/>
            <a:ext cx="7314480" cy="26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71"/>
          </p:nvPr>
        </p:nvSpPr>
        <p:spPr>
          <a:xfrm>
            <a:off x="5179320" y="6513840"/>
            <a:ext cx="396180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AA5290-A677-4F8F-9AA3-87CA766F1B0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3029040" y="857160"/>
            <a:ext cx="3085560" cy="231372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914400" y="3300480"/>
            <a:ext cx="7314480" cy="26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72"/>
          </p:nvPr>
        </p:nvSpPr>
        <p:spPr>
          <a:xfrm>
            <a:off x="5179320" y="6513840"/>
            <a:ext cx="396180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7103DF-CBE9-4495-87D7-CE2E6037431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3029040" y="857160"/>
            <a:ext cx="3085560" cy="231372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914400" y="3300480"/>
            <a:ext cx="7314480" cy="26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73"/>
          </p:nvPr>
        </p:nvSpPr>
        <p:spPr>
          <a:xfrm>
            <a:off x="5179320" y="6513840"/>
            <a:ext cx="396180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CE5C37-6BF9-4BFF-88E6-6ECC34D4752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3029040" y="857160"/>
            <a:ext cx="3085560" cy="231372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914400" y="3300480"/>
            <a:ext cx="7314480" cy="26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74"/>
          </p:nvPr>
        </p:nvSpPr>
        <p:spPr>
          <a:xfrm>
            <a:off x="5179320" y="6513840"/>
            <a:ext cx="396180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3BFC5C-C7A4-4B09-9C19-AA26928E017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3029040" y="857160"/>
            <a:ext cx="3085560" cy="231372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914400" y="3300480"/>
            <a:ext cx="7314480" cy="26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75"/>
          </p:nvPr>
        </p:nvSpPr>
        <p:spPr>
          <a:xfrm>
            <a:off x="5179320" y="6513840"/>
            <a:ext cx="396180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7148291-D9A8-4504-A41D-5B1F5E366A5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3029040" y="857160"/>
            <a:ext cx="3085560" cy="231372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914400" y="3300480"/>
            <a:ext cx="7314480" cy="26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76"/>
          </p:nvPr>
        </p:nvSpPr>
        <p:spPr>
          <a:xfrm>
            <a:off x="5179320" y="6513840"/>
            <a:ext cx="396180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79AE00-BC7F-4CE9-B071-B7875CD8747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3029040" y="857160"/>
            <a:ext cx="3085560" cy="231372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914400" y="3300480"/>
            <a:ext cx="7314480" cy="26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77"/>
          </p:nvPr>
        </p:nvSpPr>
        <p:spPr>
          <a:xfrm>
            <a:off x="5179320" y="6513840"/>
            <a:ext cx="396180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053F5C-2284-48AD-B275-AD29DF3FE79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3029040" y="857160"/>
            <a:ext cx="3085560" cy="231372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914400" y="3300480"/>
            <a:ext cx="7314480" cy="26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78"/>
          </p:nvPr>
        </p:nvSpPr>
        <p:spPr>
          <a:xfrm>
            <a:off x="5179320" y="6513840"/>
            <a:ext cx="396180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389693-5E1D-4760-BC06-4F08AFEC4A6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3029040" y="857160"/>
            <a:ext cx="3085560" cy="231372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914400" y="3300480"/>
            <a:ext cx="7314480" cy="26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79"/>
          </p:nvPr>
        </p:nvSpPr>
        <p:spPr>
          <a:xfrm>
            <a:off x="5179320" y="6513840"/>
            <a:ext cx="396180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BB583B-B9E9-4605-AF79-E6573ABF85D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3029040" y="857160"/>
            <a:ext cx="3085560" cy="231372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914400" y="3300480"/>
            <a:ext cx="7314480" cy="26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80"/>
          </p:nvPr>
        </p:nvSpPr>
        <p:spPr>
          <a:xfrm>
            <a:off x="5179320" y="6513840"/>
            <a:ext cx="396180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2AF375-1A5A-40E8-9599-869574DB374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3029040" y="857160"/>
            <a:ext cx="3085560" cy="231372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914400" y="3300480"/>
            <a:ext cx="7314480" cy="26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81"/>
          </p:nvPr>
        </p:nvSpPr>
        <p:spPr>
          <a:xfrm>
            <a:off x="5179320" y="6513840"/>
            <a:ext cx="3961800" cy="3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189C2A-5781-41A2-9751-8A70D984A83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sv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4.sv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sv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21.png"/><Relationship Id="rId7" Type="http://schemas.openxmlformats.org/officeDocument/2006/relationships/image" Target="../media/image22.sv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4.sv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團隊投影片 8 人員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413720" y="892080"/>
            <a:ext cx="63154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407960" y="2428920"/>
            <a:ext cx="799560" cy="10659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67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按一下圖示以新增圖片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125000" y="3654360"/>
            <a:ext cx="137088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790" b="0" u="none" spc="113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7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1042560" y="3782160"/>
            <a:ext cx="154224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670" b="0" u="none" spc="113" strike="noStrike">
                <a:solidFill>
                  <a:schemeClr val="accen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3169800" y="2428920"/>
            <a:ext cx="799560" cy="10659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67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按一下圖示以新增圖片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body"/>
          </p:nvPr>
        </p:nvSpPr>
        <p:spPr>
          <a:xfrm>
            <a:off x="2886840" y="3669120"/>
            <a:ext cx="137088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790" b="0" u="none" spc="113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7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body"/>
          </p:nvPr>
        </p:nvSpPr>
        <p:spPr>
          <a:xfrm>
            <a:off x="2804400" y="3796560"/>
            <a:ext cx="154224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670" b="0" u="none" spc="113" strike="noStrike">
                <a:solidFill>
                  <a:schemeClr val="accen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body"/>
          </p:nvPr>
        </p:nvSpPr>
        <p:spPr>
          <a:xfrm>
            <a:off x="5037840" y="2428920"/>
            <a:ext cx="799560" cy="10659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67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按一下圖示以新增圖片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9"/>
          <p:cNvSpPr>
            <a:spLocks noGrp="1"/>
          </p:cNvSpPr>
          <p:nvPr>
            <p:ph type="body"/>
          </p:nvPr>
        </p:nvSpPr>
        <p:spPr>
          <a:xfrm>
            <a:off x="4754880" y="3669120"/>
            <a:ext cx="137088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790" b="0" u="none" spc="113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7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10"/>
          <p:cNvSpPr>
            <a:spLocks noGrp="1"/>
          </p:cNvSpPr>
          <p:nvPr>
            <p:ph type="body"/>
          </p:nvPr>
        </p:nvSpPr>
        <p:spPr>
          <a:xfrm>
            <a:off x="4663440" y="3796560"/>
            <a:ext cx="154224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670" b="0" u="none" spc="113" strike="noStrike">
                <a:solidFill>
                  <a:schemeClr val="accen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1"/>
          <p:cNvSpPr>
            <a:spLocks noGrp="1"/>
          </p:cNvSpPr>
          <p:nvPr>
            <p:ph type="body"/>
          </p:nvPr>
        </p:nvSpPr>
        <p:spPr>
          <a:xfrm>
            <a:off x="6852600" y="2428920"/>
            <a:ext cx="799560" cy="10659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67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按一下圖示以新增圖片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12"/>
          <p:cNvSpPr>
            <a:spLocks noGrp="1"/>
          </p:cNvSpPr>
          <p:nvPr>
            <p:ph type="body"/>
          </p:nvPr>
        </p:nvSpPr>
        <p:spPr>
          <a:xfrm>
            <a:off x="6570000" y="3654360"/>
            <a:ext cx="137088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790" b="0" u="none" spc="113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7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13"/>
          <p:cNvSpPr>
            <a:spLocks noGrp="1"/>
          </p:cNvSpPr>
          <p:nvPr>
            <p:ph type="body"/>
          </p:nvPr>
        </p:nvSpPr>
        <p:spPr>
          <a:xfrm>
            <a:off x="6475680" y="3782160"/>
            <a:ext cx="154224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670" b="0" u="none" spc="113" strike="noStrike">
                <a:solidFill>
                  <a:schemeClr val="accen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4"/>
          <p:cNvSpPr>
            <a:spLocks noGrp="1"/>
          </p:cNvSpPr>
          <p:nvPr>
            <p:ph type="body"/>
          </p:nvPr>
        </p:nvSpPr>
        <p:spPr>
          <a:xfrm>
            <a:off x="1407960" y="4287600"/>
            <a:ext cx="799560" cy="10659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67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按一下圖示以新增圖片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15"/>
          <p:cNvSpPr>
            <a:spLocks noGrp="1"/>
          </p:cNvSpPr>
          <p:nvPr>
            <p:ph type="body"/>
          </p:nvPr>
        </p:nvSpPr>
        <p:spPr>
          <a:xfrm>
            <a:off x="1125000" y="5513400"/>
            <a:ext cx="137088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790" b="0" u="none" spc="113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7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16"/>
          <p:cNvSpPr>
            <a:spLocks noGrp="1"/>
          </p:cNvSpPr>
          <p:nvPr>
            <p:ph type="body"/>
          </p:nvPr>
        </p:nvSpPr>
        <p:spPr>
          <a:xfrm>
            <a:off x="1042560" y="5640840"/>
            <a:ext cx="154224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670" b="0" u="none" spc="113" strike="noStrike">
                <a:solidFill>
                  <a:schemeClr val="accen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17"/>
          <p:cNvSpPr>
            <a:spLocks noGrp="1"/>
          </p:cNvSpPr>
          <p:nvPr>
            <p:ph type="body"/>
          </p:nvPr>
        </p:nvSpPr>
        <p:spPr>
          <a:xfrm>
            <a:off x="3169800" y="4287600"/>
            <a:ext cx="799560" cy="10659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67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按一下圖示以新增圖片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8"/>
          <p:cNvSpPr>
            <a:spLocks noGrp="1"/>
          </p:cNvSpPr>
          <p:nvPr>
            <p:ph type="body"/>
          </p:nvPr>
        </p:nvSpPr>
        <p:spPr>
          <a:xfrm>
            <a:off x="2886840" y="5527800"/>
            <a:ext cx="137088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790" b="0" u="none" spc="113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7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19"/>
          <p:cNvSpPr>
            <a:spLocks noGrp="1"/>
          </p:cNvSpPr>
          <p:nvPr>
            <p:ph type="body"/>
          </p:nvPr>
        </p:nvSpPr>
        <p:spPr>
          <a:xfrm>
            <a:off x="2804400" y="5655600"/>
            <a:ext cx="154224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670" b="0" u="none" spc="113" strike="noStrike">
                <a:solidFill>
                  <a:schemeClr val="accen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0"/>
          <p:cNvSpPr>
            <a:spLocks noGrp="1"/>
          </p:cNvSpPr>
          <p:nvPr>
            <p:ph type="body"/>
          </p:nvPr>
        </p:nvSpPr>
        <p:spPr>
          <a:xfrm>
            <a:off x="5037840" y="4287600"/>
            <a:ext cx="799560" cy="10659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67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按一下圖示以新增圖片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1"/>
          <p:cNvSpPr>
            <a:spLocks noGrp="1"/>
          </p:cNvSpPr>
          <p:nvPr>
            <p:ph type="body"/>
          </p:nvPr>
        </p:nvSpPr>
        <p:spPr>
          <a:xfrm>
            <a:off x="4754880" y="5527800"/>
            <a:ext cx="137088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790" b="0" u="none" spc="113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7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2"/>
          <p:cNvSpPr>
            <a:spLocks noGrp="1"/>
          </p:cNvSpPr>
          <p:nvPr>
            <p:ph type="body"/>
          </p:nvPr>
        </p:nvSpPr>
        <p:spPr>
          <a:xfrm>
            <a:off x="4672440" y="5655600"/>
            <a:ext cx="154224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670" b="0" u="none" spc="113" strike="noStrike">
                <a:solidFill>
                  <a:schemeClr val="accen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3"/>
          <p:cNvSpPr>
            <a:spLocks noGrp="1"/>
          </p:cNvSpPr>
          <p:nvPr>
            <p:ph type="body"/>
          </p:nvPr>
        </p:nvSpPr>
        <p:spPr>
          <a:xfrm>
            <a:off x="6852600" y="4287600"/>
            <a:ext cx="799560" cy="10659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67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按一下圖示以新增圖片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4"/>
          <p:cNvSpPr>
            <a:spLocks noGrp="1"/>
          </p:cNvSpPr>
          <p:nvPr>
            <p:ph type="body"/>
          </p:nvPr>
        </p:nvSpPr>
        <p:spPr>
          <a:xfrm>
            <a:off x="6570000" y="5513400"/>
            <a:ext cx="137088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790" b="0" u="none" spc="113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7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5"/>
          <p:cNvSpPr>
            <a:spLocks noGrp="1"/>
          </p:cNvSpPr>
          <p:nvPr>
            <p:ph type="body"/>
          </p:nvPr>
        </p:nvSpPr>
        <p:spPr>
          <a:xfrm>
            <a:off x="6475680" y="5640840"/>
            <a:ext cx="154224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670" b="0" u="none" spc="113" strike="noStrike">
                <a:solidFill>
                  <a:schemeClr val="accen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6"/>
          <p:cNvSpPr>
            <a:spLocks noGrp="1"/>
          </p:cNvSpPr>
          <p:nvPr>
            <p:ph type="dt" idx="1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27"/>
          <p:cNvSpPr>
            <a:spLocks noGrp="1"/>
          </p:cNvSpPr>
          <p:nvPr>
            <p:ph type="ftr" idx="2"/>
          </p:nvPr>
        </p:nvSpPr>
        <p:spPr>
          <a:xfrm>
            <a:off x="3029040" y="6356520"/>
            <a:ext cx="3085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28"/>
          <p:cNvSpPr>
            <a:spLocks noGrp="1"/>
          </p:cNvSpPr>
          <p:nvPr>
            <p:ph type="sldNum" idx="3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08056F-0561-4E4F-AD0B-3104D828C108}" type="slidenum">
              <a:rPr lang="en-US" sz="67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30" name="圖形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474120"/>
            <a:ext cx="1542240" cy="1647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" name="圖形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86840" y="5180760"/>
            <a:ext cx="856440" cy="9136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基金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直線接點​​(S)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0" y="0"/>
            <a:ext cx="929160" cy="1328760"/>
          </a:xfrm>
          <a:prstGeom prst="straightConnector1">
            <a:avLst/>
          </a:prstGeom>
          <a:ln w="3175">
            <a:solidFill>
              <a:srgbClr val="000000"/>
            </a:solidFill>
            <a:round/>
          </a:ln>
        </p:spPr>
      </p:cxnSp>
      <p:cxnSp>
        <p:nvCxnSpPr>
          <p:cNvPr id="33" name="直線接點​​(S)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0" y="0"/>
            <a:ext cx="2843640" cy="89280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413720" y="892080"/>
            <a:ext cx="63154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806760" y="2118600"/>
            <a:ext cx="1391400" cy="166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2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按一下以新增內容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628560" y="3788640"/>
            <a:ext cx="1747440" cy="804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b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240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#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28560" y="4464720"/>
            <a:ext cx="1747440" cy="43776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b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28560" y="5120640"/>
            <a:ext cx="174744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2858400" y="2118600"/>
            <a:ext cx="1391400" cy="166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2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按一下以新增內容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2671920" y="3788640"/>
            <a:ext cx="1756080" cy="804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b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240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#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8"/>
          <p:cNvSpPr>
            <a:spLocks noGrp="1"/>
          </p:cNvSpPr>
          <p:nvPr>
            <p:ph type="body"/>
          </p:nvPr>
        </p:nvSpPr>
        <p:spPr>
          <a:xfrm>
            <a:off x="2671920" y="4464720"/>
            <a:ext cx="1756080" cy="43776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9"/>
          <p:cNvSpPr>
            <a:spLocks noGrp="1"/>
          </p:cNvSpPr>
          <p:nvPr>
            <p:ph type="body"/>
          </p:nvPr>
        </p:nvSpPr>
        <p:spPr>
          <a:xfrm>
            <a:off x="2671920" y="5120640"/>
            <a:ext cx="175608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10"/>
          <p:cNvSpPr>
            <a:spLocks noGrp="1"/>
          </p:cNvSpPr>
          <p:nvPr>
            <p:ph type="body"/>
          </p:nvPr>
        </p:nvSpPr>
        <p:spPr>
          <a:xfrm>
            <a:off x="4893120" y="2118600"/>
            <a:ext cx="1391400" cy="166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2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按一下以新增內容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11"/>
          <p:cNvSpPr>
            <a:spLocks noGrp="1"/>
          </p:cNvSpPr>
          <p:nvPr>
            <p:ph type="body"/>
          </p:nvPr>
        </p:nvSpPr>
        <p:spPr>
          <a:xfrm>
            <a:off x="4723920" y="3788640"/>
            <a:ext cx="1747440" cy="804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b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240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#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12"/>
          <p:cNvSpPr>
            <a:spLocks noGrp="1"/>
          </p:cNvSpPr>
          <p:nvPr>
            <p:ph type="body"/>
          </p:nvPr>
        </p:nvSpPr>
        <p:spPr>
          <a:xfrm>
            <a:off x="4723920" y="4464720"/>
            <a:ext cx="1747440" cy="43776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b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3"/>
          <p:cNvSpPr>
            <a:spLocks noGrp="1"/>
          </p:cNvSpPr>
          <p:nvPr>
            <p:ph type="body"/>
          </p:nvPr>
        </p:nvSpPr>
        <p:spPr>
          <a:xfrm>
            <a:off x="4723920" y="5120640"/>
            <a:ext cx="174744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14"/>
          <p:cNvSpPr>
            <a:spLocks noGrp="1"/>
          </p:cNvSpPr>
          <p:nvPr>
            <p:ph type="body"/>
          </p:nvPr>
        </p:nvSpPr>
        <p:spPr>
          <a:xfrm>
            <a:off x="6945120" y="2118600"/>
            <a:ext cx="1391400" cy="166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2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按一下以新增內容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15"/>
          <p:cNvSpPr>
            <a:spLocks noGrp="1"/>
          </p:cNvSpPr>
          <p:nvPr>
            <p:ph type="body"/>
          </p:nvPr>
        </p:nvSpPr>
        <p:spPr>
          <a:xfrm>
            <a:off x="6767280" y="3788640"/>
            <a:ext cx="1747440" cy="8042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b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240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#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16"/>
          <p:cNvSpPr>
            <a:spLocks noGrp="1"/>
          </p:cNvSpPr>
          <p:nvPr>
            <p:ph type="body"/>
          </p:nvPr>
        </p:nvSpPr>
        <p:spPr>
          <a:xfrm>
            <a:off x="6767280" y="4464360"/>
            <a:ext cx="1747440" cy="43776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b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17"/>
          <p:cNvSpPr>
            <a:spLocks noGrp="1"/>
          </p:cNvSpPr>
          <p:nvPr>
            <p:ph type="body"/>
          </p:nvPr>
        </p:nvSpPr>
        <p:spPr>
          <a:xfrm>
            <a:off x="6767280" y="5120280"/>
            <a:ext cx="1747440" cy="85248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18"/>
          <p:cNvSpPr>
            <a:spLocks noGrp="1"/>
          </p:cNvSpPr>
          <p:nvPr>
            <p:ph type="dt" idx="4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19"/>
          <p:cNvSpPr>
            <a:spLocks noGrp="1"/>
          </p:cNvSpPr>
          <p:nvPr>
            <p:ph type="ftr" idx="5"/>
          </p:nvPr>
        </p:nvSpPr>
        <p:spPr>
          <a:xfrm>
            <a:off x="3029040" y="6356520"/>
            <a:ext cx="3085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20"/>
          <p:cNvSpPr>
            <a:spLocks noGrp="1"/>
          </p:cNvSpPr>
          <p:nvPr>
            <p:ph type="sldNum" idx="6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61388E-BDF9-47F8-A09F-665E00685C2C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摘要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107600" y="1671480"/>
            <a:ext cx="3832920" cy="1204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107600" y="3682440"/>
            <a:ext cx="3832920" cy="15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" name="直線接點​​(S) 22"/>
          <p:cNvCxnSpPr/>
          <p:nvPr/>
        </p:nvCxnSpPr>
        <p:spPr>
          <a:xfrm flipH="1" flipV="1">
            <a:off x="0" y="876240"/>
            <a:ext cx="3572280" cy="162936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57" name="直線接點​​(S) 11"/>
          <p:cNvCxnSpPr/>
          <p:nvPr/>
        </p:nvCxnSpPr>
        <p:spPr>
          <a:xfrm flipH="1" flipV="1">
            <a:off x="1978560" y="0"/>
            <a:ext cx="1593720" cy="518688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sp>
        <p:nvSpPr>
          <p:cNvPr id="58" name="PlaceHolder 3"/>
          <p:cNvSpPr>
            <a:spLocks noGrp="1"/>
          </p:cNvSpPr>
          <p:nvPr>
            <p:ph type="dt" idx="7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8"/>
          </p:nvPr>
        </p:nvSpPr>
        <p:spPr>
          <a:xfrm>
            <a:off x="3029040" y="6356520"/>
            <a:ext cx="3085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9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3A6D80-B2CD-457D-80B4-451A26639D5A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議程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圖形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18302" r="28341" b="23070"/>
          <a:stretch/>
        </p:blipFill>
        <p:spPr>
          <a:xfrm>
            <a:off x="4116600" y="0"/>
            <a:ext cx="502668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000080" y="1020600"/>
            <a:ext cx="237816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1000080" y="2924280"/>
            <a:ext cx="2378160" cy="251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2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0" defTabSz="685800">
              <a:lnSpc>
                <a:spcPct val="12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第二層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indent="0" defTabSz="685800">
              <a:lnSpc>
                <a:spcPct val="12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第三層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028880" indent="0" defTabSz="685800">
              <a:lnSpc>
                <a:spcPct val="12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第四層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371600" indent="0" defTabSz="685800">
              <a:lnSpc>
                <a:spcPct val="12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第五層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dt" idx="10"/>
          </p:nvPr>
        </p:nvSpPr>
        <p:spPr>
          <a:xfrm>
            <a:off x="1000080" y="6356520"/>
            <a:ext cx="738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ftr" idx="11"/>
          </p:nvPr>
        </p:nvSpPr>
        <p:spPr>
          <a:xfrm>
            <a:off x="2002320" y="6356520"/>
            <a:ext cx="1861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sldNum" idx="12"/>
          </p:nvPr>
        </p:nvSpPr>
        <p:spPr>
          <a:xfrm>
            <a:off x="4152240" y="6356520"/>
            <a:ext cx="7398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669862-CD74-491E-B70B-B550CE470FEB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結語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3200400" y="1615680"/>
            <a:ext cx="3133800" cy="152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400" b="0" u="none" spc="113" strike="noStrike" cap="all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8" name="圖形 5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238212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PlaceHolder 2"/>
          <p:cNvSpPr>
            <a:spLocks noGrp="1"/>
          </p:cNvSpPr>
          <p:nvPr>
            <p:ph type="dt" idx="13"/>
          </p:nvPr>
        </p:nvSpPr>
        <p:spPr>
          <a:xfrm>
            <a:off x="3200400" y="6356520"/>
            <a:ext cx="1330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>
            <a:off x="4859640" y="6356520"/>
            <a:ext cx="1995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sldNum" idx="15"/>
          </p:nvPr>
        </p:nvSpPr>
        <p:spPr>
          <a:xfrm>
            <a:off x="7184520" y="6356520"/>
            <a:ext cx="1330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F62205F-94BE-4E8E-9C93-8BC3EABFDA57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時間表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圖形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85440" y="0"/>
            <a:ext cx="7557840" cy="6857280"/>
          </a:xfrm>
          <a:custGeom>
            <a:avLst/>
            <a:gdLst>
              <a:gd name="textAreaLeft" fmla="*/ 0 w 7557840"/>
              <a:gd name="textAreaRight" fmla="*/ 7558560 w 7557840"/>
              <a:gd name="textAreaTop" fmla="*/ 0 h 6857280"/>
              <a:gd name="textAreaBottom" fmla="*/ 6858000 h 6857280"/>
              <a:gd name="GluePoint1X" fmla="*/ 3793236 w 10078116"/>
              <a:gd name="GluePoint1Y" fmla="*/ 6858000 h 6858000"/>
              <a:gd name="GluePoint2X" fmla="*/ 0 w 10078116"/>
              <a:gd name="GluePoint2Y" fmla="*/ 0 h 6858000"/>
              <a:gd name="GluePoint3X" fmla="*/ 10078116 w 10078116"/>
              <a:gd name="GluePoint3Y" fmla="*/ 0 h 6858000"/>
              <a:gd name="GluePoint4X" fmla="*/ 10078116 w 10078116"/>
              <a:gd name="GluePoint4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lang="en-US" sz="1350" b="0" u="none" strike="noStrike">
              <a:solidFill>
                <a:schemeClr val="dk1"/>
              </a:solidFill>
              <a:effectLst/>
              <a:uFillTx/>
              <a:latin typeface="Microsoft JhengHei UI"/>
              <a:ea typeface="Microsoft JhengHei UI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28560" y="5509440"/>
            <a:ext cx="3060720" cy="58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按一下以編輯標題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111240" y="1481040"/>
            <a:ext cx="1605600" cy="51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2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535680" y="2557440"/>
            <a:ext cx="1605600" cy="51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2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990720" y="3633840"/>
            <a:ext cx="1605600" cy="51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2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body"/>
          </p:nvPr>
        </p:nvSpPr>
        <p:spPr>
          <a:xfrm>
            <a:off x="1428840" y="4710240"/>
            <a:ext cx="1605600" cy="51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2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6"/>
          <p:cNvSpPr>
            <a:spLocks noGrp="1"/>
          </p:cNvSpPr>
          <p:nvPr>
            <p:ph type="body"/>
          </p:nvPr>
        </p:nvSpPr>
        <p:spPr>
          <a:xfrm>
            <a:off x="3301200" y="1594440"/>
            <a:ext cx="4153680" cy="101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 type="body"/>
          </p:nvPr>
        </p:nvSpPr>
        <p:spPr>
          <a:xfrm>
            <a:off x="3739680" y="2673360"/>
            <a:ext cx="4153680" cy="101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8"/>
          <p:cNvSpPr>
            <a:spLocks noGrp="1"/>
          </p:cNvSpPr>
          <p:nvPr>
            <p:ph type="body"/>
          </p:nvPr>
        </p:nvSpPr>
        <p:spPr>
          <a:xfrm>
            <a:off x="4182840" y="3755520"/>
            <a:ext cx="4153680" cy="101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9"/>
          <p:cNvSpPr>
            <a:spLocks noGrp="1"/>
          </p:cNvSpPr>
          <p:nvPr>
            <p:ph type="body"/>
          </p:nvPr>
        </p:nvSpPr>
        <p:spPr>
          <a:xfrm>
            <a:off x="4631400" y="4824360"/>
            <a:ext cx="4153680" cy="101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直線接點​​(S)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3264840" y="5023800"/>
            <a:ext cx="1135800" cy="72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83" name="直線接點​​(S)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2819880" y="3948120"/>
            <a:ext cx="1135440" cy="72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84" name="直線接點​​(S)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2379960" y="2872440"/>
            <a:ext cx="1135440" cy="72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85" name="直線接點​​(S)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939680" y="1796040"/>
            <a:ext cx="1135440" cy="72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sp>
        <p:nvSpPr>
          <p:cNvPr id="86" name="PlaceHolder 10"/>
          <p:cNvSpPr>
            <a:spLocks noGrp="1"/>
          </p:cNvSpPr>
          <p:nvPr>
            <p:ph type="dt" idx="16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11"/>
          <p:cNvSpPr>
            <a:spLocks noGrp="1"/>
          </p:cNvSpPr>
          <p:nvPr>
            <p:ph type="ftr" idx="17"/>
          </p:nvPr>
        </p:nvSpPr>
        <p:spPr>
          <a:xfrm>
            <a:off x="4631400" y="6356520"/>
            <a:ext cx="1355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12"/>
          <p:cNvSpPr>
            <a:spLocks noGrp="1"/>
          </p:cNvSpPr>
          <p:nvPr>
            <p:ph type="sldNum" idx="18"/>
          </p:nvPr>
        </p:nvSpPr>
        <p:spPr>
          <a:xfrm>
            <a:off x="8108280" y="6356520"/>
            <a:ext cx="406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9A2D48-074F-4B37-B10C-9868DCD376A1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內容 2 欄位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413720" y="892080"/>
            <a:ext cx="63154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1114560" y="2563200"/>
            <a:ext cx="30232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body"/>
          </p:nvPr>
        </p:nvSpPr>
        <p:spPr>
          <a:xfrm>
            <a:off x="1114200" y="3070440"/>
            <a:ext cx="3022560" cy="105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 type="body"/>
          </p:nvPr>
        </p:nvSpPr>
        <p:spPr>
          <a:xfrm>
            <a:off x="5004720" y="2563200"/>
            <a:ext cx="30232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5"/>
          <p:cNvSpPr>
            <a:spLocks noGrp="1"/>
          </p:cNvSpPr>
          <p:nvPr>
            <p:ph type="body"/>
          </p:nvPr>
        </p:nvSpPr>
        <p:spPr>
          <a:xfrm>
            <a:off x="5004720" y="3070440"/>
            <a:ext cx="3022560" cy="105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6"/>
          <p:cNvSpPr>
            <a:spLocks noGrp="1"/>
          </p:cNvSpPr>
          <p:nvPr>
            <p:ph type="body"/>
          </p:nvPr>
        </p:nvSpPr>
        <p:spPr>
          <a:xfrm>
            <a:off x="1114560" y="4319280"/>
            <a:ext cx="30232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7"/>
          <p:cNvSpPr>
            <a:spLocks noGrp="1"/>
          </p:cNvSpPr>
          <p:nvPr>
            <p:ph type="body"/>
          </p:nvPr>
        </p:nvSpPr>
        <p:spPr>
          <a:xfrm>
            <a:off x="1114920" y="4826520"/>
            <a:ext cx="3022560" cy="105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8"/>
          <p:cNvSpPr>
            <a:spLocks noGrp="1"/>
          </p:cNvSpPr>
          <p:nvPr>
            <p:ph type="body"/>
          </p:nvPr>
        </p:nvSpPr>
        <p:spPr>
          <a:xfrm>
            <a:off x="5004360" y="4319280"/>
            <a:ext cx="30232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9"/>
          <p:cNvSpPr>
            <a:spLocks noGrp="1"/>
          </p:cNvSpPr>
          <p:nvPr>
            <p:ph type="body"/>
          </p:nvPr>
        </p:nvSpPr>
        <p:spPr>
          <a:xfrm>
            <a:off x="5004720" y="4826520"/>
            <a:ext cx="3022560" cy="105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10"/>
          <p:cNvSpPr>
            <a:spLocks noGrp="1"/>
          </p:cNvSpPr>
          <p:nvPr>
            <p:ph type="dt" idx="19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11"/>
          <p:cNvSpPr>
            <a:spLocks noGrp="1"/>
          </p:cNvSpPr>
          <p:nvPr>
            <p:ph type="ftr" idx="20"/>
          </p:nvPr>
        </p:nvSpPr>
        <p:spPr>
          <a:xfrm>
            <a:off x="3029040" y="6356520"/>
            <a:ext cx="3085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12"/>
          <p:cNvSpPr>
            <a:spLocks noGrp="1"/>
          </p:cNvSpPr>
          <p:nvPr>
            <p:ph type="sldNum" idx="21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6767939-3EC8-4C90-8083-5B975AC3BB3F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01" name="直線接點​​(S)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516000" y="0"/>
            <a:ext cx="2628720" cy="2353680"/>
          </a:xfrm>
          <a:prstGeom prst="straightConnector1">
            <a:avLst/>
          </a:prstGeom>
          <a:ln w="0">
            <a:solidFill>
              <a:srgbClr val="e9e6df"/>
            </a:solidFill>
          </a:ln>
        </p:spPr>
      </p:cxnSp>
      <p:cxnSp>
        <p:nvCxnSpPr>
          <p:cNvPr id="102" name="直線接點​​(S)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290360" y="0"/>
            <a:ext cx="1854360" cy="2699640"/>
          </a:xfrm>
          <a:prstGeom prst="straightConnector1">
            <a:avLst/>
          </a:prstGeom>
          <a:ln w="0">
            <a:solidFill>
              <a:srgbClr val="e9e6df"/>
            </a:solidFill>
          </a:ln>
        </p:spPr>
      </p:cxn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內容 3 欄位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1131480" y="4156560"/>
            <a:ext cx="235404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4441680" y="1530720"/>
            <a:ext cx="40741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body"/>
          </p:nvPr>
        </p:nvSpPr>
        <p:spPr>
          <a:xfrm>
            <a:off x="4441320" y="1860120"/>
            <a:ext cx="407340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 type="body"/>
          </p:nvPr>
        </p:nvSpPr>
        <p:spPr>
          <a:xfrm>
            <a:off x="4441680" y="2630520"/>
            <a:ext cx="40741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5"/>
          <p:cNvSpPr>
            <a:spLocks noGrp="1"/>
          </p:cNvSpPr>
          <p:nvPr>
            <p:ph type="body"/>
          </p:nvPr>
        </p:nvSpPr>
        <p:spPr>
          <a:xfrm>
            <a:off x="4441320" y="2959920"/>
            <a:ext cx="407340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6"/>
          <p:cNvSpPr>
            <a:spLocks noGrp="1"/>
          </p:cNvSpPr>
          <p:nvPr>
            <p:ph type="body"/>
          </p:nvPr>
        </p:nvSpPr>
        <p:spPr>
          <a:xfrm>
            <a:off x="4441680" y="3730320"/>
            <a:ext cx="40741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7"/>
          <p:cNvSpPr>
            <a:spLocks noGrp="1"/>
          </p:cNvSpPr>
          <p:nvPr>
            <p:ph type="body"/>
          </p:nvPr>
        </p:nvSpPr>
        <p:spPr>
          <a:xfrm>
            <a:off x="4441320" y="4059720"/>
            <a:ext cx="407340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8"/>
          <p:cNvSpPr>
            <a:spLocks noGrp="1"/>
          </p:cNvSpPr>
          <p:nvPr>
            <p:ph type="body"/>
          </p:nvPr>
        </p:nvSpPr>
        <p:spPr>
          <a:xfrm>
            <a:off x="4440240" y="4830120"/>
            <a:ext cx="40741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9"/>
          <p:cNvSpPr>
            <a:spLocks noGrp="1"/>
          </p:cNvSpPr>
          <p:nvPr>
            <p:ph type="body"/>
          </p:nvPr>
        </p:nvSpPr>
        <p:spPr>
          <a:xfrm>
            <a:off x="4439880" y="5159520"/>
            <a:ext cx="407340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10"/>
          <p:cNvSpPr>
            <a:spLocks noGrp="1"/>
          </p:cNvSpPr>
          <p:nvPr>
            <p:ph type="dt" idx="22"/>
          </p:nvPr>
        </p:nvSpPr>
        <p:spPr>
          <a:xfrm>
            <a:off x="4439880" y="6356520"/>
            <a:ext cx="709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11"/>
          <p:cNvSpPr>
            <a:spLocks noGrp="1"/>
          </p:cNvSpPr>
          <p:nvPr>
            <p:ph type="ftr" idx="23"/>
          </p:nvPr>
        </p:nvSpPr>
        <p:spPr>
          <a:xfrm>
            <a:off x="5371560" y="6356520"/>
            <a:ext cx="2432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12"/>
          <p:cNvSpPr>
            <a:spLocks noGrp="1"/>
          </p:cNvSpPr>
          <p:nvPr>
            <p:ph type="sldNum" idx="24"/>
          </p:nvPr>
        </p:nvSpPr>
        <p:spPr>
          <a:xfrm>
            <a:off x="8025480" y="6356520"/>
            <a:ext cx="4892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E8FBF2-E2D6-46B7-880E-CA465F5F0FFB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5" name="圖形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2" t="20280" r="0" b="22672"/>
          <a:stretch/>
        </p:blipFill>
        <p:spPr>
          <a:xfrm>
            <a:off x="-3600" y="0"/>
            <a:ext cx="3672000" cy="43851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簡介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021680" y="1671480"/>
            <a:ext cx="3832920" cy="1204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1021680" y="3660840"/>
            <a:ext cx="3832920" cy="15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8" name="直線接點​​(S) 13"/>
          <p:cNvCxnSpPr/>
          <p:nvPr/>
        </p:nvCxnSpPr>
        <p:spPr>
          <a:xfrm>
            <a:off x="6822000" y="1496880"/>
            <a:ext cx="2322720" cy="72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119" name="直線接點​​(S) 22"/>
          <p:cNvCxnSpPr/>
          <p:nvPr/>
        </p:nvCxnSpPr>
        <p:spPr>
          <a:xfrm flipH="1">
            <a:off x="5214600" y="-25200"/>
            <a:ext cx="2844000" cy="690264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sp>
        <p:nvSpPr>
          <p:cNvPr id="120" name="PlaceHolder 3"/>
          <p:cNvSpPr>
            <a:spLocks noGrp="1"/>
          </p:cNvSpPr>
          <p:nvPr>
            <p:ph type="dt" idx="25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 type="ftr" idx="26"/>
          </p:nvPr>
        </p:nvSpPr>
        <p:spPr>
          <a:xfrm>
            <a:off x="3918240" y="6356520"/>
            <a:ext cx="13064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5"/>
          <p:cNvSpPr>
            <a:spLocks noGrp="1"/>
          </p:cNvSpPr>
          <p:nvPr>
            <p:ph type="sldNum" idx="27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D81DEB-9DC1-47F6-8B05-C3577944666B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分節符號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5243400" y="2571120"/>
            <a:ext cx="3133800" cy="171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700" b="0" u="none" spc="113" strike="noStrike" cap="all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4" name="圖形 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828720"/>
            <a:ext cx="4407120" cy="51998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標題投影片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812120" y="4434840"/>
            <a:ext cx="3705480" cy="1121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7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圖形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9" t="23651" r="0" b="0"/>
          <a:stretch/>
        </p:blipFill>
        <p:spPr>
          <a:xfrm>
            <a:off x="0" y="0"/>
            <a:ext cx="7115400" cy="50536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引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圖形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418536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440240" y="1152720"/>
            <a:ext cx="4073400" cy="84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9" name="直線接點​​(S) 8"/>
          <p:cNvCxnSpPr/>
          <p:nvPr/>
        </p:nvCxnSpPr>
        <p:spPr>
          <a:xfrm flipV="1">
            <a:off x="1657080" y="0"/>
            <a:ext cx="1829520" cy="685872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4441680" y="2469600"/>
            <a:ext cx="40741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4441320" y="2799000"/>
            <a:ext cx="407340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4441680" y="3569400"/>
            <a:ext cx="40741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body"/>
          </p:nvPr>
        </p:nvSpPr>
        <p:spPr>
          <a:xfrm>
            <a:off x="4441320" y="3898800"/>
            <a:ext cx="407340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body"/>
          </p:nvPr>
        </p:nvSpPr>
        <p:spPr>
          <a:xfrm>
            <a:off x="4441680" y="4669200"/>
            <a:ext cx="40741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body"/>
          </p:nvPr>
        </p:nvSpPr>
        <p:spPr>
          <a:xfrm>
            <a:off x="4441320" y="4998600"/>
            <a:ext cx="407340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8"/>
          <p:cNvSpPr>
            <a:spLocks noGrp="1"/>
          </p:cNvSpPr>
          <p:nvPr>
            <p:ph type="dt" idx="28"/>
          </p:nvPr>
        </p:nvSpPr>
        <p:spPr>
          <a:xfrm>
            <a:off x="4439880" y="6356520"/>
            <a:ext cx="7099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9"/>
          <p:cNvSpPr>
            <a:spLocks noGrp="1"/>
          </p:cNvSpPr>
          <p:nvPr>
            <p:ph type="ftr" idx="29"/>
          </p:nvPr>
        </p:nvSpPr>
        <p:spPr>
          <a:xfrm>
            <a:off x="5371560" y="6356520"/>
            <a:ext cx="2432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PlaceHolder 10"/>
          <p:cNvSpPr>
            <a:spLocks noGrp="1"/>
          </p:cNvSpPr>
          <p:nvPr>
            <p:ph type="sldNum" idx="30"/>
          </p:nvPr>
        </p:nvSpPr>
        <p:spPr>
          <a:xfrm>
            <a:off x="8025480" y="6356520"/>
            <a:ext cx="4892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7DE6F7-00E9-4CDA-897C-098892F3B86C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三個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413720" y="892080"/>
            <a:ext cx="63154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932400" y="2777040"/>
            <a:ext cx="216108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body"/>
          </p:nvPr>
        </p:nvSpPr>
        <p:spPr>
          <a:xfrm>
            <a:off x="932400" y="3834720"/>
            <a:ext cx="2161080" cy="199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第二層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第三層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2888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第四層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第五層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 type="body"/>
          </p:nvPr>
        </p:nvSpPr>
        <p:spPr>
          <a:xfrm>
            <a:off x="3485880" y="2777040"/>
            <a:ext cx="217188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5"/>
          <p:cNvSpPr>
            <a:spLocks noGrp="1"/>
          </p:cNvSpPr>
          <p:nvPr>
            <p:ph type="body"/>
          </p:nvPr>
        </p:nvSpPr>
        <p:spPr>
          <a:xfrm>
            <a:off x="3485880" y="3834720"/>
            <a:ext cx="2171880" cy="199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第二層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第三層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2888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第四層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第五層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4" name="直線接點​​(S)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0" y="0"/>
            <a:ext cx="929160" cy="3105720"/>
          </a:xfrm>
          <a:prstGeom prst="straightConnector1">
            <a:avLst/>
          </a:prstGeom>
          <a:ln w="3175">
            <a:solidFill>
              <a:srgbClr val="000000"/>
            </a:solidFill>
            <a:round/>
          </a:ln>
        </p:spPr>
      </p:cxnSp>
      <p:cxnSp>
        <p:nvCxnSpPr>
          <p:cNvPr id="145" name="直線接點​​(S)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0" y="0"/>
            <a:ext cx="1679400" cy="247716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sp>
        <p:nvSpPr>
          <p:cNvPr id="146" name="PlaceHolder 6"/>
          <p:cNvSpPr>
            <a:spLocks noGrp="1"/>
          </p:cNvSpPr>
          <p:nvPr>
            <p:ph type="body"/>
          </p:nvPr>
        </p:nvSpPr>
        <p:spPr>
          <a:xfrm>
            <a:off x="6049800" y="2777040"/>
            <a:ext cx="216108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7"/>
          <p:cNvSpPr>
            <a:spLocks noGrp="1"/>
          </p:cNvSpPr>
          <p:nvPr>
            <p:ph type="body"/>
          </p:nvPr>
        </p:nvSpPr>
        <p:spPr>
          <a:xfrm>
            <a:off x="6049800" y="3834720"/>
            <a:ext cx="2161080" cy="199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第二層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第三層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2888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第四層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第五層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8"/>
          <p:cNvSpPr>
            <a:spLocks noGrp="1"/>
          </p:cNvSpPr>
          <p:nvPr>
            <p:ph type="dt" idx="31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PlaceHolder 9"/>
          <p:cNvSpPr>
            <a:spLocks noGrp="1"/>
          </p:cNvSpPr>
          <p:nvPr>
            <p:ph type="ftr" idx="32"/>
          </p:nvPr>
        </p:nvSpPr>
        <p:spPr>
          <a:xfrm>
            <a:off x="3029040" y="6356520"/>
            <a:ext cx="3085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10"/>
          <p:cNvSpPr>
            <a:spLocks noGrp="1"/>
          </p:cNvSpPr>
          <p:nvPr>
            <p:ph type="sldNum" idx="33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CE0975-76C8-4713-8008-1341D69278DE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 內容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413720" y="892080"/>
            <a:ext cx="63154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圖形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8720" y="2358000"/>
            <a:ext cx="1828080" cy="201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3" name="圖形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3750480" y="2531880"/>
            <a:ext cx="1642320" cy="194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4" name="圖形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6259320" y="2421000"/>
            <a:ext cx="1742400" cy="205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1548000" y="3064680"/>
            <a:ext cx="92988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3000" b="0" u="none" spc="113" strike="noStrike" cap="all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#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body"/>
          </p:nvPr>
        </p:nvSpPr>
        <p:spPr>
          <a:xfrm>
            <a:off x="4106520" y="3064680"/>
            <a:ext cx="92988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3000" b="0" u="none" spc="113" strike="noStrike" cap="all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#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 type="body"/>
          </p:nvPr>
        </p:nvSpPr>
        <p:spPr>
          <a:xfrm>
            <a:off x="6665400" y="3064680"/>
            <a:ext cx="92988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3000" b="0" u="none" spc="113" strike="noStrike" cap="all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#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 type="body"/>
          </p:nvPr>
        </p:nvSpPr>
        <p:spPr>
          <a:xfrm>
            <a:off x="847440" y="4824360"/>
            <a:ext cx="2342520" cy="46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37" strike="noStrike" cap="all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 type="body"/>
          </p:nvPr>
        </p:nvSpPr>
        <p:spPr>
          <a:xfrm>
            <a:off x="847440" y="5280840"/>
            <a:ext cx="2342520" cy="46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 type="body"/>
          </p:nvPr>
        </p:nvSpPr>
        <p:spPr>
          <a:xfrm>
            <a:off x="3394800" y="4824360"/>
            <a:ext cx="2354040" cy="46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9999"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37" strike="noStrike" cap="all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8"/>
          <p:cNvSpPr>
            <a:spLocks noGrp="1"/>
          </p:cNvSpPr>
          <p:nvPr>
            <p:ph type="body"/>
          </p:nvPr>
        </p:nvSpPr>
        <p:spPr>
          <a:xfrm>
            <a:off x="3394800" y="5280840"/>
            <a:ext cx="2354040" cy="46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0" algn="ctr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第二層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9"/>
          <p:cNvSpPr>
            <a:spLocks noGrp="1"/>
          </p:cNvSpPr>
          <p:nvPr>
            <p:ph type="body"/>
          </p:nvPr>
        </p:nvSpPr>
        <p:spPr>
          <a:xfrm>
            <a:off x="5953680" y="4824360"/>
            <a:ext cx="2342520" cy="46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37" strike="noStrike" cap="all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10"/>
          <p:cNvSpPr>
            <a:spLocks noGrp="1"/>
          </p:cNvSpPr>
          <p:nvPr>
            <p:ph type="body"/>
          </p:nvPr>
        </p:nvSpPr>
        <p:spPr>
          <a:xfrm>
            <a:off x="5953680" y="5280840"/>
            <a:ext cx="2342520" cy="46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lt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1"/>
          <p:cNvSpPr>
            <a:spLocks noGrp="1"/>
          </p:cNvSpPr>
          <p:nvPr>
            <p:ph type="dt" idx="34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PlaceHolder 12"/>
          <p:cNvSpPr>
            <a:spLocks noGrp="1"/>
          </p:cNvSpPr>
          <p:nvPr>
            <p:ph type="ftr" idx="35"/>
          </p:nvPr>
        </p:nvSpPr>
        <p:spPr>
          <a:xfrm>
            <a:off x="3029040" y="6356520"/>
            <a:ext cx="3085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PlaceHolder 13"/>
          <p:cNvSpPr>
            <a:spLocks noGrp="1"/>
          </p:cNvSpPr>
          <p:nvPr>
            <p:ph type="sldNum" idx="36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5BC25C-BA15-4118-9FCD-8EE481642B69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兩項內容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2200320" y="892080"/>
            <a:ext cx="63154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2200320" y="2777040"/>
            <a:ext cx="294264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body"/>
          </p:nvPr>
        </p:nvSpPr>
        <p:spPr>
          <a:xfrm>
            <a:off x="2200320" y="3834720"/>
            <a:ext cx="2942640" cy="199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第二層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第三層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2888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第四層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第五層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4"/>
          <p:cNvSpPr>
            <a:spLocks noGrp="1"/>
          </p:cNvSpPr>
          <p:nvPr>
            <p:ph type="body"/>
          </p:nvPr>
        </p:nvSpPr>
        <p:spPr>
          <a:xfrm>
            <a:off x="5557680" y="2777040"/>
            <a:ext cx="295704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5"/>
          <p:cNvSpPr>
            <a:spLocks noGrp="1"/>
          </p:cNvSpPr>
          <p:nvPr>
            <p:ph type="body"/>
          </p:nvPr>
        </p:nvSpPr>
        <p:spPr>
          <a:xfrm>
            <a:off x="5557680" y="3834720"/>
            <a:ext cx="2957040" cy="199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第二層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第三層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2888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第四層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indent="0" defTabSz="685800">
              <a:lnSpc>
                <a:spcPct val="100000"/>
              </a:lnSpc>
              <a:spcBef>
                <a:spcPts val="374"/>
              </a:spcBef>
              <a:buNone/>
              <a:tabLst>
                <a:tab algn="l" pos="0"/>
              </a:tabLst>
            </a:pPr>
            <a:r>
              <a:rPr lang="zh-TW" sz="105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第五層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6"/>
          <p:cNvSpPr>
            <a:spLocks noGrp="1"/>
          </p:cNvSpPr>
          <p:nvPr>
            <p:ph type="dt" idx="37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PlaceHolder 7"/>
          <p:cNvSpPr>
            <a:spLocks noGrp="1"/>
          </p:cNvSpPr>
          <p:nvPr>
            <p:ph type="ftr" idx="38"/>
          </p:nvPr>
        </p:nvSpPr>
        <p:spPr>
          <a:xfrm>
            <a:off x="3029040" y="6356520"/>
            <a:ext cx="3085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PlaceHolder 8"/>
          <p:cNvSpPr>
            <a:spLocks noGrp="1"/>
          </p:cNvSpPr>
          <p:nvPr>
            <p:ph type="sldNum" idx="39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2DEB3B4-0F77-4C67-9331-90C912D4BBA0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5" name="圖形 10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2" t="20280" r="0" b="22672"/>
          <a:stretch/>
        </p:blipFill>
        <p:spPr>
          <a:xfrm>
            <a:off x="19440" y="0"/>
            <a:ext cx="3275280" cy="3911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圖形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4080600" cy="6857280"/>
          </a:xfrm>
          <a:custGeom>
            <a:avLst/>
            <a:gdLst>
              <a:gd name="textAreaLeft" fmla="*/ 360 w 4080600"/>
              <a:gd name="textAreaRight" fmla="*/ 4081680 w 4080600"/>
              <a:gd name="textAreaTop" fmla="*/ 0 h 6857280"/>
              <a:gd name="textAreaBottom" fmla="*/ 6858000 h 6857280"/>
              <a:gd name="GluePoint1X" fmla="*/ 5441888 w 5441888"/>
              <a:gd name="GluePoint1Y" fmla="*/ 0 h 6858000"/>
              <a:gd name="GluePoint2X" fmla="*/ 0 w 5441888"/>
              <a:gd name="GluePoint2Y" fmla="*/ 0 h 6858000"/>
              <a:gd name="GluePoint3X" fmla="*/ 0 w 5441888"/>
              <a:gd name="GluePoint3Y" fmla="*/ 6858000 h 6858000"/>
              <a:gd name="GluePoint4X" fmla="*/ 5441888 w 5441888"/>
              <a:gd name="GluePoint4Y" fmla="*/ 685800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4440240" y="1152720"/>
            <a:ext cx="4073400" cy="84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4441680" y="2469600"/>
            <a:ext cx="40741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body"/>
          </p:nvPr>
        </p:nvSpPr>
        <p:spPr>
          <a:xfrm>
            <a:off x="4441320" y="2799000"/>
            <a:ext cx="407340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 type="body"/>
          </p:nvPr>
        </p:nvSpPr>
        <p:spPr>
          <a:xfrm>
            <a:off x="4441680" y="3569400"/>
            <a:ext cx="40741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 type="body"/>
          </p:nvPr>
        </p:nvSpPr>
        <p:spPr>
          <a:xfrm>
            <a:off x="4441320" y="3898800"/>
            <a:ext cx="407340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 type="body"/>
          </p:nvPr>
        </p:nvSpPr>
        <p:spPr>
          <a:xfrm>
            <a:off x="4441680" y="4669200"/>
            <a:ext cx="40741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5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按一下以新增副標題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 type="body"/>
          </p:nvPr>
        </p:nvSpPr>
        <p:spPr>
          <a:xfrm>
            <a:off x="4441320" y="4998600"/>
            <a:ext cx="407340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按一下以新增文字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8"/>
          <p:cNvSpPr>
            <a:spLocks noGrp="1"/>
          </p:cNvSpPr>
          <p:nvPr>
            <p:ph type="dt" idx="40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PlaceHolder 9"/>
          <p:cNvSpPr>
            <a:spLocks noGrp="1"/>
          </p:cNvSpPr>
          <p:nvPr>
            <p:ph type="ftr" idx="41"/>
          </p:nvPr>
        </p:nvSpPr>
        <p:spPr>
          <a:xfrm>
            <a:off x="3029040" y="6356520"/>
            <a:ext cx="3085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PlaceHolder 10"/>
          <p:cNvSpPr>
            <a:spLocks noGrp="1"/>
          </p:cNvSpPr>
          <p:nvPr>
            <p:ph type="sldNum" idx="42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1C21DE-4B87-4037-A32C-9D3526EB5041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圖表​​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561600" y="1361880"/>
            <a:ext cx="5073840" cy="49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3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body"/>
          </p:nvPr>
        </p:nvSpPr>
        <p:spPr>
          <a:xfrm>
            <a:off x="628560" y="2286000"/>
            <a:ext cx="4569840" cy="354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按一下圖示以新增圖表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 type="body"/>
          </p:nvPr>
        </p:nvSpPr>
        <p:spPr>
          <a:xfrm>
            <a:off x="5893560" y="2284560"/>
            <a:ext cx="2359800" cy="30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5"/>
          <p:cNvSpPr>
            <a:spLocks noGrp="1"/>
          </p:cNvSpPr>
          <p:nvPr>
            <p:ph type="body"/>
          </p:nvPr>
        </p:nvSpPr>
        <p:spPr>
          <a:xfrm>
            <a:off x="5893560" y="2779560"/>
            <a:ext cx="2360160" cy="309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9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按一下以新增內容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6"/>
          <p:cNvSpPr>
            <a:spLocks noGrp="1"/>
          </p:cNvSpPr>
          <p:nvPr>
            <p:ph type="dt" idx="43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7"/>
          <p:cNvSpPr>
            <a:spLocks noGrp="1"/>
          </p:cNvSpPr>
          <p:nvPr>
            <p:ph type="ftr" idx="44"/>
          </p:nvPr>
        </p:nvSpPr>
        <p:spPr>
          <a:xfrm>
            <a:off x="3029040" y="6356520"/>
            <a:ext cx="3085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PlaceHolder 8"/>
          <p:cNvSpPr>
            <a:spLocks noGrp="1"/>
          </p:cNvSpPr>
          <p:nvPr>
            <p:ph type="sldNum" idx="45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3FB092-3010-4A58-A4B2-19F5F0CAB949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時間表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矩形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057840"/>
            <a:ext cx="9143280" cy="2009520"/>
          </a:xfrm>
          <a:prstGeom prst="rect">
            <a:avLst/>
          </a:prstGeom>
          <a:solidFill>
            <a:srgbClr val="e9e6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350" b="0" u="none" strike="noStrike">
              <a:solidFill>
                <a:schemeClr val="lt1"/>
              </a:solidFill>
              <a:effectLst/>
              <a:uFillTx/>
              <a:latin typeface="Microsoft JhengHei UI"/>
              <a:ea typeface="Microsoft JhengHei UI"/>
            </a:endParaRPr>
          </a:p>
        </p:txBody>
      </p:sp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3354840"/>
            <a:ext cx="54792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1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年份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1474560" y="350208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body"/>
          </p:nvPr>
        </p:nvSpPr>
        <p:spPr>
          <a:xfrm>
            <a:off x="2065320" y="350208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 type="body"/>
          </p:nvPr>
        </p:nvSpPr>
        <p:spPr>
          <a:xfrm>
            <a:off x="2656440" y="350208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6"/>
          <p:cNvSpPr>
            <a:spLocks noGrp="1"/>
          </p:cNvSpPr>
          <p:nvPr>
            <p:ph type="body"/>
          </p:nvPr>
        </p:nvSpPr>
        <p:spPr>
          <a:xfrm>
            <a:off x="3247200" y="350208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7"/>
          <p:cNvSpPr>
            <a:spLocks noGrp="1"/>
          </p:cNvSpPr>
          <p:nvPr>
            <p:ph type="body"/>
          </p:nvPr>
        </p:nvSpPr>
        <p:spPr>
          <a:xfrm>
            <a:off x="3838320" y="350208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8"/>
          <p:cNvSpPr>
            <a:spLocks noGrp="1"/>
          </p:cNvSpPr>
          <p:nvPr>
            <p:ph type="body"/>
          </p:nvPr>
        </p:nvSpPr>
        <p:spPr>
          <a:xfrm>
            <a:off x="4429080" y="350208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9"/>
          <p:cNvSpPr>
            <a:spLocks noGrp="1"/>
          </p:cNvSpPr>
          <p:nvPr>
            <p:ph type="body"/>
          </p:nvPr>
        </p:nvSpPr>
        <p:spPr>
          <a:xfrm>
            <a:off x="5020200" y="350208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10"/>
          <p:cNvSpPr>
            <a:spLocks noGrp="1"/>
          </p:cNvSpPr>
          <p:nvPr>
            <p:ph type="body"/>
          </p:nvPr>
        </p:nvSpPr>
        <p:spPr>
          <a:xfrm>
            <a:off x="5610960" y="350208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11"/>
          <p:cNvSpPr>
            <a:spLocks noGrp="1"/>
          </p:cNvSpPr>
          <p:nvPr>
            <p:ph type="body"/>
          </p:nvPr>
        </p:nvSpPr>
        <p:spPr>
          <a:xfrm>
            <a:off x="6202080" y="350208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12"/>
          <p:cNvSpPr>
            <a:spLocks noGrp="1"/>
          </p:cNvSpPr>
          <p:nvPr>
            <p:ph type="body"/>
          </p:nvPr>
        </p:nvSpPr>
        <p:spPr>
          <a:xfrm>
            <a:off x="6792840" y="350208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13"/>
          <p:cNvSpPr>
            <a:spLocks noGrp="1"/>
          </p:cNvSpPr>
          <p:nvPr>
            <p:ph type="body"/>
          </p:nvPr>
        </p:nvSpPr>
        <p:spPr>
          <a:xfrm>
            <a:off x="7383960" y="350208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14"/>
          <p:cNvSpPr>
            <a:spLocks noGrp="1"/>
          </p:cNvSpPr>
          <p:nvPr>
            <p:ph type="body"/>
          </p:nvPr>
        </p:nvSpPr>
        <p:spPr>
          <a:xfrm>
            <a:off x="7974720" y="350208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15"/>
          <p:cNvSpPr>
            <a:spLocks noGrp="1"/>
          </p:cNvSpPr>
          <p:nvPr>
            <p:ph type="body"/>
          </p:nvPr>
        </p:nvSpPr>
        <p:spPr>
          <a:xfrm>
            <a:off x="685800" y="4292640"/>
            <a:ext cx="54792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1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年份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16"/>
          <p:cNvSpPr>
            <a:spLocks noGrp="1"/>
          </p:cNvSpPr>
          <p:nvPr>
            <p:ph type="body"/>
          </p:nvPr>
        </p:nvSpPr>
        <p:spPr>
          <a:xfrm>
            <a:off x="1477440" y="442584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17"/>
          <p:cNvSpPr>
            <a:spLocks noGrp="1"/>
          </p:cNvSpPr>
          <p:nvPr>
            <p:ph type="body"/>
          </p:nvPr>
        </p:nvSpPr>
        <p:spPr>
          <a:xfrm>
            <a:off x="2068200" y="442584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18"/>
          <p:cNvSpPr>
            <a:spLocks noGrp="1"/>
          </p:cNvSpPr>
          <p:nvPr>
            <p:ph type="body"/>
          </p:nvPr>
        </p:nvSpPr>
        <p:spPr>
          <a:xfrm>
            <a:off x="2658960" y="442584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19"/>
          <p:cNvSpPr>
            <a:spLocks noGrp="1"/>
          </p:cNvSpPr>
          <p:nvPr>
            <p:ph type="body"/>
          </p:nvPr>
        </p:nvSpPr>
        <p:spPr>
          <a:xfrm>
            <a:off x="3249720" y="442584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20"/>
          <p:cNvSpPr>
            <a:spLocks noGrp="1"/>
          </p:cNvSpPr>
          <p:nvPr>
            <p:ph type="body"/>
          </p:nvPr>
        </p:nvSpPr>
        <p:spPr>
          <a:xfrm>
            <a:off x="3840480" y="442584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21"/>
          <p:cNvSpPr>
            <a:spLocks noGrp="1"/>
          </p:cNvSpPr>
          <p:nvPr>
            <p:ph type="body"/>
          </p:nvPr>
        </p:nvSpPr>
        <p:spPr>
          <a:xfrm>
            <a:off x="4431240" y="442584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22"/>
          <p:cNvSpPr>
            <a:spLocks noGrp="1"/>
          </p:cNvSpPr>
          <p:nvPr>
            <p:ph type="body"/>
          </p:nvPr>
        </p:nvSpPr>
        <p:spPr>
          <a:xfrm>
            <a:off x="5022000" y="442584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23"/>
          <p:cNvSpPr>
            <a:spLocks noGrp="1"/>
          </p:cNvSpPr>
          <p:nvPr>
            <p:ph type="body"/>
          </p:nvPr>
        </p:nvSpPr>
        <p:spPr>
          <a:xfrm>
            <a:off x="5612760" y="442584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4"/>
          <p:cNvSpPr>
            <a:spLocks noGrp="1"/>
          </p:cNvSpPr>
          <p:nvPr>
            <p:ph type="body"/>
          </p:nvPr>
        </p:nvSpPr>
        <p:spPr>
          <a:xfrm>
            <a:off x="6203520" y="442584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25"/>
          <p:cNvSpPr>
            <a:spLocks noGrp="1"/>
          </p:cNvSpPr>
          <p:nvPr>
            <p:ph type="body"/>
          </p:nvPr>
        </p:nvSpPr>
        <p:spPr>
          <a:xfrm>
            <a:off x="6794280" y="442584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26"/>
          <p:cNvSpPr>
            <a:spLocks noGrp="1"/>
          </p:cNvSpPr>
          <p:nvPr>
            <p:ph type="body"/>
          </p:nvPr>
        </p:nvSpPr>
        <p:spPr>
          <a:xfrm>
            <a:off x="7385040" y="442584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27"/>
          <p:cNvSpPr>
            <a:spLocks noGrp="1"/>
          </p:cNvSpPr>
          <p:nvPr>
            <p:ph type="body"/>
          </p:nvPr>
        </p:nvSpPr>
        <p:spPr>
          <a:xfrm>
            <a:off x="7975800" y="4425840"/>
            <a:ext cx="479520" cy="20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75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MM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矩形 3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97320" y="4034880"/>
            <a:ext cx="7749000" cy="45000"/>
          </a:xfrm>
          <a:prstGeom prst="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35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Microsoft JhengHei UI"/>
              <a:ea typeface="Microsoft JhengHei UI"/>
            </a:endParaRPr>
          </a:p>
        </p:txBody>
      </p:sp>
      <p:sp>
        <p:nvSpPr>
          <p:cNvPr id="224" name="PlaceHolder 28"/>
          <p:cNvSpPr>
            <a:spLocks noGrp="1"/>
          </p:cNvSpPr>
          <p:nvPr>
            <p:ph type="dt" idx="46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PlaceHolder 29"/>
          <p:cNvSpPr>
            <a:spLocks noGrp="1"/>
          </p:cNvSpPr>
          <p:nvPr>
            <p:ph type="ftr" idx="47"/>
          </p:nvPr>
        </p:nvSpPr>
        <p:spPr>
          <a:xfrm>
            <a:off x="3029040" y="6356520"/>
            <a:ext cx="3085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PlaceHolder 30"/>
          <p:cNvSpPr>
            <a:spLocks noGrp="1"/>
          </p:cNvSpPr>
          <p:nvPr>
            <p:ph type="sldNum" idx="48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EC3E68-D7D8-4B3A-8BA6-6A046985916C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mart Ar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28560" y="2139120"/>
            <a:ext cx="7886160" cy="369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SmartArt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圖形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dt" idx="49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ftr" idx="50"/>
          </p:nvPr>
        </p:nvSpPr>
        <p:spPr>
          <a:xfrm>
            <a:off x="3029040" y="6356520"/>
            <a:ext cx="3085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231" name="直線接點​​(S)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0" y="0"/>
            <a:ext cx="1943640" cy="76248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232" name="直線接點​​(S)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0" y="0"/>
            <a:ext cx="529200" cy="102852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sp>
        <p:nvSpPr>
          <p:cNvPr id="233" name="PlaceHolder 5"/>
          <p:cNvSpPr>
            <a:spLocks noGrp="1"/>
          </p:cNvSpPr>
          <p:nvPr>
            <p:ph type="sldNum" idx="51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DB9A8B-B239-44DC-A909-3D187AFA204E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團隊投影片 4 人員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1413720" y="892080"/>
            <a:ext cx="63154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按一下以編輯母片標題樣式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1115280" y="2886120"/>
            <a:ext cx="1383480" cy="184464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按一下圖示以新增圖片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body"/>
          </p:nvPr>
        </p:nvSpPr>
        <p:spPr>
          <a:xfrm>
            <a:off x="983520" y="5084640"/>
            <a:ext cx="164664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 type="body"/>
          </p:nvPr>
        </p:nvSpPr>
        <p:spPr>
          <a:xfrm>
            <a:off x="1115280" y="5464080"/>
            <a:ext cx="138348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75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 type="body"/>
          </p:nvPr>
        </p:nvSpPr>
        <p:spPr>
          <a:xfrm>
            <a:off x="2877840" y="2886120"/>
            <a:ext cx="1383480" cy="184464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按一下圖示以新增圖片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6"/>
          <p:cNvSpPr>
            <a:spLocks noGrp="1"/>
          </p:cNvSpPr>
          <p:nvPr>
            <p:ph type="body"/>
          </p:nvPr>
        </p:nvSpPr>
        <p:spPr>
          <a:xfrm>
            <a:off x="2780640" y="5099040"/>
            <a:ext cx="160812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7"/>
          <p:cNvSpPr>
            <a:spLocks noGrp="1"/>
          </p:cNvSpPr>
          <p:nvPr>
            <p:ph type="body"/>
          </p:nvPr>
        </p:nvSpPr>
        <p:spPr>
          <a:xfrm>
            <a:off x="2877840" y="5478840"/>
            <a:ext cx="139140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75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8"/>
          <p:cNvSpPr>
            <a:spLocks noGrp="1"/>
          </p:cNvSpPr>
          <p:nvPr>
            <p:ph type="body"/>
          </p:nvPr>
        </p:nvSpPr>
        <p:spPr>
          <a:xfrm>
            <a:off x="4745520" y="2886120"/>
            <a:ext cx="1383480" cy="184464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57200"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按一下圖示以新增圖片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9"/>
          <p:cNvSpPr>
            <a:spLocks noGrp="1"/>
          </p:cNvSpPr>
          <p:nvPr>
            <p:ph type="body"/>
          </p:nvPr>
        </p:nvSpPr>
        <p:spPr>
          <a:xfrm>
            <a:off x="4648680" y="5099040"/>
            <a:ext cx="159912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10"/>
          <p:cNvSpPr>
            <a:spLocks noGrp="1"/>
          </p:cNvSpPr>
          <p:nvPr>
            <p:ph type="body"/>
          </p:nvPr>
        </p:nvSpPr>
        <p:spPr>
          <a:xfrm>
            <a:off x="4745520" y="5478840"/>
            <a:ext cx="138348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75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11"/>
          <p:cNvSpPr>
            <a:spLocks noGrp="1"/>
          </p:cNvSpPr>
          <p:nvPr>
            <p:ph type="body"/>
          </p:nvPr>
        </p:nvSpPr>
        <p:spPr>
          <a:xfrm>
            <a:off x="6560640" y="2886120"/>
            <a:ext cx="1383480" cy="184464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按一下圖示以新增圖片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12"/>
          <p:cNvSpPr>
            <a:spLocks noGrp="1"/>
          </p:cNvSpPr>
          <p:nvPr>
            <p:ph type="body"/>
          </p:nvPr>
        </p:nvSpPr>
        <p:spPr>
          <a:xfrm>
            <a:off x="6463440" y="5084640"/>
            <a:ext cx="159912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105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13"/>
          <p:cNvSpPr>
            <a:spLocks noGrp="1"/>
          </p:cNvSpPr>
          <p:nvPr>
            <p:ph type="body"/>
          </p:nvPr>
        </p:nvSpPr>
        <p:spPr>
          <a:xfrm>
            <a:off x="6560640" y="5464080"/>
            <a:ext cx="1383480" cy="3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750" b="0" u="none" spc="113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按一下以編輯母片文字樣式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7" name="直線接點​​(S)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5500440" y="0"/>
            <a:ext cx="3644280" cy="76248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cxnSp>
        <p:nvCxnSpPr>
          <p:cNvPr id="248" name="直線接點​​(S)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615160" y="0"/>
            <a:ext cx="529560" cy="1724400"/>
          </a:xfrm>
          <a:prstGeom prst="straightConnector1">
            <a:avLst/>
          </a:prstGeom>
          <a:ln w="0">
            <a:solidFill>
              <a:srgbClr val="000000"/>
            </a:solidFill>
          </a:ln>
        </p:spPr>
      </p:cxnSp>
      <p:sp>
        <p:nvSpPr>
          <p:cNvPr id="249" name="PlaceHolder 14"/>
          <p:cNvSpPr>
            <a:spLocks noGrp="1"/>
          </p:cNvSpPr>
          <p:nvPr>
            <p:ph type="dt" idx="52"/>
          </p:nvPr>
        </p:nvSpPr>
        <p:spPr>
          <a:xfrm>
            <a:off x="62856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&lt;日期/時間&gt;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PlaceHolder 15"/>
          <p:cNvSpPr>
            <a:spLocks noGrp="1"/>
          </p:cNvSpPr>
          <p:nvPr>
            <p:ph type="ftr" idx="53"/>
          </p:nvPr>
        </p:nvSpPr>
        <p:spPr>
          <a:xfrm>
            <a:off x="3029040" y="6356520"/>
            <a:ext cx="3085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&lt;頁尾&gt;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PlaceHolder 16"/>
          <p:cNvSpPr>
            <a:spLocks noGrp="1"/>
          </p:cNvSpPr>
          <p:nvPr>
            <p:ph type="sldNum" idx="54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C598B9-57A8-41BB-AD95-A97F73316F20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diagramData" Target="../diagrams/data1.xml"/><Relationship Id="rId2" Type="http://schemas.openxmlformats.org/officeDocument/2006/relationships/diagramLayout" Target="../diagrams/layout1.xml"/><Relationship Id="rId3" Type="http://schemas.openxmlformats.org/officeDocument/2006/relationships/diagramQuickStyle" Target="../diagrams/quickStyle1.xml"/><Relationship Id="rId4" Type="http://schemas.openxmlformats.org/officeDocument/2006/relationships/diagramColors" Target="../diagrams/colors1.xml"/><Relationship Id="rId5" Type="http://schemas.microsoft.com/office/2007/relationships/diagramDrawing" Target="../diagrams/drawing1.xml"/><Relationship Id="rId6" Type="http://schemas.openxmlformats.org/officeDocument/2006/relationships/slideLayout" Target="../slideLayouts/slideLayout19.xml"/><Relationship Id="rId7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diagramData" Target="../diagrams/data2.xml"/><Relationship Id="rId2" Type="http://schemas.openxmlformats.org/officeDocument/2006/relationships/diagramLayout" Target="../diagrams/layout2.xml"/><Relationship Id="rId3" Type="http://schemas.openxmlformats.org/officeDocument/2006/relationships/diagramQuickStyle" Target="../diagrams/quickStyle2.xml"/><Relationship Id="rId4" Type="http://schemas.openxmlformats.org/officeDocument/2006/relationships/diagramColors" Target="../diagrams/colors2.xml"/><Relationship Id="rId5" Type="http://schemas.microsoft.com/office/2007/relationships/diagramDrawing" Target="../diagrams/drawing2.xml"/><Relationship Id="rId6" Type="http://schemas.openxmlformats.org/officeDocument/2006/relationships/slideLayout" Target="../slideLayouts/slideLayout19.xml"/><Relationship Id="rId7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diagramData" Target="../diagrams/data3.xml"/><Relationship Id="rId2" Type="http://schemas.openxmlformats.org/officeDocument/2006/relationships/diagramLayout" Target="../diagrams/layout3.xml"/><Relationship Id="rId3" Type="http://schemas.openxmlformats.org/officeDocument/2006/relationships/diagramQuickStyle" Target="../diagrams/quickStyle3.xml"/><Relationship Id="rId4" Type="http://schemas.openxmlformats.org/officeDocument/2006/relationships/diagramColors" Target="../diagrams/colors3.xml"/><Relationship Id="rId5" Type="http://schemas.microsoft.com/office/2007/relationships/diagramDrawing" Target="../diagrams/drawing3.xml"/><Relationship Id="rId6" Type="http://schemas.openxmlformats.org/officeDocument/2006/relationships/slideLayout" Target="../slideLayouts/slideLayout17.xml"/><Relationship Id="rId7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1787400" y="2317320"/>
            <a:ext cx="6909120" cy="160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just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基於對抗式攻擊與情資平台之</a:t>
            </a:r>
            <a:r>
              <a:rPr lang="en-US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 </a:t>
            </a:r>
            <a:r>
              <a:rPr lang="en-US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HTTP/3 </a:t>
            </a:r>
            <a:r>
              <a:rPr lang="zh-TW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加密流量自動化安全防禦框架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/>
          </p:nvPr>
        </p:nvSpPr>
        <p:spPr>
          <a:xfrm>
            <a:off x="2752560" y="4205160"/>
            <a:ext cx="5123160" cy="150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指導教授：王智弘教授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組員資訊：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1122931 </a:t>
            </a: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莊博宇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685800">
              <a:lnSpc>
                <a:spcPct val="10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	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	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   1122930 </a:t>
            </a: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闕帝軒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628560" y="914400"/>
            <a:ext cx="7886160" cy="89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研究動機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 type="sldNum" idx="58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</a:pPr>
            <a:fld id="{A84B2D6C-A516-4EE8-B77E-EAF315CD60BA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2" name="Diagram1"/>
          <p:cNvGraphicFramePr/>
          <p:nvPr>
            <p:extLst>
              <p:ext uri="{D42A27DB-BD31-4B8C-83A1-F6EECF244321}">
                <p14:modId xmlns:p14="http://schemas.microsoft.com/office/powerpoint/2010/main" val="1412289441"/>
              </p:ext>
            </p:extLst>
          </p:nvPr>
        </p:nvGraphicFramePr>
        <p:xfrm>
          <a:off x="628560" y="1807560"/>
          <a:ext cx="7886160" cy="4426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title"/>
          </p:nvPr>
        </p:nvSpPr>
        <p:spPr>
          <a:xfrm>
            <a:off x="628560" y="396360"/>
            <a:ext cx="7886160" cy="95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文獻</a:t>
            </a:r>
            <a:r>
              <a:rPr lang="en-US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/</a:t>
            </a:r>
            <a:r>
              <a:rPr lang="zh-TW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既有系統服務探討 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2"/>
          <p:cNvSpPr>
            <a:spLocks noGrp="1"/>
          </p:cNvSpPr>
          <p:nvPr>
            <p:ph type="sldNum" idx="59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</a:pPr>
            <a:fld id="{7E7D1386-16E3-46D3-BBA5-289B61F34822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5" name="Diagram2"/>
          <p:cNvGraphicFramePr/>
          <p:nvPr>
            <p:extLst>
              <p:ext uri="{D42A27DB-BD31-4B8C-83A1-F6EECF244321}">
                <p14:modId xmlns:p14="http://schemas.microsoft.com/office/powerpoint/2010/main" val="705735269"/>
              </p:ext>
            </p:extLst>
          </p:nvPr>
        </p:nvGraphicFramePr>
        <p:xfrm>
          <a:off x="628560" y="1350720"/>
          <a:ext cx="7886160" cy="490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394920" y="525240"/>
            <a:ext cx="8363880" cy="66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預計提出的方法與系統開發的相關技術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561600" y="1361880"/>
            <a:ext cx="7885800" cy="155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just" defTabSz="685800">
              <a:lnSpc>
                <a:spcPts val="2999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本系統採用混合式防禦架構，結合威脅情資、非監督式深度學習與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SOAR 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機制。我們將使用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Ubuntu 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作為操作系統，並以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Python (aioquic) 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搭配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Python (Scapy) 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進行虛擬環境中的封包側錄與特徵收集。深度學習模型擬使用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PyTorch 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框架開發，威脅情資平台則透過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Docker 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容器化部署 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MISP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60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</a:pPr>
            <a:fld id="{0C8F531F-DCD5-4398-9E8A-23DCD5542245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9" name="Diagram3"/>
          <p:cNvGraphicFramePr/>
          <p:nvPr>
            <p:extLst>
              <p:ext uri="{D42A27DB-BD31-4B8C-83A1-F6EECF244321}">
                <p14:modId xmlns:p14="http://schemas.microsoft.com/office/powerpoint/2010/main" val="3363985293"/>
              </p:ext>
            </p:extLst>
          </p:nvPr>
        </p:nvGraphicFramePr>
        <p:xfrm>
          <a:off x="462240" y="3335400"/>
          <a:ext cx="8218440" cy="3124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683640" y="578520"/>
            <a:ext cx="8260200" cy="68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預計提出的方法與系統開發的相關技術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/>
          </p:nvPr>
        </p:nvSpPr>
        <p:spPr>
          <a:xfrm>
            <a:off x="683640" y="1339920"/>
            <a:ext cx="7776000" cy="2415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0" bIns="45720" anchor="t">
            <a:noAutofit/>
          </a:bodyPr>
          <a:p>
            <a:pPr marL="432000" indent="-3240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zh-TW" sz="2000" b="1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預過濾模組</a:t>
            </a:r>
            <a:r>
              <a:rPr lang="zh-TW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：提取來源 </a:t>
            </a:r>
            <a:r>
              <a:rPr lang="en-US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IP</a:t>
            </a:r>
            <a:r>
              <a:rPr lang="zh-TW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，即時比對自建的 </a:t>
            </a:r>
            <a:r>
              <a:rPr lang="en-US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MISP </a:t>
            </a:r>
            <a:r>
              <a:rPr lang="zh-TW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情資平台。若命中黑名單直接阻斷，大幅降低後端 </a:t>
            </a:r>
            <a:r>
              <a:rPr lang="en-US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AI </a:t>
            </a:r>
            <a:r>
              <a:rPr lang="zh-TW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運算負載 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zh-TW" sz="2000" b="1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異常偵測模型</a:t>
            </a:r>
            <a:r>
              <a:rPr lang="zh-TW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：針對未知流量提取特徵並輸入非監督式模型。模型僅學習正常流量，當遭遇攻擊特徵時將產生高重構誤差 </a:t>
            </a:r>
            <a:r>
              <a:rPr lang="en-US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(Reconstruction Error)</a:t>
            </a:r>
            <a:r>
              <a:rPr lang="zh-TW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，藉此判定為異常。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zh-TW" sz="2000" b="1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自動化回應模組</a:t>
            </a:r>
            <a:r>
              <a:rPr lang="zh-TW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：判定為惡意後，觸發控制器透過 </a:t>
            </a:r>
            <a:r>
              <a:rPr lang="en-US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Linux iptables </a:t>
            </a:r>
            <a:r>
              <a:rPr lang="zh-TW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發送阻斷規則，並將新威脅指標 </a:t>
            </a:r>
            <a:r>
              <a:rPr lang="en-US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(IoC) </a:t>
            </a:r>
            <a:r>
              <a:rPr lang="zh-TW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回寫至 </a:t>
            </a:r>
            <a:r>
              <a:rPr lang="en-US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MISP</a:t>
            </a:r>
            <a:r>
              <a:rPr lang="zh-TW" sz="2000" b="0" u="none" spc="37" strike="noStrike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2" name="內容版面配置區 8"/>
          <p:cNvPicPr/>
          <p:nvPr/>
        </p:nvPicPr>
        <p:blipFill>
          <a:blip r:embed="rId1"/>
          <a:stretch/>
        </p:blipFill>
        <p:spPr>
          <a:xfrm>
            <a:off x="1836720" y="3864240"/>
            <a:ext cx="5217840" cy="2856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PlaceHolder 3"/>
          <p:cNvSpPr>
            <a:spLocks noGrp="1"/>
          </p:cNvSpPr>
          <p:nvPr>
            <p:ph type="sldNum" idx="61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</a:pPr>
            <a:fld id="{9780E068-0BDF-49B3-A5A6-7C37588A2620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PlaceHolder 4"/>
          <p:cNvSpPr>
            <a:spLocks noGrp="1"/>
          </p:cNvSpPr>
          <p:nvPr>
            <p:ph type="sldNum" idx="62"/>
          </p:nvPr>
        </p:nvSpPr>
        <p:spPr>
          <a:xfrm>
            <a:off x="708660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  <a:tabLst>
                <a:tab algn="l" pos="0"/>
              </a:tabLst>
            </a:pPr>
            <a:fld id="{F8D7ECD2-5857-456E-96FC-477103554E27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628560" y="520920"/>
            <a:ext cx="7886160" cy="80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SWOT </a:t>
            </a:r>
            <a:r>
              <a:rPr lang="zh-TW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分析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76" name="群組 11"/>
          <p:cNvGrpSpPr/>
          <p:nvPr/>
        </p:nvGrpSpPr>
        <p:grpSpPr>
          <a:xfrm>
            <a:off x="628560" y="1652040"/>
            <a:ext cx="7886160" cy="4539600"/>
            <a:chOff x="628560" y="1652040"/>
            <a:chExt cx="7886160" cy="4539600"/>
          </a:xfrm>
        </p:grpSpPr>
        <p:sp>
          <p:nvSpPr>
            <p:cNvPr id="277" name="手繪多邊形: 圖案 6"/>
            <p:cNvSpPr/>
            <p:nvPr/>
          </p:nvSpPr>
          <p:spPr>
            <a:xfrm>
              <a:off x="628560" y="1652040"/>
              <a:ext cx="3942720" cy="2269440"/>
            </a:xfrm>
            <a:custGeom>
              <a:avLst/>
              <a:gdLst>
                <a:gd name="textAreaLeft" fmla="*/ 0 w 3942720"/>
                <a:gd name="textAreaRight" fmla="*/ 3943440 w 3942720"/>
                <a:gd name="textAreaTop" fmla="*/ 0 h 2269440"/>
                <a:gd name="textAreaBottom" fmla="*/ 2270160 h 2269440"/>
                <a:gd name="GluePoint1X" fmla="*/ 0 w 1847850"/>
                <a:gd name="GluePoint1Y" fmla="*/ 0 h 3943350"/>
                <a:gd name="GluePoint2X" fmla="*/ 1539869 w 1847850"/>
                <a:gd name="GluePoint2Y" fmla="*/ 0 h 3943350"/>
                <a:gd name="GluePoint3X" fmla="*/ 1847850 w 1847850"/>
                <a:gd name="GluePoint3Y" fmla="*/ 307981 h 3943350"/>
                <a:gd name="GluePoint4X" fmla="*/ 1847850 w 1847850"/>
                <a:gd name="GluePoint4Y" fmla="*/ 3943350 h 3943350"/>
                <a:gd name="GluePoint5X" fmla="*/ 0 w 1847850"/>
                <a:gd name="GluePoint5Y" fmla="*/ 3943350 h 3943350"/>
                <a:gd name="GluePoint6X" fmla="*/ 0 w 1847850"/>
                <a:gd name="GluePoint6Y" fmla="*/ 0 h 39433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1847850" h="3943350">
                  <a:moveTo>
                    <a:pt x="0" y="3943349"/>
                  </a:moveTo>
                  <a:lnTo>
                    <a:pt x="0" y="657239"/>
                  </a:lnTo>
                  <a:cubicBezTo>
                    <a:pt x="0" y="294257"/>
                    <a:pt x="64614" y="1"/>
                    <a:pt x="144320" y="1"/>
                  </a:cubicBezTo>
                  <a:lnTo>
                    <a:pt x="1847850" y="1"/>
                  </a:lnTo>
                  <a:lnTo>
                    <a:pt x="1847850" y="3943349"/>
                  </a:lnTo>
                  <a:lnTo>
                    <a:pt x="0" y="3943349"/>
                  </a:lnTo>
                  <a:close/>
                </a:path>
              </a:pathLst>
            </a:custGeom>
            <a:gradFill rotWithShape="0">
              <a:gsLst>
                <a:gs pos="0">
                  <a:srgbClr val="f7bca4"/>
                </a:gs>
                <a:gs pos="50000">
                  <a:srgbClr val="f4b196"/>
                </a:gs>
                <a:gs pos="100000">
                  <a:srgbClr val="f7a582"/>
                </a:gs>
              </a:gsLst>
              <a:lin ang="5400000"/>
            </a:gradFill>
            <a:ln w="0">
              <a:noFill/>
            </a:ln>
            <a:scene3d>
              <a:camera prst="orthographicFront"/>
              <a:lightRig dir="t" rig="fla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0"/>
                <a:satOff val="0"/>
                <a:lumOff val="0"/>
                <a:alphaOff val="0"/>
              </a:schemeClr>
            </a:fillRef>
            <a:effectRef idx="1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/>
          </p:style>
          <p:txBody>
            <a:bodyPr numCol="1" spcCol="1440" lIns="142200" rIns="142200" tIns="142200" bIns="604080" anchor="ctr">
              <a:noAutofit/>
            </a:bodyPr>
            <a:p>
              <a:pPr algn="ctr" defTabSz="888840">
                <a:lnSpc>
                  <a:spcPct val="90000"/>
                </a:lnSpc>
                <a:spcAft>
                  <a:spcPts val="700"/>
                </a:spcAft>
                <a:tabLst>
                  <a:tab algn="l" pos="0"/>
                </a:tabLst>
              </a:pP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888840">
                <a:lnSpc>
                  <a:spcPct val="90000"/>
                </a:lnSpc>
                <a:spcAft>
                  <a:spcPts val="700"/>
                </a:spcAft>
                <a:tabLst>
                  <a:tab algn="l" pos="0"/>
                </a:tabLst>
              </a:pPr>
              <a:r>
                <a:rPr lang="zh-TW" sz="2000" b="1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優勢 </a:t>
              </a:r>
              <a:r>
                <a:rPr lang="en-US" sz="2000" b="1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(Strengths)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888840">
                <a:lnSpc>
                  <a:spcPct val="90000"/>
                </a:lnSpc>
                <a:spcAft>
                  <a:spcPts val="700"/>
                </a:spcAft>
                <a:tabLst>
                  <a:tab algn="l" pos="0"/>
                </a:tabLst>
              </a:pPr>
              <a:r>
                <a:rPr lang="zh-TW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能在不完整解密封包的前提下，精準識別並阻斷隱蔽的惡意 </a:t>
              </a:r>
              <a:r>
                <a:rPr lang="en-US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QUIC </a:t>
              </a:r>
              <a:r>
                <a:rPr lang="zh-TW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流量。整合 </a:t>
              </a:r>
              <a:r>
                <a:rPr lang="en-US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SOAR </a:t>
              </a:r>
              <a:r>
                <a:rPr lang="zh-TW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能自動化生成工單與處置，釋放分析師時間。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8" name="手繪多邊形: 圖案 7"/>
            <p:cNvSpPr/>
            <p:nvPr/>
          </p:nvSpPr>
          <p:spPr>
            <a:xfrm>
              <a:off x="4572000" y="1652040"/>
              <a:ext cx="3942720" cy="2269440"/>
            </a:xfrm>
            <a:custGeom>
              <a:avLst/>
              <a:gdLst>
                <a:gd name="textAreaLeft" fmla="*/ 0 w 3942720"/>
                <a:gd name="textAreaRight" fmla="*/ 3943440 w 3942720"/>
                <a:gd name="textAreaTop" fmla="*/ 0 h 2269440"/>
                <a:gd name="textAreaBottom" fmla="*/ 2270160 h 2269440"/>
                <a:gd name="GluePoint1X" fmla="*/ 0 w 3943350"/>
                <a:gd name="GluePoint1Y" fmla="*/ 0 h 1847850"/>
                <a:gd name="GluePoint2X" fmla="*/ 3635369 w 3943350"/>
                <a:gd name="GluePoint2Y" fmla="*/ 0 h 1847850"/>
                <a:gd name="GluePoint3X" fmla="*/ 3943350 w 3943350"/>
                <a:gd name="GluePoint3Y" fmla="*/ 307981 h 1847850"/>
                <a:gd name="GluePoint4X" fmla="*/ 3943350 w 3943350"/>
                <a:gd name="GluePoint4Y" fmla="*/ 1847850 h 1847850"/>
                <a:gd name="GluePoint5X" fmla="*/ 0 w 3943350"/>
                <a:gd name="GluePoint5Y" fmla="*/ 1847850 h 1847850"/>
                <a:gd name="GluePoint6X" fmla="*/ 0 w 3943350"/>
                <a:gd name="GluePoint6Y" fmla="*/ 0 h 18478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3943350" h="1847850">
                  <a:moveTo>
                    <a:pt x="0" y="0"/>
                  </a:moveTo>
                  <a:lnTo>
                    <a:pt x="3635369" y="0"/>
                  </a:lnTo>
                  <a:cubicBezTo>
                    <a:pt x="3805462" y="0"/>
                    <a:pt x="3943350" y="137888"/>
                    <a:pt x="3943350" y="307981"/>
                  </a:cubicBezTo>
                  <a:lnTo>
                    <a:pt x="3943350" y="1847850"/>
                  </a:lnTo>
                  <a:lnTo>
                    <a:pt x="0" y="1847850"/>
                  </a:lnTo>
                  <a:lnTo>
                    <a:pt x="0" y="0"/>
                  </a:lnTo>
                  <a:close/>
                </a:path>
              </a:pathLst>
            </a:custGeom>
            <a:gradFill rotWithShape="0">
              <a:gsLst>
                <a:gs pos="0">
                  <a:srgbClr val="e7bcb1"/>
                </a:gs>
                <a:gs pos="50000">
                  <a:srgbClr val="e2b0a3"/>
                </a:gs>
                <a:gs pos="100000">
                  <a:srgbClr val="e0a393"/>
                </a:gs>
              </a:gsLst>
              <a:lin ang="5400000"/>
            </a:gradFill>
            <a:ln w="0">
              <a:noFill/>
            </a:ln>
            <a:scene3d>
              <a:camera prst="orthographicFront"/>
              <a:lightRig dir="t" rig="fla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-485121"/>
                <a:satOff val="-27976"/>
                <a:lumOff val="2876"/>
                <a:alphaOff val="0"/>
              </a:schemeClr>
            </a:fillRef>
            <a:effectRef idx="1">
              <a:schemeClr val="accent2">
                <a:hueOff val="-485121"/>
                <a:satOff val="-27976"/>
                <a:lumOff val="2876"/>
                <a:alphaOff val="0"/>
              </a:schemeClr>
            </a:effectRef>
            <a:fontRef idx="minor"/>
          </p:style>
          <p:txBody>
            <a:bodyPr numCol="1" spcCol="1440" lIns="142200" rIns="142200" tIns="142200" bIns="604080" anchor="ctr">
              <a:noAutofit/>
            </a:bodyPr>
            <a:p>
              <a:pPr algn="ctr" defTabSz="888840">
                <a:lnSpc>
                  <a:spcPct val="90000"/>
                </a:lnSpc>
                <a:spcAft>
                  <a:spcPts val="700"/>
                </a:spcAft>
                <a:tabLst>
                  <a:tab algn="l" pos="0"/>
                </a:tabLst>
              </a:pPr>
              <a:r>
                <a:rPr lang="zh-TW" sz="2000" b="1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劣勢 </a:t>
              </a:r>
              <a:r>
                <a:rPr lang="en-US" sz="2000" b="1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(Weaknesses)</a:t>
              </a:r>
              <a:r>
                <a:rPr lang="zh-TW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：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888840">
                <a:lnSpc>
                  <a:spcPct val="90000"/>
                </a:lnSpc>
                <a:spcAft>
                  <a:spcPts val="700"/>
                </a:spcAft>
                <a:tabLst>
                  <a:tab algn="l" pos="0"/>
                </a:tabLst>
              </a:pPr>
              <a:r>
                <a:rPr lang="zh-TW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深度學習模型在處理高維度網絡數據時，運算量較大，可能面臨延遲挑戰。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9" name="手繪多邊形: 圖案 8"/>
            <p:cNvSpPr/>
            <p:nvPr/>
          </p:nvSpPr>
          <p:spPr>
            <a:xfrm>
              <a:off x="628560" y="3922200"/>
              <a:ext cx="3942720" cy="2269440"/>
            </a:xfrm>
            <a:custGeom>
              <a:avLst/>
              <a:gdLst>
                <a:gd name="textAreaLeft" fmla="*/ 0 w 3942720"/>
                <a:gd name="textAreaRight" fmla="*/ 3943440 w 3942720"/>
                <a:gd name="textAreaTop" fmla="*/ 0 h 2269440"/>
                <a:gd name="textAreaBottom" fmla="*/ 2270160 h 2269440"/>
                <a:gd name="GluePoint1X" fmla="*/ 0 w 3943350"/>
                <a:gd name="GluePoint1Y" fmla="*/ 0 h 1847850"/>
                <a:gd name="GluePoint2X" fmla="*/ 3635369 w 3943350"/>
                <a:gd name="GluePoint2Y" fmla="*/ 0 h 1847850"/>
                <a:gd name="GluePoint3X" fmla="*/ 3943350 w 3943350"/>
                <a:gd name="GluePoint3Y" fmla="*/ 307981 h 1847850"/>
                <a:gd name="GluePoint4X" fmla="*/ 3943350 w 3943350"/>
                <a:gd name="GluePoint4Y" fmla="*/ 1847850 h 1847850"/>
                <a:gd name="GluePoint5X" fmla="*/ 0 w 3943350"/>
                <a:gd name="GluePoint5Y" fmla="*/ 1847850 h 1847850"/>
                <a:gd name="GluePoint6X" fmla="*/ 0 w 3943350"/>
                <a:gd name="GluePoint6Y" fmla="*/ 0 h 18478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3943350" h="1847850">
                  <a:moveTo>
                    <a:pt x="3943350" y="1847849"/>
                  </a:moveTo>
                  <a:lnTo>
                    <a:pt x="307981" y="1847849"/>
                  </a:lnTo>
                  <a:cubicBezTo>
                    <a:pt x="137888" y="1847849"/>
                    <a:pt x="0" y="1709961"/>
                    <a:pt x="0" y="1539868"/>
                  </a:cubicBezTo>
                  <a:lnTo>
                    <a:pt x="0" y="1"/>
                  </a:lnTo>
                  <a:lnTo>
                    <a:pt x="3943350" y="1"/>
                  </a:lnTo>
                  <a:lnTo>
                    <a:pt x="3943350" y="1847849"/>
                  </a:lnTo>
                  <a:close/>
                </a:path>
              </a:pathLst>
            </a:custGeom>
            <a:gradFill rotWithShape="0">
              <a:gsLst>
                <a:gs pos="0">
                  <a:srgbClr val="dac4c0"/>
                </a:gs>
                <a:gs pos="50000">
                  <a:srgbClr val="d2b8b4"/>
                </a:gs>
                <a:gs pos="100000">
                  <a:srgbClr val="ceada8"/>
                </a:gs>
              </a:gsLst>
              <a:lin ang="5400000"/>
            </a:gradFill>
            <a:ln w="0">
              <a:noFill/>
            </a:ln>
            <a:scene3d>
              <a:camera prst="orthographicFront"/>
              <a:lightRig dir="t" rig="fla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-970242"/>
                <a:satOff val="-55952"/>
                <a:lumOff val="5752"/>
                <a:alphaOff val="0"/>
              </a:schemeClr>
            </a:fillRef>
            <a:effectRef idx="1">
              <a:schemeClr val="accent2">
                <a:hueOff val="-970242"/>
                <a:satOff val="-55952"/>
                <a:lumOff val="5752"/>
                <a:alphaOff val="0"/>
              </a:schemeClr>
            </a:effectRef>
            <a:fontRef idx="minor"/>
          </p:style>
          <p:txBody>
            <a:bodyPr numCol="1" spcCol="1440" lIns="142200" rIns="142200" tIns="604080" bIns="142200" anchor="t">
              <a:noAutofit/>
            </a:bodyPr>
            <a:p>
              <a:pPr algn="ctr" defTabSz="888840">
                <a:lnSpc>
                  <a:spcPct val="90000"/>
                </a:lnSpc>
                <a:spcAft>
                  <a:spcPts val="700"/>
                </a:spcAft>
                <a:tabLst>
                  <a:tab algn="l" pos="0"/>
                </a:tabLst>
              </a:pPr>
              <a:r>
                <a:rPr lang="zh-TW" sz="2000" b="1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機會 </a:t>
              </a:r>
              <a:r>
                <a:rPr lang="en-US" sz="2000" b="1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(Opportunities)</a:t>
              </a:r>
              <a:r>
                <a:rPr lang="zh-TW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：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888840">
                <a:lnSpc>
                  <a:spcPct val="90000"/>
                </a:lnSpc>
                <a:spcAft>
                  <a:spcPts val="700"/>
                </a:spcAft>
                <a:tabLst>
                  <a:tab algn="l" pos="0"/>
                </a:tabLst>
              </a:pPr>
              <a:r>
                <a:rPr lang="zh-TW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網路基礎設施正經歷從 </a:t>
              </a:r>
              <a:r>
                <a:rPr lang="en-US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TCP/TLS </a:t>
              </a:r>
              <a:r>
                <a:rPr lang="zh-TW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轉向 </a:t>
              </a:r>
              <a:r>
                <a:rPr lang="en-US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UDP/QUIC </a:t>
              </a:r>
              <a:r>
                <a:rPr lang="zh-TW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的巨大變革，市場對於新一代加密流量分析的需求急遽上升。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0" name="手繪多邊形: 圖案 9"/>
            <p:cNvSpPr/>
            <p:nvPr/>
          </p:nvSpPr>
          <p:spPr>
            <a:xfrm>
              <a:off x="4572000" y="3922200"/>
              <a:ext cx="3942720" cy="2269440"/>
            </a:xfrm>
            <a:custGeom>
              <a:avLst/>
              <a:gdLst>
                <a:gd name="textAreaLeft" fmla="*/ 0 w 3942720"/>
                <a:gd name="textAreaRight" fmla="*/ 3943440 w 3942720"/>
                <a:gd name="textAreaTop" fmla="*/ 0 h 2269440"/>
                <a:gd name="textAreaBottom" fmla="*/ 2270160 h 2269440"/>
                <a:gd name="GluePoint1X" fmla="*/ 0 w 1847850"/>
                <a:gd name="GluePoint1Y" fmla="*/ 0 h 3943350"/>
                <a:gd name="GluePoint2X" fmla="*/ 1539869 w 1847850"/>
                <a:gd name="GluePoint2Y" fmla="*/ 0 h 3943350"/>
                <a:gd name="GluePoint3X" fmla="*/ 1847850 w 1847850"/>
                <a:gd name="GluePoint3Y" fmla="*/ 307981 h 3943350"/>
                <a:gd name="GluePoint4X" fmla="*/ 1847850 w 1847850"/>
                <a:gd name="GluePoint4Y" fmla="*/ 3943350 h 3943350"/>
                <a:gd name="GluePoint5X" fmla="*/ 0 w 1847850"/>
                <a:gd name="GluePoint5Y" fmla="*/ 3943350 h 3943350"/>
                <a:gd name="GluePoint6X" fmla="*/ 0 w 1847850"/>
                <a:gd name="GluePoint6Y" fmla="*/ 0 h 39433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1847850" h="3943350">
                  <a:moveTo>
                    <a:pt x="1847850" y="1"/>
                  </a:moveTo>
                  <a:lnTo>
                    <a:pt x="1847850" y="3286111"/>
                  </a:lnTo>
                  <a:cubicBezTo>
                    <a:pt x="1847850" y="3649093"/>
                    <a:pt x="1783236" y="3943349"/>
                    <a:pt x="1703530" y="3943349"/>
                  </a:cubicBezTo>
                  <a:lnTo>
                    <a:pt x="0" y="3943349"/>
                  </a:lnTo>
                  <a:lnTo>
                    <a:pt x="0" y="1"/>
                  </a:lnTo>
                  <a:lnTo>
                    <a:pt x="1847850" y="1"/>
                  </a:lnTo>
                  <a:close/>
                </a:path>
              </a:pathLst>
            </a:custGeom>
            <a:gradFill rotWithShape="0">
              <a:gsLst>
                <a:gs pos="0">
                  <a:srgbClr val="d1d1d1"/>
                </a:gs>
                <a:gs pos="50000">
                  <a:srgbClr val="c7c7c7"/>
                </a:gs>
                <a:gs pos="100000">
                  <a:srgbClr val="c0c0c0"/>
                </a:gs>
              </a:gsLst>
              <a:lin ang="5400000"/>
            </a:gradFill>
            <a:ln w="0">
              <a:noFill/>
            </a:ln>
            <a:scene3d>
              <a:camera prst="orthographicFront"/>
              <a:lightRig dir="t" rig="fla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-1455363"/>
                <a:satOff val="-83928"/>
                <a:lumOff val="8628"/>
                <a:alphaOff val="0"/>
              </a:schemeClr>
            </a:fillRef>
            <a:effectRef idx="1">
              <a:schemeClr val="accent2">
                <a:hueOff val="-1455363"/>
                <a:satOff val="-83928"/>
                <a:lumOff val="8628"/>
                <a:alphaOff val="0"/>
              </a:schemeClr>
            </a:effectRef>
            <a:fontRef idx="minor"/>
          </p:style>
          <p:txBody>
            <a:bodyPr numCol="1" spcCol="1440" lIns="142200" rIns="142200" tIns="604080" bIns="142200" anchor="t">
              <a:noAutofit/>
            </a:bodyPr>
            <a:p>
              <a:pPr algn="ctr" defTabSz="888840">
                <a:lnSpc>
                  <a:spcPct val="90000"/>
                </a:lnSpc>
                <a:spcAft>
                  <a:spcPts val="700"/>
                </a:spcAft>
                <a:tabLst>
                  <a:tab algn="l" pos="0"/>
                </a:tabLst>
              </a:pPr>
              <a:r>
                <a:rPr lang="zh-TW" sz="2000" b="1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威脅 </a:t>
              </a:r>
              <a:r>
                <a:rPr lang="en-US" sz="2000" b="1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(Threats)</a:t>
              </a:r>
              <a:r>
                <a:rPr lang="zh-TW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：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888840">
                <a:lnSpc>
                  <a:spcPct val="90000"/>
                </a:lnSpc>
                <a:spcAft>
                  <a:spcPts val="700"/>
                </a:spcAft>
                <a:tabLst>
                  <a:tab algn="l" pos="0"/>
                </a:tabLst>
              </a:pPr>
              <a:r>
                <a:rPr lang="zh-TW" sz="20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駭客持續演進對抗式機器學習概念，若防禦系統缺乏強健性將形同虛設。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1" name="手繪多邊形: 圖案 10"/>
            <p:cNvSpPr/>
            <p:nvPr/>
          </p:nvSpPr>
          <p:spPr>
            <a:xfrm>
              <a:off x="3389040" y="3444480"/>
              <a:ext cx="2365200" cy="955080"/>
            </a:xfrm>
            <a:custGeom>
              <a:avLst/>
              <a:gdLst>
                <a:gd name="textAreaLeft" fmla="*/ 0 w 2365200"/>
                <a:gd name="textAreaRight" fmla="*/ 2365920 w 2365200"/>
                <a:gd name="textAreaTop" fmla="*/ 0 h 955080"/>
                <a:gd name="textAreaBottom" fmla="*/ 955800 h 955080"/>
                <a:gd name="GluePoint1X" fmla="*/ 0 w 2366010"/>
                <a:gd name="GluePoint1Y" fmla="*/ 153991 h 923925"/>
                <a:gd name="GluePoint2X" fmla="*/ 153991 w 2366010"/>
                <a:gd name="GluePoint2Y" fmla="*/ 0 h 923925"/>
                <a:gd name="GluePoint3X" fmla="*/ 2212019 w 2366010"/>
                <a:gd name="GluePoint3Y" fmla="*/ 0 h 923925"/>
                <a:gd name="GluePoint4X" fmla="*/ 2366010 w 2366010"/>
                <a:gd name="GluePoint4Y" fmla="*/ 153991 h 923925"/>
                <a:gd name="GluePoint5X" fmla="*/ 2366010 w 2366010"/>
                <a:gd name="GluePoint5Y" fmla="*/ 769934 h 923925"/>
                <a:gd name="GluePoint6X" fmla="*/ 2212019 w 2366010"/>
                <a:gd name="GluePoint6Y" fmla="*/ 923925 h 923925"/>
                <a:gd name="GluePoint7X" fmla="*/ 153991 w 2366010"/>
                <a:gd name="GluePoint7Y" fmla="*/ 923925 h 923925"/>
                <a:gd name="GluePoint8X" fmla="*/ 0 w 2366010"/>
                <a:gd name="GluePoint8Y" fmla="*/ 769934 h 923925"/>
                <a:gd name="GluePoint9X" fmla="*/ 0 w 2366010"/>
                <a:gd name="GluePoint9Y" fmla="*/ 153991 h 9239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2366010" h="923925">
                  <a:moveTo>
                    <a:pt x="0" y="153991"/>
                  </a:moveTo>
                  <a:cubicBezTo>
                    <a:pt x="0" y="68944"/>
                    <a:pt x="68944" y="0"/>
                    <a:pt x="153991" y="0"/>
                  </a:cubicBezTo>
                  <a:lnTo>
                    <a:pt x="2212019" y="0"/>
                  </a:lnTo>
                  <a:cubicBezTo>
                    <a:pt x="2297066" y="0"/>
                    <a:pt x="2366010" y="68944"/>
                    <a:pt x="2366010" y="153991"/>
                  </a:cubicBezTo>
                  <a:lnTo>
                    <a:pt x="2366010" y="769934"/>
                  </a:lnTo>
                  <a:cubicBezTo>
                    <a:pt x="2366010" y="854981"/>
                    <a:pt x="2297066" y="923925"/>
                    <a:pt x="2212019" y="923925"/>
                  </a:cubicBezTo>
                  <a:lnTo>
                    <a:pt x="153991" y="923925"/>
                  </a:lnTo>
                  <a:cubicBezTo>
                    <a:pt x="68944" y="923925"/>
                    <a:pt x="0" y="854981"/>
                    <a:pt x="0" y="769934"/>
                  </a:cubicBezTo>
                  <a:lnTo>
                    <a:pt x="0" y="153991"/>
                  </a:lnTo>
                  <a:close/>
                </a:path>
              </a:pathLst>
            </a:custGeom>
            <a:gradFill rotWithShape="0">
              <a:gsLst>
                <a:gs pos="0">
                  <a:srgbClr val="fef9f8"/>
                </a:gs>
                <a:gs pos="50000">
                  <a:srgbClr val="fcede8"/>
                </a:gs>
                <a:gs pos="100000">
                  <a:srgbClr val="fcebe6"/>
                </a:gs>
              </a:gsLst>
              <a:lin ang="5400000"/>
            </a:gradFill>
            <a:ln>
              <a:solidFill>
                <a:srgbClr val="ffffff"/>
              </a:solidFill>
            </a:ln>
            <a:scene3d>
              <a:camera prst="orthographicFront"/>
              <a:lightRig dir="t" rig="flat"/>
            </a:scene3d>
            <a:sp3d prstMaterial="dkEdge">
              <a:bevelT w="8200" h="38100"/>
            </a:sp3d>
          </p:spPr>
          <p:style>
            <a:lnRef idx="1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tint val="40000"/>
                <a:hueOff val="0"/>
                <a:satOff val="0"/>
                <a:lumOff val="0"/>
                <a:alphaOff val="0"/>
              </a:schemeClr>
            </a:fillRef>
            <a:effectRef idx="1">
              <a:schemeClr val="accent2">
                <a:tint val="40000"/>
                <a:hueOff val="0"/>
                <a:satOff val="0"/>
                <a:lumOff val="0"/>
                <a:alphaOff val="0"/>
              </a:schemeClr>
            </a:effectRef>
            <a:fontRef idx="minor"/>
          </p:style>
          <p:txBody>
            <a:bodyPr numCol="1" spcCol="1440" lIns="136440" rIns="136440" tIns="136440" bIns="136440" anchor="ctr">
              <a:noAutofit/>
            </a:bodyPr>
            <a:p>
              <a:pPr algn="ctr" defTabSz="1066680">
                <a:lnSpc>
                  <a:spcPct val="90000"/>
                </a:lnSpc>
                <a:spcAft>
                  <a:spcPts val="839"/>
                </a:spcAft>
                <a:tabLst>
                  <a:tab algn="l" pos="0"/>
                </a:tabLst>
              </a:pPr>
              <a:r>
                <a:rPr lang="en-US" sz="2400" b="0" u="none" strike="noStrike">
                  <a:solidFill>
                    <a:schemeClr val="dk1"/>
                  </a:solidFill>
                  <a:effectLst/>
                  <a:uFillTx/>
                  <a:latin typeface="Tenorite"/>
                </a:rPr>
                <a:t>SWOT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82" name="PlaceHolder 2"/>
          <p:cNvSpPr>
            <a:spLocks noGrp="1"/>
          </p:cNvSpPr>
          <p:nvPr>
            <p:ph type="sldNum" idx="63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A8A23C-2F3C-49EE-A927-364BDB782DFA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1413720" y="892080"/>
            <a:ext cx="6315480" cy="70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 預計產出的成果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/>
          </p:nvPr>
        </p:nvSpPr>
        <p:spPr>
          <a:xfrm>
            <a:off x="1071360" y="2080080"/>
            <a:ext cx="6856200" cy="3148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0" bIns="45720" anchor="ctr">
            <a:spAutoFit/>
          </a:bodyPr>
          <a:p>
            <a:pPr marL="285840" indent="-28584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pc="113" strike="noStrike">
                <a:solidFill>
                  <a:schemeClr val="dk1"/>
                </a:solidFill>
                <a:effectLst/>
                <a:uFillTx/>
                <a:latin typeface="Tenorite"/>
                <a:ea typeface="Google Sans Text"/>
              </a:rPr>
              <a:t>建置出一套高擬真攻防實驗場域，驗證系統在面對各類變形攻擊時的韌性。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pc="113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完成從流量偵測到阻斷回應的完全自動化防禦系統。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pc="113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模型偵測到異常時，能在無人工介入的情況下，於數秒內自動發送防火牆阻斷規則。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pc="113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成功透過 </a:t>
            </a:r>
            <a:r>
              <a:rPr lang="en-US" sz="2000" b="0" u="none" spc="113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API </a:t>
            </a:r>
            <a:r>
              <a:rPr lang="zh-TW" sz="2000" b="0" u="none" spc="113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將威脅指標 </a:t>
            </a:r>
            <a:r>
              <a:rPr lang="en-US" sz="2000" b="0" u="none" spc="113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(IoC) </a:t>
            </a:r>
            <a:r>
              <a:rPr lang="zh-TW" sz="2000" b="0" u="none" spc="113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回寫至自建的 </a:t>
            </a:r>
            <a:r>
              <a:rPr lang="en-US" sz="2000" b="0" u="none" spc="113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MISP </a:t>
            </a:r>
            <a:r>
              <a:rPr lang="zh-TW" sz="2000" b="0" u="none" spc="113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情資平台，實現情資動態更新。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pc="113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為後量子時代的加密網路安全提前部署，提出具前瞻性的資安解決方案</a:t>
            </a:r>
            <a:r>
              <a:rPr lang="zh-TW" sz="1400" b="0" u="none" spc="113" strike="noStrike">
                <a:solidFill>
                  <a:schemeClr val="dk1"/>
                </a:solidFill>
                <a:effectLst/>
                <a:uFillTx/>
                <a:latin typeface="Tenorite"/>
                <a:ea typeface="Microsoft JhengHei UI"/>
              </a:rPr>
              <a:t>。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64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2E4A93-9756-4E0A-A4FC-6396E5167265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1021680" y="1671480"/>
            <a:ext cx="5077080" cy="56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預計參加的比賽項目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/>
          </p:nvPr>
        </p:nvSpPr>
        <p:spPr>
          <a:xfrm>
            <a:off x="1021680" y="3660840"/>
            <a:ext cx="3832920" cy="15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65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7B351A-2D20-488D-992A-6A56A3BC65DE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2977200" y="209160"/>
            <a:ext cx="3188520" cy="61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規劃時程 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ldNum" idx="66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773A2C-4167-4A30-9D9D-79B3919B3712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91" name="表格 3"/>
          <p:cNvGraphicFramePr/>
          <p:nvPr/>
        </p:nvGraphicFramePr>
        <p:xfrm>
          <a:off x="297000" y="910800"/>
          <a:ext cx="8549640" cy="5736960"/>
        </p:xfrm>
        <a:graphic>
          <a:graphicData uri="http://schemas.openxmlformats.org/drawingml/2006/table">
            <a:tbl>
              <a:tblPr/>
              <a:tblGrid>
                <a:gridCol w="1422000"/>
                <a:gridCol w="792000"/>
                <a:gridCol w="792000"/>
                <a:gridCol w="792000"/>
                <a:gridCol w="792000"/>
                <a:gridCol w="792000"/>
                <a:gridCol w="792000"/>
                <a:gridCol w="792000"/>
                <a:gridCol w="792000"/>
                <a:gridCol w="792000"/>
              </a:tblGrid>
              <a:tr h="774360"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研究計畫時程表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115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3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115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6858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4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115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5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115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6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115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7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115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8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115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9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115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年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10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115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年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11-12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</a:tr>
              <a:tr h="1010160"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了解虛擬網路架構和封包傳遞、分析及偵測方式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74360"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了解情資整合與資安自動化回應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02040"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虛擬環境建置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38200"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資料生成與特徵工程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38200"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監督式模型建構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38200"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情資整合與自動化回應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38200"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系統整合測試與評估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</a:tr>
              <a:tr h="538200">
                <a:tc>
                  <a:txBody>
                    <a:bodyPr lIns="68400" rIns="68400" tIns="34200" bIns="34200"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研究成果報告撰寫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chemeClr val="dk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tIns="34200" bIns="34200" anchor="ctr">
                      <a:noAutofit/>
                    </a:bodyPr>
                    <a:p>
                      <a:endParaRPr lang="en-US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Tenorite"/>
                      </a:endParaRPr>
                    </a:p>
                  </a:txBody>
                  <a:tcPr anchor="ctr" marL="68400" marR="68400" marT="34200" marB="3420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8db3e2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1021680" y="1585440"/>
            <a:ext cx="3832920" cy="57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62500" lnSpcReduction="19999"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 </a:t>
            </a:r>
            <a:r>
              <a:rPr lang="zh-TW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參與人員分工與時數分配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ldNum" idx="67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EF97B4-F61A-495C-96EF-67C7C5F08A2C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94" name="表格 4"/>
          <p:cNvGraphicFramePr/>
          <p:nvPr/>
        </p:nvGraphicFramePr>
        <p:xfrm>
          <a:off x="537840" y="3193560"/>
          <a:ext cx="5443920" cy="1507680"/>
        </p:xfrm>
        <a:graphic>
          <a:graphicData uri="http://schemas.openxmlformats.org/drawingml/2006/table">
            <a:tbl>
              <a:tblPr/>
              <a:tblGrid>
                <a:gridCol w="1339560"/>
                <a:gridCol w="2703960"/>
                <a:gridCol w="1400760"/>
              </a:tblGrid>
              <a:tr h="753840">
                <a:tc>
                  <a:txBody>
                    <a:bodyPr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zh-TW" sz="2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莊博宇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5b9bd5"/>
                      </a:solidFill>
                      <a:prstDash val="solid"/>
                    </a:lnL>
                    <a:lnR w="12240">
                      <a:solidFill>
                        <a:srgbClr val="5b9bd5"/>
                      </a:solidFill>
                      <a:prstDash val="solid"/>
                    </a:lnR>
                    <a:lnT w="12240">
                      <a:solidFill>
                        <a:srgbClr val="5b9bd5"/>
                      </a:solidFill>
                      <a:prstDash val="solid"/>
                    </a:lnT>
                    <a:lnB w="12240">
                      <a:solidFill>
                        <a:srgbClr val="5b9bd5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zh-TW" sz="2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模型生成與系統整合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5b9bd5"/>
                      </a:solidFill>
                      <a:prstDash val="solid"/>
                    </a:lnL>
                    <a:lnR w="12240">
                      <a:solidFill>
                        <a:srgbClr val="5b9bd5"/>
                      </a:solidFill>
                      <a:prstDash val="solid"/>
                    </a:lnR>
                    <a:lnT w="12240">
                      <a:solidFill>
                        <a:srgbClr val="5b9bd5"/>
                      </a:solidFill>
                      <a:prstDash val="solid"/>
                    </a:lnT>
                    <a:lnB w="12240">
                      <a:solidFill>
                        <a:srgbClr val="5b9bd5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50%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5b9bd5"/>
                      </a:solidFill>
                      <a:prstDash val="solid"/>
                    </a:lnL>
                    <a:lnR w="12240">
                      <a:solidFill>
                        <a:srgbClr val="5b9bd5"/>
                      </a:solidFill>
                      <a:prstDash val="solid"/>
                    </a:lnR>
                    <a:lnT w="12240">
                      <a:solidFill>
                        <a:srgbClr val="5b9bd5"/>
                      </a:solidFill>
                      <a:prstDash val="solid"/>
                    </a:lnT>
                    <a:lnB w="12240">
                      <a:solidFill>
                        <a:srgbClr val="5b9bd5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</a:tr>
              <a:tr h="753840">
                <a:tc>
                  <a:txBody>
                    <a:bodyPr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zh-TW" sz="2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闕帝軒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5b9bd5"/>
                      </a:solidFill>
                      <a:prstDash val="solid"/>
                    </a:lnL>
                    <a:lnR w="12240">
                      <a:solidFill>
                        <a:srgbClr val="5b9bd5"/>
                      </a:solidFill>
                      <a:prstDash val="solid"/>
                    </a:lnR>
                    <a:lnT w="12240">
                      <a:solidFill>
                        <a:srgbClr val="5b9bd5"/>
                      </a:solidFill>
                      <a:prstDash val="solid"/>
                    </a:lnT>
                    <a:lnB w="12240">
                      <a:solidFill>
                        <a:srgbClr val="5b9bd5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zh-TW" sz="2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資料收集與數據採集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5b9bd5"/>
                      </a:solidFill>
                      <a:prstDash val="solid"/>
                    </a:lnL>
                    <a:lnR w="12240">
                      <a:solidFill>
                        <a:srgbClr val="5b9bd5"/>
                      </a:solidFill>
                      <a:prstDash val="solid"/>
                    </a:lnR>
                    <a:lnT w="12240">
                      <a:solidFill>
                        <a:srgbClr val="5b9bd5"/>
                      </a:solidFill>
                      <a:prstDash val="solid"/>
                    </a:lnT>
                    <a:lnB w="12240">
                      <a:solidFill>
                        <a:srgbClr val="5b9bd5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685800">
                        <a:lnSpc>
                          <a:spcPct val="100000"/>
                        </a:lnSpc>
                      </a:pPr>
                      <a:r>
                        <a:rPr lang="en-US" sz="2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enorite"/>
                        </a:rPr>
                        <a:t>50%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5b9bd5"/>
                      </a:solidFill>
                      <a:prstDash val="solid"/>
                    </a:lnL>
                    <a:lnR w="12240">
                      <a:solidFill>
                        <a:srgbClr val="5b9bd5"/>
                      </a:solidFill>
                      <a:prstDash val="solid"/>
                    </a:lnR>
                    <a:lnT w="12240">
                      <a:solidFill>
                        <a:srgbClr val="5b9bd5"/>
                      </a:solidFill>
                      <a:prstDash val="solid"/>
                    </a:lnT>
                    <a:lnB w="12240">
                      <a:solidFill>
                        <a:srgbClr val="5b9bd5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3767760" y="1128240"/>
            <a:ext cx="2354040" cy="666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36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結論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1672920" y="2134080"/>
            <a:ext cx="6524640" cy="310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just" defTabSz="685800">
              <a:lnSpc>
                <a:spcPts val="3501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icrosoft JhengHei UI"/>
              </a:rPr>
              <a:t>本計畫針對協定典範轉移帶來的防禦真空，提出了一套整合威脅情資、非監督式深度學習與資安事件自動化回應的混合式防禦架構。透過自建的高擬真攻防實驗場域，我們預期能有效驗證系統在面對對抗式攻擊時的強健性，並實現從偵測到阻斷的完全自動化，並將為後量子時代的加密網路安全提前部署，設計出具前瞻性且能實際落地應用於資安維運的解決方案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68"/>
          </p:nvPr>
        </p:nvSpPr>
        <p:spPr>
          <a:xfrm>
            <a:off x="8025480" y="6356520"/>
            <a:ext cx="4892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D8EE5D-AD52-4229-A810-73A43576B701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807120" y="1083960"/>
            <a:ext cx="1634760" cy="43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zh-TW" sz="2100" b="0" u="none" spc="113" strike="noStrike" cap="all">
                <a:solidFill>
                  <a:schemeClr val="dk1"/>
                </a:solidFill>
                <a:effectLst/>
                <a:uFillTx/>
                <a:latin typeface="Microsoft JhengHei UI"/>
                <a:ea typeface="Microsoft JhengHei UI"/>
              </a:rPr>
              <a:t>參考文獻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sldNum" idx="69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7FC0A0-079A-43ED-9BD1-9390A2D6C3E2}" type="slidenum">
              <a:rPr lang="en-US" sz="67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Microsoft JhengHei UI"/>
                <a:ea typeface="Microsoft JhengHei UI"/>
              </a:rPr>
              <a:t>&lt;編號&gt;</a:t>
            </a:fld>
            <a:endParaRPr lang="en-US" sz="67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文字方塊 4"/>
          <p:cNvSpPr/>
          <p:nvPr/>
        </p:nvSpPr>
        <p:spPr>
          <a:xfrm>
            <a:off x="807120" y="1628640"/>
            <a:ext cx="7825320" cy="50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enorite"/>
              </a:rPr>
              <a:t>[1]    M. Shen, K. Ye, X. Liu, L. Zhu, J. Kang, S. YU, “Machine Learning-Powered Encrypted Network Traffic Analysis: A Comprehensive Survey,” in IEEE Communications Surveys &amp; Tutorials, vol. 25, no. 1, pp. 791-824, Firstquarter 2023, doi: 10.1109/COMST.2022.3208196.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enorite"/>
              </a:rPr>
              <a:t>[2]    W. Lim, K. S. C. Yong, B. T. Lau, and C. C. L. Tan. “Future of Generative Adversarial Networks (GAN) for Anomaly Detection in Network Security: A Review,” Computers &amp; Security, vol. 139, Apr. 2024, Art. no. 103733. doi:10.1016/j.cose.2024.103733.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enorite"/>
              </a:rPr>
              <a:t>[3]    A. S. Iliyasu and H. Deng, “Semi-Supervised Encrypted Traffic Classification with Deep Convolutional Generative Adversarial Networks,” in IEEE Access, vol. 8, pp. 118-126, 2020, doi: 10.1109/ACCESS.2019.2962106.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enorite"/>
              </a:rPr>
              <a:t>[4]    J. Li, L. Zhou, H. Li, L. Yan and H. Zhu, “Dynamic Traffic Feature Camouflaging via Generative Adversarial Networks,” 2019 IEEE Conference on Communications and Network Security (CNS), Washington, DC, USA, 2019, pp. 268-276, doi: 10.1109/CNS.2019.8802772.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enorite"/>
              </a:rPr>
              <a:t>[5]    J. Luxemburk, K. Hynek and T. Čejka, “Encrypted Traffic Classification: The QUIC Case,” 2023 7th Network Traffic Measurement and Analysis Conference (TMA), Naples, Italy, 2023, pp. 1-10, doi: 10.23919/TMA58422.2023.10199052.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enorite"/>
              </a:rPr>
              <a:t>[6]    N. B. Kilaru, S. K. M. Cheemakurthi and V. Gunnam, “SOAR Solutions in PCI Compliance: Orchestrating Incident Response for Regulatory Security,” ESP Journal of Engineering &amp; Technology Advancements, vol. 1, Issue 2, pp. 78-84, 2021, doi:10.56472/25832646/JETA-V1I2P111.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enorite"/>
              </a:rPr>
              <a:t>[7]    S. Subudhi, “Effectiveness of AI/ML in SOAR (Security Automation and Orchestration) Platforms,” International Journal of Science and Research (IJSR), volume 13, issue 8, pp. 201-206, Aug. 2024, doi: 10.21275/MR24802085215.</a:t>
            </a:r>
            <a:br>
              <a:rPr sz="1400"/>
            </a:b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enorite"/>
              </a:rPr>
              <a:t>[9]     J. Iyengar, M. Thomson, “QUIC: A UDP-Based Multiplexed and Secure Transport,” IETF, https://datatracker.ietf.org/doc/rfc9000/, FEB. 2022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單線">
  <a:themeElements>
    <a:clrScheme name="Custom 149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 pitchFamily="0" charset="1"/>
        <a:ea typeface=""/>
        <a:cs typeface=""/>
      </a:majorFont>
      <a:minorFont>
        <a:latin typeface="Tenorite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5BA3906-9696-4247-AC0D-DD5C26B2A70A}">
  <ds:schemaRefs>
    <ds:schemaRef ds:uri="http://www.w3.org/XML/1998/namespace"/>
    <ds:schemaRef ds:uri="http://schemas.microsoft.com/office/2006/documentManagement/types"/>
    <ds:schemaRef ds:uri="http://purl.org/dc/terms/"/>
    <ds:schemaRef ds:uri="71af3243-3dd4-4a8d-8c0d-dd76da1f02a5"/>
    <ds:schemaRef ds:uri="http://purl.org/dc/dcmitype/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01E84A1C-2814-43A7-9448-348326113A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D446390-8521-40A2-A462-EA068123BED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2057</TotalTime>
  <Application>LibreOffice/25.8.5.2$Windows_X86_64 LibreOffice_project/9c8b85f387cc00a89945a79c9e6239f32e450ac2</Application>
  <AppVersion>15.0000</AppVersion>
  <Words>1636</Words>
  <Paragraphs>106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2026-03-30T05:57:29Z</dcterms:created>
  <dc:creator>博宇 莊</dc:creator>
  <dc:description/>
  <dc:language>zh-TW</dc:language>
  <cp:lastModifiedBy/>
  <dcterms:modified xsi:type="dcterms:W3CDTF">2026-04-07T22:55:43Z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i4>12</vt:i4>
  </property>
  <property fmtid="{D5CDD505-2E9C-101B-9397-08002B2CF9AE}" pid="4" name="PresentationFormat">
    <vt:lpwstr>如螢幕大小 (4:3)</vt:lpwstr>
  </property>
  <property fmtid="{D5CDD505-2E9C-101B-9397-08002B2CF9AE}" pid="5" name="Slides">
    <vt:i4>12</vt:i4>
  </property>
</Properties>
</file>